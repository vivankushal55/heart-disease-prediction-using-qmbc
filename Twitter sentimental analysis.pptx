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825" r:id="rId1"/>
  </p:sldMasterIdLst>
  <p:notesMasterIdLst>
    <p:notesMasterId r:id="rId25"/>
  </p:notesMasterIdLst>
  <p:sldIdLst>
    <p:sldId id="256" r:id="rId2"/>
    <p:sldId id="257" r:id="rId3"/>
    <p:sldId id="258" r:id="rId4"/>
    <p:sldId id="259" r:id="rId5"/>
    <p:sldId id="260" r:id="rId6"/>
    <p:sldId id="261" r:id="rId7"/>
    <p:sldId id="262" r:id="rId8"/>
    <p:sldId id="276" r:id="rId9"/>
    <p:sldId id="264" r:id="rId10"/>
    <p:sldId id="265" r:id="rId11"/>
    <p:sldId id="266" r:id="rId12"/>
    <p:sldId id="275" r:id="rId13"/>
    <p:sldId id="267" r:id="rId14"/>
    <p:sldId id="268" r:id="rId15"/>
    <p:sldId id="269" r:id="rId16"/>
    <p:sldId id="270" r:id="rId17"/>
    <p:sldId id="274" r:id="rId18"/>
    <p:sldId id="278" r:id="rId19"/>
    <p:sldId id="282" r:id="rId20"/>
    <p:sldId id="283" r:id="rId21"/>
    <p:sldId id="271" r:id="rId22"/>
    <p:sldId id="272" r:id="rId23"/>
    <p:sldId id="273" r:id="rId24"/>
  </p:sldIdLst>
  <p:sldSz cx="12192000" cy="6858000"/>
  <p:notesSz cx="12192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0" autoAdjust="0"/>
    <p:restoredTop sz="93741" autoAdjust="0"/>
  </p:normalViewPr>
  <p:slideViewPr>
    <p:cSldViewPr>
      <p:cViewPr varScale="1">
        <p:scale>
          <a:sx n="80" d="100"/>
          <a:sy n="80" d="100"/>
        </p:scale>
        <p:origin x="1205" y="5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Accuracy Score</c:v>
                </c:pt>
              </c:strCache>
            </c:strRef>
          </c:tx>
          <c:explosion val="5"/>
          <c:dPt>
            <c:idx val="0"/>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B643-4528-926C-4144ED7A396D}"/>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B643-4528-926C-4144ED7A396D}"/>
              </c:ext>
            </c:extLst>
          </c:dPt>
          <c:dPt>
            <c:idx val="2"/>
            <c:bubble3D val="0"/>
            <c:spPr>
              <a:solidFill>
                <a:schemeClr val="accent3"/>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5-B643-4528-926C-4144ED7A396D}"/>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Sheet1!$A$2:$A$4</c:f>
              <c:strCache>
                <c:ptCount val="3"/>
                <c:pt idx="0">
                  <c:v>Logistic Regression</c:v>
                </c:pt>
                <c:pt idx="1">
                  <c:v>Naïve Bayes</c:v>
                </c:pt>
                <c:pt idx="2">
                  <c:v>Random Forest</c:v>
                </c:pt>
              </c:strCache>
            </c:strRef>
          </c:cat>
          <c:val>
            <c:numRef>
              <c:f>Sheet1!$B$2:$B$4</c:f>
              <c:numCache>
                <c:formatCode>General</c:formatCode>
                <c:ptCount val="3"/>
                <c:pt idx="0">
                  <c:v>0.94331122512819998</c:v>
                </c:pt>
                <c:pt idx="1">
                  <c:v>0.93567763729999998</c:v>
                </c:pt>
                <c:pt idx="2">
                  <c:v>0.94268552121000004</c:v>
                </c:pt>
              </c:numCache>
            </c:numRef>
          </c:val>
          <c:extLst>
            <c:ext xmlns:c16="http://schemas.microsoft.com/office/drawing/2014/chart" uri="{C3380CC4-5D6E-409C-BE32-E72D297353CC}">
              <c16:uniqueId val="{00000000-1C8A-4994-AF86-F0A38F30AE89}"/>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45BE0DD3-4EAA-4853-85A8-706472752C71}" type="datetimeFigureOut">
              <a:rPr lang="en-IN" smtClean="0"/>
              <a:t>26-01-2024</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A0125E42-798C-4A5D-98CB-30EBC1612B41}" type="slidenum">
              <a:rPr lang="en-IN" smtClean="0"/>
              <a:t>‹#›</a:t>
            </a:fld>
            <a:endParaRPr lang="en-IN"/>
          </a:p>
        </p:txBody>
      </p:sp>
    </p:spTree>
    <p:extLst>
      <p:ext uri="{BB962C8B-B14F-4D97-AF65-F5344CB8AC3E}">
        <p14:creationId xmlns:p14="http://schemas.microsoft.com/office/powerpoint/2010/main" val="1151931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0125E42-798C-4A5D-98CB-30EBC1612B41}" type="slidenum">
              <a:rPr lang="en-IN" smtClean="0"/>
              <a:t>1</a:t>
            </a:fld>
            <a:endParaRPr lang="en-IN"/>
          </a:p>
        </p:txBody>
      </p:sp>
    </p:spTree>
    <p:extLst>
      <p:ext uri="{BB962C8B-B14F-4D97-AF65-F5344CB8AC3E}">
        <p14:creationId xmlns:p14="http://schemas.microsoft.com/office/powerpoint/2010/main" val="17181494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0125E42-798C-4A5D-98CB-30EBC1612B41}" type="slidenum">
              <a:rPr lang="en-IN" smtClean="0"/>
              <a:t>11</a:t>
            </a:fld>
            <a:endParaRPr lang="en-IN"/>
          </a:p>
        </p:txBody>
      </p:sp>
    </p:spTree>
    <p:extLst>
      <p:ext uri="{BB962C8B-B14F-4D97-AF65-F5344CB8AC3E}">
        <p14:creationId xmlns:p14="http://schemas.microsoft.com/office/powerpoint/2010/main" val="15369217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1/26/2024</a:t>
            </a:fld>
            <a:endParaRPr lang="en-US"/>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40150989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1/26/2024</a:t>
            </a:fld>
            <a:endParaRPr lang="en-US"/>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531802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1/26/2024</a:t>
            </a:fld>
            <a:endParaRPr lang="en-US"/>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6328777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1/26/2024</a:t>
            </a:fld>
            <a:endParaRPr lang="en-US"/>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8084026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1/26/2024</a:t>
            </a:fld>
            <a:endParaRPr lang="en-US"/>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7618738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1/26/2024</a:t>
            </a:fld>
            <a:endParaRPr lang="en-US"/>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7111336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1/26/2024</a:t>
            </a:fld>
            <a:endParaRPr lang="en-US"/>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2843707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1/26/2024</a:t>
            </a:fld>
            <a:endParaRPr lang="en-US"/>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8821338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1/26/2024</a:t>
            </a:fld>
            <a:endParaRPr lang="en-US"/>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4710447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1/26/2024</a:t>
            </a:fld>
            <a:endParaRPr lang="en-US"/>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6876268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1/26/2024</a:t>
            </a:fld>
            <a:endParaRPr lang="en-US"/>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6F15528-21DE-4FAA-801E-634DDDAF4B2B}"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9076970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1/26/2024</a:t>
            </a:fld>
            <a:endParaRPr lang="en-US"/>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089153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1/26/2024</a:t>
            </a:fld>
            <a:endParaRPr lang="en-US"/>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6F15528-21DE-4FAA-801E-634DDDAF4B2B}"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540220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1/26/2024</a:t>
            </a:fld>
            <a:endParaRPr lang="en-US"/>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5086517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1/26/2024</a:t>
            </a:fld>
            <a:endParaRPr lang="en-US"/>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40792113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1/26/2024</a:t>
            </a:fld>
            <a:endParaRPr lang="en-US"/>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921407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1D8BD707-D9CF-40AE-B4C6-C98DA3205C09}" type="datetimeFigureOut">
              <a:rPr lang="en-US" smtClean="0"/>
              <a:t>1/26/2024</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B6F15528-21DE-4FAA-801E-634DDDAF4B2B}" type="slidenum">
              <a:rPr lang="en-IN" smtClean="0"/>
              <a:t>‹#›</a:t>
            </a:fld>
            <a:endParaRPr lang="en-IN"/>
          </a:p>
        </p:txBody>
      </p:sp>
    </p:spTree>
    <p:extLst>
      <p:ext uri="{BB962C8B-B14F-4D97-AF65-F5344CB8AC3E}">
        <p14:creationId xmlns:p14="http://schemas.microsoft.com/office/powerpoint/2010/main" val="927017396"/>
      </p:ext>
    </p:extLst>
  </p:cSld>
  <p:clrMap bg1="lt1" tx1="dk1" bg2="lt2" tx2="dk2" accent1="accent1" accent2="accent2" accent3="accent3" accent4="accent4" accent5="accent5" accent6="accent6" hlink="hlink" folHlink="folHlink"/>
  <p:sldLayoutIdLst>
    <p:sldLayoutId id="2147483826" r:id="rId1"/>
    <p:sldLayoutId id="2147483827" r:id="rId2"/>
    <p:sldLayoutId id="2147483828" r:id="rId3"/>
    <p:sldLayoutId id="2147483829" r:id="rId4"/>
    <p:sldLayoutId id="2147483830" r:id="rId5"/>
    <p:sldLayoutId id="2147483831" r:id="rId6"/>
    <p:sldLayoutId id="2147483832" r:id="rId7"/>
    <p:sldLayoutId id="2147483833" r:id="rId8"/>
    <p:sldLayoutId id="2147483834" r:id="rId9"/>
    <p:sldLayoutId id="2147483835" r:id="rId10"/>
    <p:sldLayoutId id="2147483836" r:id="rId11"/>
    <p:sldLayoutId id="2147483837" r:id="rId12"/>
    <p:sldLayoutId id="2147483838" r:id="rId13"/>
    <p:sldLayoutId id="2147483839" r:id="rId14"/>
    <p:sldLayoutId id="2147483840" r:id="rId15"/>
    <p:sldLayoutId id="2147483841"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m.youtube.com/watch?v=64EV7p_RQbI" TargetMode="External"/><Relationship Id="rId2" Type="http://schemas.openxmlformats.org/officeDocument/2006/relationships/hyperlink" Target="https://www.geeksforgeeks.org/project-idea-ai-therapist/amp/" TargetMode="External"/><Relationship Id="rId1" Type="http://schemas.openxmlformats.org/officeDocument/2006/relationships/slideLayout" Target="../slideLayouts/slideLayout2.xml"/><Relationship Id="rId4" Type="http://schemas.openxmlformats.org/officeDocument/2006/relationships/hyperlink" Target="https://www.technologyreview.com/2021/12/06/1041345/ai-nlp-mental-health-better-therapists-psychology-cbt/amp/"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4293870" y="240284"/>
            <a:ext cx="4518660"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C96E05"/>
                </a:solidFill>
                <a:latin typeface="Times New Roman"/>
                <a:cs typeface="Times New Roman"/>
              </a:rPr>
              <a:t>Sapthagiri</a:t>
            </a:r>
            <a:r>
              <a:rPr sz="2400" b="1" spc="-15" dirty="0">
                <a:solidFill>
                  <a:srgbClr val="C96E05"/>
                </a:solidFill>
                <a:latin typeface="Times New Roman"/>
                <a:cs typeface="Times New Roman"/>
              </a:rPr>
              <a:t> </a:t>
            </a:r>
            <a:r>
              <a:rPr sz="2400" b="1" dirty="0">
                <a:solidFill>
                  <a:srgbClr val="C96E05"/>
                </a:solidFill>
                <a:latin typeface="Times New Roman"/>
                <a:cs typeface="Times New Roman"/>
              </a:rPr>
              <a:t>College</a:t>
            </a:r>
            <a:r>
              <a:rPr sz="2400" b="1" spc="-20" dirty="0">
                <a:solidFill>
                  <a:srgbClr val="C96E05"/>
                </a:solidFill>
                <a:latin typeface="Times New Roman"/>
                <a:cs typeface="Times New Roman"/>
              </a:rPr>
              <a:t> </a:t>
            </a:r>
            <a:r>
              <a:rPr sz="2400" b="1" dirty="0">
                <a:solidFill>
                  <a:srgbClr val="C96E05"/>
                </a:solidFill>
                <a:latin typeface="Times New Roman"/>
                <a:cs typeface="Times New Roman"/>
              </a:rPr>
              <a:t>Of</a:t>
            </a:r>
            <a:r>
              <a:rPr sz="2400" b="1" spc="-5" dirty="0">
                <a:solidFill>
                  <a:srgbClr val="C96E05"/>
                </a:solidFill>
                <a:latin typeface="Times New Roman"/>
                <a:cs typeface="Times New Roman"/>
              </a:rPr>
              <a:t> </a:t>
            </a:r>
            <a:r>
              <a:rPr sz="2400" b="1" spc="-10" dirty="0">
                <a:solidFill>
                  <a:srgbClr val="C96E05"/>
                </a:solidFill>
                <a:latin typeface="Times New Roman"/>
                <a:cs typeface="Times New Roman"/>
              </a:rPr>
              <a:t>Engineering</a:t>
            </a:r>
            <a:endParaRPr sz="2400">
              <a:latin typeface="Times New Roman"/>
              <a:cs typeface="Times New Roman"/>
            </a:endParaRPr>
          </a:p>
        </p:txBody>
      </p:sp>
      <p:sp>
        <p:nvSpPr>
          <p:cNvPr id="4" name="object 4"/>
          <p:cNvSpPr txBox="1"/>
          <p:nvPr/>
        </p:nvSpPr>
        <p:spPr>
          <a:xfrm>
            <a:off x="3205352" y="609091"/>
            <a:ext cx="7644765" cy="2033270"/>
          </a:xfrm>
          <a:prstGeom prst="rect">
            <a:avLst/>
          </a:prstGeom>
        </p:spPr>
        <p:txBody>
          <a:bodyPr vert="horz" wrap="square" lIns="0" tIns="12700" rIns="0" bIns="0" rtlCol="0">
            <a:spAutoFit/>
          </a:bodyPr>
          <a:lstStyle/>
          <a:p>
            <a:pPr marL="905510">
              <a:lnSpc>
                <a:spcPct val="100000"/>
              </a:lnSpc>
              <a:spcBef>
                <a:spcPts val="100"/>
              </a:spcBef>
            </a:pPr>
            <a:r>
              <a:rPr sz="1800" b="1" dirty="0">
                <a:solidFill>
                  <a:srgbClr val="C96E05"/>
                </a:solidFill>
                <a:latin typeface="Times New Roman"/>
                <a:cs typeface="Times New Roman"/>
              </a:rPr>
              <a:t>Department</a:t>
            </a:r>
            <a:r>
              <a:rPr sz="1800" b="1" spc="-55" dirty="0">
                <a:solidFill>
                  <a:srgbClr val="C96E05"/>
                </a:solidFill>
                <a:latin typeface="Times New Roman"/>
                <a:cs typeface="Times New Roman"/>
              </a:rPr>
              <a:t> </a:t>
            </a:r>
            <a:r>
              <a:rPr sz="1800" b="1" dirty="0">
                <a:solidFill>
                  <a:srgbClr val="C96E05"/>
                </a:solidFill>
                <a:latin typeface="Times New Roman"/>
                <a:cs typeface="Times New Roman"/>
              </a:rPr>
              <a:t>of</a:t>
            </a:r>
            <a:r>
              <a:rPr sz="1800" b="1" spc="-25" dirty="0">
                <a:solidFill>
                  <a:srgbClr val="C96E05"/>
                </a:solidFill>
                <a:latin typeface="Times New Roman"/>
                <a:cs typeface="Times New Roman"/>
              </a:rPr>
              <a:t> </a:t>
            </a:r>
            <a:r>
              <a:rPr sz="1800" b="1" dirty="0">
                <a:solidFill>
                  <a:srgbClr val="C96E05"/>
                </a:solidFill>
                <a:latin typeface="Times New Roman"/>
                <a:cs typeface="Times New Roman"/>
              </a:rPr>
              <a:t>Science</a:t>
            </a:r>
            <a:r>
              <a:rPr sz="1800" b="1" spc="-50" dirty="0">
                <a:solidFill>
                  <a:srgbClr val="C96E05"/>
                </a:solidFill>
                <a:latin typeface="Times New Roman"/>
                <a:cs typeface="Times New Roman"/>
              </a:rPr>
              <a:t> </a:t>
            </a:r>
            <a:r>
              <a:rPr sz="1800" b="1" dirty="0">
                <a:solidFill>
                  <a:srgbClr val="C96E05"/>
                </a:solidFill>
                <a:latin typeface="Times New Roman"/>
                <a:cs typeface="Times New Roman"/>
              </a:rPr>
              <a:t>&amp;</a:t>
            </a:r>
            <a:r>
              <a:rPr sz="1800" b="1" spc="-35" dirty="0">
                <a:solidFill>
                  <a:srgbClr val="C96E05"/>
                </a:solidFill>
                <a:latin typeface="Times New Roman"/>
                <a:cs typeface="Times New Roman"/>
              </a:rPr>
              <a:t> </a:t>
            </a:r>
            <a:r>
              <a:rPr sz="1800" b="1" spc="-10" dirty="0">
                <a:solidFill>
                  <a:srgbClr val="C96E05"/>
                </a:solidFill>
                <a:latin typeface="Times New Roman"/>
                <a:cs typeface="Times New Roman"/>
              </a:rPr>
              <a:t>Engineering</a:t>
            </a:r>
            <a:endParaRPr sz="1800" dirty="0">
              <a:latin typeface="Times New Roman"/>
              <a:cs typeface="Times New Roman"/>
            </a:endParaRPr>
          </a:p>
          <a:p>
            <a:pPr marL="660400">
              <a:lnSpc>
                <a:spcPct val="100000"/>
              </a:lnSpc>
              <a:spcBef>
                <a:spcPts val="20"/>
              </a:spcBef>
            </a:pPr>
            <a:r>
              <a:rPr sz="1600" spc="-25" dirty="0">
                <a:solidFill>
                  <a:srgbClr val="CE8D3D"/>
                </a:solidFill>
                <a:latin typeface="Verdana"/>
                <a:cs typeface="Verdana"/>
              </a:rPr>
              <a:t>Affiliated</a:t>
            </a:r>
            <a:r>
              <a:rPr sz="1600" spc="-100" dirty="0">
                <a:solidFill>
                  <a:srgbClr val="CE8D3D"/>
                </a:solidFill>
                <a:latin typeface="Verdana"/>
                <a:cs typeface="Verdana"/>
              </a:rPr>
              <a:t> </a:t>
            </a:r>
            <a:r>
              <a:rPr sz="1600" spc="-10" dirty="0">
                <a:solidFill>
                  <a:srgbClr val="CE8D3D"/>
                </a:solidFill>
                <a:latin typeface="Verdana"/>
                <a:cs typeface="Verdana"/>
              </a:rPr>
              <a:t>to</a:t>
            </a:r>
            <a:r>
              <a:rPr sz="1600" spc="-60" dirty="0">
                <a:solidFill>
                  <a:srgbClr val="CE8D3D"/>
                </a:solidFill>
                <a:latin typeface="Verdana"/>
                <a:cs typeface="Verdana"/>
              </a:rPr>
              <a:t> </a:t>
            </a:r>
            <a:r>
              <a:rPr sz="1600" spc="-160" dirty="0">
                <a:solidFill>
                  <a:srgbClr val="CE8D3D"/>
                </a:solidFill>
                <a:latin typeface="Verdana"/>
                <a:cs typeface="Verdana"/>
              </a:rPr>
              <a:t>VTU,</a:t>
            </a:r>
            <a:r>
              <a:rPr sz="1600" spc="-30" dirty="0">
                <a:solidFill>
                  <a:srgbClr val="CE8D3D"/>
                </a:solidFill>
                <a:latin typeface="Verdana"/>
                <a:cs typeface="Verdana"/>
              </a:rPr>
              <a:t> </a:t>
            </a:r>
            <a:r>
              <a:rPr sz="1600" spc="-20" dirty="0">
                <a:solidFill>
                  <a:srgbClr val="CE8D3D"/>
                </a:solidFill>
                <a:latin typeface="Verdana"/>
                <a:cs typeface="Verdana"/>
              </a:rPr>
              <a:t>Belagavi</a:t>
            </a:r>
            <a:r>
              <a:rPr sz="1600" spc="-85" dirty="0">
                <a:solidFill>
                  <a:srgbClr val="CE8D3D"/>
                </a:solidFill>
                <a:latin typeface="Verdana"/>
                <a:cs typeface="Verdana"/>
              </a:rPr>
              <a:t> </a:t>
            </a:r>
            <a:r>
              <a:rPr sz="1600" dirty="0">
                <a:solidFill>
                  <a:srgbClr val="CE8D3D"/>
                </a:solidFill>
                <a:latin typeface="Verdana"/>
                <a:cs typeface="Verdana"/>
              </a:rPr>
              <a:t>&amp;</a:t>
            </a:r>
            <a:r>
              <a:rPr sz="1600" spc="-65" dirty="0">
                <a:solidFill>
                  <a:srgbClr val="CE8D3D"/>
                </a:solidFill>
                <a:latin typeface="Verdana"/>
                <a:cs typeface="Verdana"/>
              </a:rPr>
              <a:t> </a:t>
            </a:r>
            <a:r>
              <a:rPr sz="1600" dirty="0">
                <a:solidFill>
                  <a:srgbClr val="CE8D3D"/>
                </a:solidFill>
                <a:latin typeface="Verdana"/>
                <a:cs typeface="Verdana"/>
              </a:rPr>
              <a:t>Approved</a:t>
            </a:r>
            <a:r>
              <a:rPr sz="1600" spc="-100" dirty="0">
                <a:solidFill>
                  <a:srgbClr val="CE8D3D"/>
                </a:solidFill>
                <a:latin typeface="Verdana"/>
                <a:cs typeface="Verdana"/>
              </a:rPr>
              <a:t> </a:t>
            </a:r>
            <a:r>
              <a:rPr sz="1600" spc="-10" dirty="0">
                <a:solidFill>
                  <a:srgbClr val="CE8D3D"/>
                </a:solidFill>
                <a:latin typeface="Verdana"/>
                <a:cs typeface="Verdana"/>
              </a:rPr>
              <a:t>by</a:t>
            </a:r>
            <a:r>
              <a:rPr sz="1600" spc="-75" dirty="0">
                <a:solidFill>
                  <a:srgbClr val="CE8D3D"/>
                </a:solidFill>
                <a:latin typeface="Verdana"/>
                <a:cs typeface="Verdana"/>
              </a:rPr>
              <a:t> </a:t>
            </a:r>
            <a:r>
              <a:rPr sz="1600" spc="-114" dirty="0">
                <a:solidFill>
                  <a:srgbClr val="CE8D3D"/>
                </a:solidFill>
                <a:latin typeface="Verdana"/>
                <a:cs typeface="Verdana"/>
              </a:rPr>
              <a:t>AICTE,</a:t>
            </a:r>
            <a:r>
              <a:rPr sz="1600" spc="-85" dirty="0">
                <a:solidFill>
                  <a:srgbClr val="CE8D3D"/>
                </a:solidFill>
                <a:latin typeface="Verdana"/>
                <a:cs typeface="Verdana"/>
              </a:rPr>
              <a:t> </a:t>
            </a:r>
            <a:r>
              <a:rPr sz="1600" dirty="0">
                <a:solidFill>
                  <a:srgbClr val="CE8D3D"/>
                </a:solidFill>
                <a:latin typeface="Verdana"/>
                <a:cs typeface="Verdana"/>
              </a:rPr>
              <a:t>New</a:t>
            </a:r>
            <a:r>
              <a:rPr sz="1600" spc="-50" dirty="0">
                <a:solidFill>
                  <a:srgbClr val="CE8D3D"/>
                </a:solidFill>
                <a:latin typeface="Verdana"/>
                <a:cs typeface="Verdana"/>
              </a:rPr>
              <a:t> </a:t>
            </a:r>
            <a:r>
              <a:rPr sz="1600" spc="-10" dirty="0">
                <a:solidFill>
                  <a:srgbClr val="CE8D3D"/>
                </a:solidFill>
                <a:latin typeface="Verdana"/>
                <a:cs typeface="Verdana"/>
              </a:rPr>
              <a:t>Delhi</a:t>
            </a:r>
            <a:endParaRPr sz="1600" dirty="0">
              <a:latin typeface="Verdana"/>
              <a:cs typeface="Verdana"/>
            </a:endParaRPr>
          </a:p>
          <a:p>
            <a:pPr marL="1085850" marR="5080" indent="-1073785">
              <a:lnSpc>
                <a:spcPct val="100000"/>
              </a:lnSpc>
            </a:pPr>
            <a:r>
              <a:rPr sz="1600" dirty="0">
                <a:solidFill>
                  <a:srgbClr val="CE8D3D"/>
                </a:solidFill>
                <a:latin typeface="Verdana"/>
                <a:cs typeface="Verdana"/>
              </a:rPr>
              <a:t>(Accredited</a:t>
            </a:r>
            <a:r>
              <a:rPr sz="1600" spc="-20" dirty="0">
                <a:solidFill>
                  <a:srgbClr val="CE8D3D"/>
                </a:solidFill>
                <a:latin typeface="Verdana"/>
                <a:cs typeface="Verdana"/>
              </a:rPr>
              <a:t> </a:t>
            </a:r>
            <a:r>
              <a:rPr sz="1600" spc="-10" dirty="0">
                <a:solidFill>
                  <a:srgbClr val="CE8D3D"/>
                </a:solidFill>
                <a:latin typeface="Verdana"/>
                <a:cs typeface="Verdana"/>
              </a:rPr>
              <a:t>by</a:t>
            </a:r>
            <a:r>
              <a:rPr sz="1600" spc="-80" dirty="0">
                <a:solidFill>
                  <a:srgbClr val="CE8D3D"/>
                </a:solidFill>
                <a:latin typeface="Verdana"/>
                <a:cs typeface="Verdana"/>
              </a:rPr>
              <a:t> </a:t>
            </a:r>
            <a:r>
              <a:rPr sz="1600" spc="80" dirty="0">
                <a:solidFill>
                  <a:srgbClr val="CE8D3D"/>
                </a:solidFill>
                <a:latin typeface="Verdana"/>
                <a:cs typeface="Verdana"/>
              </a:rPr>
              <a:t>NAAC</a:t>
            </a:r>
            <a:r>
              <a:rPr sz="1600" spc="-95" dirty="0">
                <a:solidFill>
                  <a:srgbClr val="CE8D3D"/>
                </a:solidFill>
                <a:latin typeface="Verdana"/>
                <a:cs typeface="Verdana"/>
              </a:rPr>
              <a:t> </a:t>
            </a:r>
            <a:r>
              <a:rPr sz="1600" spc="-80" dirty="0">
                <a:solidFill>
                  <a:srgbClr val="CE8D3D"/>
                </a:solidFill>
                <a:latin typeface="Verdana"/>
                <a:cs typeface="Verdana"/>
              </a:rPr>
              <a:t>with</a:t>
            </a:r>
            <a:r>
              <a:rPr sz="1600" spc="-45" dirty="0">
                <a:solidFill>
                  <a:srgbClr val="CE8D3D"/>
                </a:solidFill>
                <a:latin typeface="Verdana"/>
                <a:cs typeface="Verdana"/>
              </a:rPr>
              <a:t> </a:t>
            </a:r>
            <a:r>
              <a:rPr sz="1600" spc="120" dirty="0">
                <a:solidFill>
                  <a:srgbClr val="CE8D3D"/>
                </a:solidFill>
                <a:latin typeface="Verdana"/>
                <a:cs typeface="Verdana"/>
              </a:rPr>
              <a:t>‘A’</a:t>
            </a:r>
            <a:r>
              <a:rPr sz="1600" spc="-100" dirty="0">
                <a:solidFill>
                  <a:srgbClr val="CE8D3D"/>
                </a:solidFill>
                <a:latin typeface="Verdana"/>
                <a:cs typeface="Verdana"/>
              </a:rPr>
              <a:t> </a:t>
            </a:r>
            <a:r>
              <a:rPr sz="1600" spc="-10" dirty="0">
                <a:solidFill>
                  <a:srgbClr val="CE8D3D"/>
                </a:solidFill>
                <a:latin typeface="Verdana"/>
                <a:cs typeface="Verdana"/>
              </a:rPr>
              <a:t>Grade),</a:t>
            </a:r>
            <a:r>
              <a:rPr sz="1600" spc="-55" dirty="0">
                <a:solidFill>
                  <a:srgbClr val="CE8D3D"/>
                </a:solidFill>
                <a:latin typeface="Verdana"/>
                <a:cs typeface="Verdana"/>
              </a:rPr>
              <a:t> </a:t>
            </a:r>
            <a:r>
              <a:rPr sz="1600" spc="-175" dirty="0">
                <a:solidFill>
                  <a:srgbClr val="CE8D3D"/>
                </a:solidFill>
                <a:latin typeface="Verdana"/>
                <a:cs typeface="Verdana"/>
              </a:rPr>
              <a:t>(ISO</a:t>
            </a:r>
            <a:r>
              <a:rPr sz="1600" spc="-65" dirty="0">
                <a:solidFill>
                  <a:srgbClr val="CE8D3D"/>
                </a:solidFill>
                <a:latin typeface="Verdana"/>
                <a:cs typeface="Verdana"/>
              </a:rPr>
              <a:t> </a:t>
            </a:r>
            <a:r>
              <a:rPr sz="1600" spc="-150" dirty="0">
                <a:solidFill>
                  <a:srgbClr val="CE8D3D"/>
                </a:solidFill>
                <a:latin typeface="Verdana"/>
                <a:cs typeface="Verdana"/>
              </a:rPr>
              <a:t>9001-</a:t>
            </a:r>
            <a:r>
              <a:rPr sz="1600" spc="-135" dirty="0">
                <a:solidFill>
                  <a:srgbClr val="CE8D3D"/>
                </a:solidFill>
                <a:latin typeface="Verdana"/>
                <a:cs typeface="Verdana"/>
              </a:rPr>
              <a:t>2015</a:t>
            </a:r>
            <a:r>
              <a:rPr sz="1600" spc="-85" dirty="0">
                <a:solidFill>
                  <a:srgbClr val="CE8D3D"/>
                </a:solidFill>
                <a:latin typeface="Verdana"/>
                <a:cs typeface="Verdana"/>
              </a:rPr>
              <a:t> </a:t>
            </a:r>
            <a:r>
              <a:rPr sz="1600" dirty="0">
                <a:solidFill>
                  <a:srgbClr val="CE8D3D"/>
                </a:solidFill>
                <a:latin typeface="Verdana"/>
                <a:cs typeface="Verdana"/>
              </a:rPr>
              <a:t>&amp;</a:t>
            </a:r>
            <a:r>
              <a:rPr sz="1600" spc="-80" dirty="0">
                <a:solidFill>
                  <a:srgbClr val="CE8D3D"/>
                </a:solidFill>
                <a:latin typeface="Verdana"/>
                <a:cs typeface="Verdana"/>
              </a:rPr>
              <a:t> </a:t>
            </a:r>
            <a:r>
              <a:rPr sz="1600" spc="-150" dirty="0">
                <a:solidFill>
                  <a:srgbClr val="CE8D3D"/>
                </a:solidFill>
                <a:latin typeface="Verdana"/>
                <a:cs typeface="Verdana"/>
              </a:rPr>
              <a:t>14001-</a:t>
            </a:r>
            <a:r>
              <a:rPr sz="1600" spc="-135" dirty="0">
                <a:solidFill>
                  <a:srgbClr val="CE8D3D"/>
                </a:solidFill>
                <a:latin typeface="Verdana"/>
                <a:cs typeface="Verdana"/>
              </a:rPr>
              <a:t>2015</a:t>
            </a:r>
            <a:r>
              <a:rPr sz="1600" spc="-75" dirty="0">
                <a:solidFill>
                  <a:srgbClr val="CE8D3D"/>
                </a:solidFill>
                <a:latin typeface="Verdana"/>
                <a:cs typeface="Verdana"/>
              </a:rPr>
              <a:t> </a:t>
            </a:r>
            <a:r>
              <a:rPr sz="1600" spc="-10" dirty="0">
                <a:solidFill>
                  <a:srgbClr val="CE8D3D"/>
                </a:solidFill>
                <a:latin typeface="Verdana"/>
                <a:cs typeface="Verdana"/>
              </a:rPr>
              <a:t>Certified) </a:t>
            </a:r>
            <a:r>
              <a:rPr sz="1600" spc="-110" dirty="0">
                <a:solidFill>
                  <a:srgbClr val="CE8D3D"/>
                </a:solidFill>
                <a:latin typeface="Verdana"/>
                <a:cs typeface="Verdana"/>
              </a:rPr>
              <a:t>14/5</a:t>
            </a:r>
            <a:r>
              <a:rPr sz="1600" spc="-85" dirty="0">
                <a:solidFill>
                  <a:srgbClr val="CE8D3D"/>
                </a:solidFill>
                <a:latin typeface="Verdana"/>
                <a:cs typeface="Verdana"/>
              </a:rPr>
              <a:t> </a:t>
            </a:r>
            <a:r>
              <a:rPr sz="1600" spc="-155" dirty="0">
                <a:solidFill>
                  <a:srgbClr val="CE8D3D"/>
                </a:solidFill>
                <a:latin typeface="Verdana"/>
                <a:cs typeface="Verdana"/>
              </a:rPr>
              <a:t>,</a:t>
            </a:r>
            <a:r>
              <a:rPr sz="1600" spc="-80" dirty="0">
                <a:solidFill>
                  <a:srgbClr val="CE8D3D"/>
                </a:solidFill>
                <a:latin typeface="Verdana"/>
                <a:cs typeface="Verdana"/>
              </a:rPr>
              <a:t> </a:t>
            </a:r>
            <a:r>
              <a:rPr sz="1600" spc="-45" dirty="0">
                <a:solidFill>
                  <a:srgbClr val="CE8D3D"/>
                </a:solidFill>
                <a:latin typeface="Verdana"/>
                <a:cs typeface="Verdana"/>
              </a:rPr>
              <a:t>Chikkasandra,</a:t>
            </a:r>
            <a:r>
              <a:rPr sz="1600" spc="-85" dirty="0">
                <a:solidFill>
                  <a:srgbClr val="CE8D3D"/>
                </a:solidFill>
                <a:latin typeface="Verdana"/>
                <a:cs typeface="Verdana"/>
              </a:rPr>
              <a:t> </a:t>
            </a:r>
            <a:r>
              <a:rPr sz="1600" spc="-30" dirty="0">
                <a:solidFill>
                  <a:srgbClr val="CE8D3D"/>
                </a:solidFill>
                <a:latin typeface="Verdana"/>
                <a:cs typeface="Verdana"/>
              </a:rPr>
              <a:t>Hesarghatta</a:t>
            </a:r>
            <a:r>
              <a:rPr sz="1600" spc="-50" dirty="0">
                <a:solidFill>
                  <a:srgbClr val="CE8D3D"/>
                </a:solidFill>
                <a:latin typeface="Verdana"/>
                <a:cs typeface="Verdana"/>
              </a:rPr>
              <a:t> </a:t>
            </a:r>
            <a:r>
              <a:rPr sz="1600" dirty="0">
                <a:solidFill>
                  <a:srgbClr val="CE8D3D"/>
                </a:solidFill>
                <a:latin typeface="Verdana"/>
                <a:cs typeface="Verdana"/>
              </a:rPr>
              <a:t>Main</a:t>
            </a:r>
            <a:r>
              <a:rPr sz="1600" spc="-80" dirty="0">
                <a:solidFill>
                  <a:srgbClr val="CE8D3D"/>
                </a:solidFill>
                <a:latin typeface="Verdana"/>
                <a:cs typeface="Verdana"/>
              </a:rPr>
              <a:t> </a:t>
            </a:r>
            <a:r>
              <a:rPr sz="1600" spc="-20" dirty="0">
                <a:solidFill>
                  <a:srgbClr val="CE8D3D"/>
                </a:solidFill>
                <a:latin typeface="Verdana"/>
                <a:cs typeface="Verdana"/>
              </a:rPr>
              <a:t>Road</a:t>
            </a:r>
            <a:endParaRPr sz="1600" dirty="0">
              <a:latin typeface="Verdana"/>
              <a:cs typeface="Verdana"/>
            </a:endParaRPr>
          </a:p>
          <a:p>
            <a:pPr marL="2161540">
              <a:lnSpc>
                <a:spcPct val="100000"/>
              </a:lnSpc>
            </a:pPr>
            <a:r>
              <a:rPr sz="1600" spc="-40" dirty="0">
                <a:solidFill>
                  <a:srgbClr val="CE8D3D"/>
                </a:solidFill>
                <a:latin typeface="Verdana"/>
                <a:cs typeface="Verdana"/>
              </a:rPr>
              <a:t>Bangalore-</a:t>
            </a:r>
            <a:r>
              <a:rPr sz="1600" spc="-10" dirty="0">
                <a:solidFill>
                  <a:srgbClr val="CE8D3D"/>
                </a:solidFill>
                <a:latin typeface="Verdana"/>
                <a:cs typeface="Verdana"/>
              </a:rPr>
              <a:t>560057</a:t>
            </a:r>
            <a:endParaRPr sz="1600" dirty="0">
              <a:latin typeface="Verdana"/>
              <a:cs typeface="Verdana"/>
            </a:endParaRPr>
          </a:p>
          <a:p>
            <a:pPr marR="1392555" algn="ctr">
              <a:lnSpc>
                <a:spcPts val="2150"/>
              </a:lnSpc>
              <a:spcBef>
                <a:spcPts val="1650"/>
              </a:spcBef>
            </a:pPr>
            <a:r>
              <a:rPr sz="1800" i="1" spc="-10" dirty="0">
                <a:solidFill>
                  <a:srgbClr val="252525"/>
                </a:solidFill>
                <a:latin typeface="Verdana"/>
                <a:cs typeface="Verdana"/>
              </a:rPr>
              <a:t>Presentation</a:t>
            </a:r>
            <a:endParaRPr sz="1800" dirty="0">
              <a:latin typeface="Verdana"/>
              <a:cs typeface="Verdana"/>
            </a:endParaRPr>
          </a:p>
          <a:p>
            <a:pPr marR="1392555" algn="ctr">
              <a:lnSpc>
                <a:spcPts val="2150"/>
              </a:lnSpc>
            </a:pPr>
            <a:r>
              <a:rPr sz="1800" i="1" spc="-25" dirty="0">
                <a:solidFill>
                  <a:srgbClr val="252525"/>
                </a:solidFill>
                <a:latin typeface="Verdana"/>
                <a:cs typeface="Verdana"/>
              </a:rPr>
              <a:t>On</a:t>
            </a:r>
            <a:endParaRPr sz="1800" dirty="0">
              <a:latin typeface="Verdana"/>
              <a:cs typeface="Verdana"/>
            </a:endParaRPr>
          </a:p>
        </p:txBody>
      </p:sp>
      <p:sp>
        <p:nvSpPr>
          <p:cNvPr id="5" name="object 5"/>
          <p:cNvSpPr txBox="1"/>
          <p:nvPr/>
        </p:nvSpPr>
        <p:spPr>
          <a:xfrm>
            <a:off x="4010659" y="2996311"/>
            <a:ext cx="4634865" cy="781624"/>
          </a:xfrm>
          <a:prstGeom prst="rect">
            <a:avLst/>
          </a:prstGeom>
        </p:spPr>
        <p:txBody>
          <a:bodyPr vert="horz" wrap="square" lIns="0" tIns="12065" rIns="0" bIns="0" rtlCol="0">
            <a:spAutoFit/>
          </a:bodyPr>
          <a:lstStyle/>
          <a:p>
            <a:pPr marL="12700">
              <a:lnSpc>
                <a:spcPct val="100000"/>
              </a:lnSpc>
              <a:spcBef>
                <a:spcPts val="95"/>
              </a:spcBef>
            </a:pPr>
            <a:r>
              <a:rPr lang="en-IN" sz="2500" b="1" i="1" spc="-165" dirty="0">
                <a:latin typeface="Times New Roman"/>
                <a:cs typeface="Times New Roman"/>
              </a:rPr>
              <a:t>                  </a:t>
            </a:r>
            <a:r>
              <a:rPr lang="en-GB" sz="2500" b="1" i="1" spc="-165" dirty="0">
                <a:latin typeface="Times New Roman"/>
                <a:cs typeface="Times New Roman"/>
              </a:rPr>
              <a:t>“</a:t>
            </a:r>
            <a:r>
              <a:rPr lang="en-IN" sz="2500" b="1" i="1" spc="-165" dirty="0">
                <a:latin typeface="Verdana"/>
                <a:cs typeface="Times New Roman"/>
              </a:rPr>
              <a:t>TWITTER SENTIMENTAL ANALYSIS</a:t>
            </a:r>
            <a:r>
              <a:rPr sz="2500" b="1" i="1" spc="-275" dirty="0">
                <a:latin typeface="Times New Roman"/>
                <a:cs typeface="Times New Roman"/>
              </a:rPr>
              <a:t>”</a:t>
            </a:r>
            <a:endParaRPr sz="2500" dirty="0">
              <a:latin typeface="Times New Roman"/>
              <a:cs typeface="Times New Roman"/>
            </a:endParaRPr>
          </a:p>
        </p:txBody>
      </p:sp>
      <p:sp>
        <p:nvSpPr>
          <p:cNvPr id="6" name="object 6"/>
          <p:cNvSpPr txBox="1"/>
          <p:nvPr/>
        </p:nvSpPr>
        <p:spPr>
          <a:xfrm>
            <a:off x="2390648" y="4198086"/>
            <a:ext cx="2533015" cy="1135888"/>
          </a:xfrm>
          <a:prstGeom prst="rect">
            <a:avLst/>
          </a:prstGeom>
        </p:spPr>
        <p:txBody>
          <a:bodyPr vert="horz" wrap="square" lIns="0" tIns="11430" rIns="0" bIns="0" rtlCol="0">
            <a:spAutoFit/>
          </a:bodyPr>
          <a:lstStyle/>
          <a:p>
            <a:pPr marL="12700" marR="5080">
              <a:lnSpc>
                <a:spcPct val="109700"/>
              </a:lnSpc>
              <a:spcBef>
                <a:spcPts val="90"/>
              </a:spcBef>
            </a:pPr>
            <a:r>
              <a:rPr sz="1700" b="1" i="1" spc="-185" dirty="0">
                <a:solidFill>
                  <a:srgbClr val="C96E05"/>
                </a:solidFill>
                <a:latin typeface="Verdana"/>
                <a:cs typeface="Verdana"/>
              </a:rPr>
              <a:t>Under</a:t>
            </a:r>
            <a:r>
              <a:rPr sz="1700" b="1" i="1" spc="-105" dirty="0">
                <a:solidFill>
                  <a:srgbClr val="C96E05"/>
                </a:solidFill>
                <a:latin typeface="Verdana"/>
                <a:cs typeface="Verdana"/>
              </a:rPr>
              <a:t> </a:t>
            </a:r>
            <a:r>
              <a:rPr sz="1700" b="1" i="1" spc="-175" dirty="0">
                <a:solidFill>
                  <a:srgbClr val="C96E05"/>
                </a:solidFill>
                <a:latin typeface="Verdana"/>
                <a:cs typeface="Verdana"/>
              </a:rPr>
              <a:t>the</a:t>
            </a:r>
            <a:r>
              <a:rPr sz="1700" b="1" i="1" spc="-100" dirty="0">
                <a:solidFill>
                  <a:srgbClr val="C96E05"/>
                </a:solidFill>
                <a:latin typeface="Verdana"/>
                <a:cs typeface="Verdana"/>
              </a:rPr>
              <a:t> </a:t>
            </a:r>
            <a:r>
              <a:rPr sz="1700" b="1" i="1" spc="-75" dirty="0">
                <a:solidFill>
                  <a:srgbClr val="C96E05"/>
                </a:solidFill>
                <a:latin typeface="Verdana"/>
                <a:cs typeface="Verdana"/>
              </a:rPr>
              <a:t>Guidance</a:t>
            </a:r>
            <a:r>
              <a:rPr sz="1700" b="1" i="1" spc="-100" dirty="0">
                <a:solidFill>
                  <a:srgbClr val="C96E05"/>
                </a:solidFill>
                <a:latin typeface="Verdana"/>
                <a:cs typeface="Verdana"/>
              </a:rPr>
              <a:t> </a:t>
            </a:r>
            <a:r>
              <a:rPr sz="1700" b="1" i="1" spc="-165" dirty="0">
                <a:solidFill>
                  <a:srgbClr val="C96E05"/>
                </a:solidFill>
                <a:latin typeface="Verdana"/>
                <a:cs typeface="Verdana"/>
              </a:rPr>
              <a:t>of</a:t>
            </a:r>
            <a:r>
              <a:rPr sz="1700" b="1" i="1" spc="-95" dirty="0">
                <a:solidFill>
                  <a:srgbClr val="C96E05"/>
                </a:solidFill>
                <a:latin typeface="Verdana"/>
                <a:cs typeface="Verdana"/>
              </a:rPr>
              <a:t> </a:t>
            </a:r>
            <a:r>
              <a:rPr sz="1700" b="1" i="1" spc="-75" dirty="0">
                <a:solidFill>
                  <a:srgbClr val="C96E05"/>
                </a:solidFill>
                <a:latin typeface="Verdana"/>
                <a:cs typeface="Verdana"/>
              </a:rPr>
              <a:t>: </a:t>
            </a:r>
            <a:r>
              <a:rPr lang="en-IN" sz="1700" b="1" i="1" spc="-220" dirty="0">
                <a:solidFill>
                  <a:schemeClr val="tx1"/>
                </a:solidFill>
                <a:latin typeface="Verdana"/>
                <a:cs typeface="Times New Roman" panose="02020603050405020304" pitchFamily="18" charset="0"/>
              </a:rPr>
              <a:t>Ms</a:t>
            </a:r>
            <a:r>
              <a:rPr sz="1700" b="1" spc="-220" dirty="0">
                <a:latin typeface="Verdana"/>
                <a:cs typeface="Times New Roman" panose="02020603050405020304" pitchFamily="18" charset="0"/>
              </a:rPr>
              <a:t>.</a:t>
            </a:r>
            <a:r>
              <a:rPr sz="1700" b="1" spc="-105" dirty="0">
                <a:latin typeface="Verdana"/>
                <a:cs typeface="Times New Roman" panose="02020603050405020304" pitchFamily="18" charset="0"/>
              </a:rPr>
              <a:t> </a:t>
            </a:r>
            <a:r>
              <a:rPr lang="en-IN" sz="1700" b="1" spc="-229" dirty="0" err="1">
                <a:latin typeface="Verdana"/>
                <a:cs typeface="Times New Roman" panose="02020603050405020304" pitchFamily="18" charset="0"/>
              </a:rPr>
              <a:t>Hemalatha</a:t>
            </a:r>
            <a:r>
              <a:rPr lang="en-IN" sz="1700" b="1" spc="-229" dirty="0">
                <a:latin typeface="Verdana"/>
                <a:cs typeface="Times New Roman" panose="02020603050405020304" pitchFamily="18" charset="0"/>
              </a:rPr>
              <a:t> K</a:t>
            </a:r>
            <a:r>
              <a:rPr sz="1700" b="1" spc="-204" dirty="0">
                <a:latin typeface="Verdana"/>
                <a:cs typeface="Times New Roman" panose="02020603050405020304" pitchFamily="18" charset="0"/>
              </a:rPr>
              <a:t> Assistant</a:t>
            </a:r>
            <a:r>
              <a:rPr sz="1700" b="1" spc="-70" dirty="0">
                <a:latin typeface="Verdana"/>
                <a:cs typeface="Times New Roman" panose="02020603050405020304" pitchFamily="18" charset="0"/>
              </a:rPr>
              <a:t> </a:t>
            </a:r>
            <a:r>
              <a:rPr sz="1700" b="1" spc="-120" dirty="0">
                <a:latin typeface="Verdana"/>
                <a:cs typeface="Times New Roman" panose="02020603050405020304" pitchFamily="18" charset="0"/>
              </a:rPr>
              <a:t>Professsor </a:t>
            </a:r>
            <a:r>
              <a:rPr sz="1700" b="1" spc="-155" dirty="0">
                <a:latin typeface="Verdana"/>
                <a:cs typeface="Times New Roman" panose="02020603050405020304" pitchFamily="18" charset="0"/>
              </a:rPr>
              <a:t>Dept</a:t>
            </a:r>
            <a:r>
              <a:rPr sz="1700" b="1" spc="-90" dirty="0">
                <a:latin typeface="Verdana"/>
                <a:cs typeface="Times New Roman" panose="02020603050405020304" pitchFamily="18" charset="0"/>
              </a:rPr>
              <a:t> </a:t>
            </a:r>
            <a:r>
              <a:rPr sz="1700" b="1" spc="-160" dirty="0">
                <a:latin typeface="Verdana"/>
                <a:cs typeface="Times New Roman" panose="02020603050405020304" pitchFamily="18" charset="0"/>
              </a:rPr>
              <a:t>of</a:t>
            </a:r>
            <a:r>
              <a:rPr sz="1700" b="1" spc="-105" dirty="0">
                <a:latin typeface="Verdana"/>
                <a:cs typeface="Times New Roman" panose="02020603050405020304" pitchFamily="18" charset="0"/>
              </a:rPr>
              <a:t> </a:t>
            </a:r>
            <a:r>
              <a:rPr sz="1700" b="1" spc="-25" dirty="0">
                <a:latin typeface="Verdana"/>
                <a:cs typeface="Times New Roman" panose="02020603050405020304" pitchFamily="18" charset="0"/>
              </a:rPr>
              <a:t>CSE</a:t>
            </a:r>
            <a:endParaRPr sz="1700" dirty="0">
              <a:latin typeface="Verdana"/>
              <a:cs typeface="Times New Roman" panose="02020603050405020304" pitchFamily="18" charset="0"/>
            </a:endParaRPr>
          </a:p>
        </p:txBody>
      </p:sp>
      <p:pic>
        <p:nvPicPr>
          <p:cNvPr id="7" name="object 7"/>
          <p:cNvPicPr/>
          <p:nvPr/>
        </p:nvPicPr>
        <p:blipFill>
          <a:blip r:embed="rId3" cstate="print"/>
          <a:stretch>
            <a:fillRect/>
          </a:stretch>
        </p:blipFill>
        <p:spPr>
          <a:xfrm>
            <a:off x="1143000" y="368808"/>
            <a:ext cx="1214627" cy="1287780"/>
          </a:xfrm>
          <a:prstGeom prst="rect">
            <a:avLst/>
          </a:prstGeom>
        </p:spPr>
      </p:pic>
      <p:sp>
        <p:nvSpPr>
          <p:cNvPr id="8" name="object 8"/>
          <p:cNvSpPr txBox="1"/>
          <p:nvPr/>
        </p:nvSpPr>
        <p:spPr>
          <a:xfrm>
            <a:off x="7772400" y="4270629"/>
            <a:ext cx="3886200" cy="2214965"/>
          </a:xfrm>
          <a:prstGeom prst="rect">
            <a:avLst/>
          </a:prstGeom>
        </p:spPr>
        <p:txBody>
          <a:bodyPr vert="horz" wrap="square" lIns="0" tIns="12700" rIns="0" bIns="0" rtlCol="0">
            <a:spAutoFit/>
          </a:bodyPr>
          <a:lstStyle/>
          <a:p>
            <a:pPr marL="32384">
              <a:lnSpc>
                <a:spcPct val="100000"/>
              </a:lnSpc>
              <a:spcBef>
                <a:spcPts val="100"/>
              </a:spcBef>
            </a:pPr>
            <a:r>
              <a:rPr sz="1800" b="1" i="1" dirty="0">
                <a:solidFill>
                  <a:srgbClr val="C96E05"/>
                </a:solidFill>
                <a:latin typeface="Times New Roman"/>
                <a:cs typeface="Times New Roman"/>
              </a:rPr>
              <a:t>Presented</a:t>
            </a:r>
            <a:r>
              <a:rPr sz="1800" b="1" i="1" spc="-45" dirty="0">
                <a:solidFill>
                  <a:srgbClr val="C96E05"/>
                </a:solidFill>
                <a:latin typeface="Times New Roman"/>
                <a:cs typeface="Times New Roman"/>
              </a:rPr>
              <a:t> </a:t>
            </a:r>
            <a:r>
              <a:rPr sz="1800" b="1" i="1" spc="-25" dirty="0">
                <a:solidFill>
                  <a:srgbClr val="C96E05"/>
                </a:solidFill>
                <a:latin typeface="Times New Roman"/>
                <a:cs typeface="Times New Roman"/>
              </a:rPr>
              <a:t>By</a:t>
            </a:r>
            <a:r>
              <a:rPr sz="1600" b="1" i="1" spc="-25" dirty="0">
                <a:solidFill>
                  <a:srgbClr val="C96E05"/>
                </a:solidFill>
                <a:latin typeface="Times New Roman"/>
                <a:cs typeface="Times New Roman"/>
              </a:rPr>
              <a:t>:</a:t>
            </a:r>
            <a:endParaRPr sz="1600" dirty="0">
              <a:latin typeface="Times New Roman"/>
              <a:cs typeface="Times New Roman"/>
            </a:endParaRPr>
          </a:p>
          <a:p>
            <a:pPr marL="38100" marR="5080" indent="-26034">
              <a:lnSpc>
                <a:spcPct val="150000"/>
              </a:lnSpc>
              <a:spcBef>
                <a:spcPts val="235"/>
              </a:spcBef>
            </a:pPr>
            <a:r>
              <a:rPr lang="en-IN" sz="1600" b="1" spc="-150" dirty="0">
                <a:latin typeface="Verdana"/>
                <a:cs typeface="Times New Roman" panose="02020603050405020304" pitchFamily="18" charset="0"/>
              </a:rPr>
              <a:t>Ankush </a:t>
            </a:r>
            <a:r>
              <a:rPr lang="en-IN" sz="1600" b="1" spc="-150" dirty="0" err="1">
                <a:latin typeface="Verdana"/>
                <a:cs typeface="Times New Roman" panose="02020603050405020304" pitchFamily="18" charset="0"/>
              </a:rPr>
              <a:t>gowda</a:t>
            </a:r>
            <a:r>
              <a:rPr lang="en-IN" sz="1600" b="1" spc="-150" dirty="0">
                <a:latin typeface="Verdana"/>
                <a:cs typeface="Times New Roman" panose="02020603050405020304" pitchFamily="18" charset="0"/>
              </a:rPr>
              <a:t> R(</a:t>
            </a:r>
            <a:r>
              <a:rPr lang="en-IN" sz="1600" b="1" spc="-110" dirty="0">
                <a:latin typeface="Verdana"/>
                <a:cs typeface="Times New Roman" panose="02020603050405020304" pitchFamily="18" charset="0"/>
              </a:rPr>
              <a:t>1SG20CS009)</a:t>
            </a:r>
          </a:p>
          <a:p>
            <a:pPr marL="38100" marR="5080" indent="-26034">
              <a:lnSpc>
                <a:spcPct val="150000"/>
              </a:lnSpc>
              <a:spcBef>
                <a:spcPts val="235"/>
              </a:spcBef>
            </a:pPr>
            <a:r>
              <a:rPr lang="en-IN" sz="1600" b="1" spc="-110" dirty="0">
                <a:latin typeface="Verdana"/>
                <a:cs typeface="Times New Roman" panose="02020603050405020304" pitchFamily="18" charset="0"/>
              </a:rPr>
              <a:t>Chandu T R(1SG20CS027)</a:t>
            </a:r>
          </a:p>
          <a:p>
            <a:pPr marL="38100" marR="5080" indent="-26034">
              <a:lnSpc>
                <a:spcPct val="150000"/>
              </a:lnSpc>
              <a:spcBef>
                <a:spcPts val="235"/>
              </a:spcBef>
            </a:pPr>
            <a:r>
              <a:rPr lang="en-IN" sz="1600" b="1" spc="-110" dirty="0">
                <a:latin typeface="Verdana"/>
                <a:cs typeface="Times New Roman" panose="02020603050405020304" pitchFamily="18" charset="0"/>
              </a:rPr>
              <a:t>Shravan L(1SG20CS100)</a:t>
            </a:r>
          </a:p>
          <a:p>
            <a:pPr marL="38100" marR="5080" indent="-26034">
              <a:lnSpc>
                <a:spcPct val="150000"/>
              </a:lnSpc>
              <a:spcBef>
                <a:spcPts val="235"/>
              </a:spcBef>
            </a:pPr>
            <a:r>
              <a:rPr lang="en-IN" sz="1600" b="1" spc="-110" dirty="0" err="1">
                <a:latin typeface="Verdana"/>
                <a:cs typeface="Times New Roman" panose="02020603050405020304" pitchFamily="18" charset="0"/>
              </a:rPr>
              <a:t>Vivan</a:t>
            </a:r>
            <a:r>
              <a:rPr lang="en-IN" sz="1600" b="1" spc="-110" dirty="0">
                <a:latin typeface="Verdana"/>
                <a:cs typeface="Times New Roman" panose="02020603050405020304" pitchFamily="18" charset="0"/>
              </a:rPr>
              <a:t> </a:t>
            </a:r>
            <a:r>
              <a:rPr lang="en-IN" sz="1600" b="1" spc="-110" dirty="0" err="1">
                <a:latin typeface="Verdana"/>
                <a:cs typeface="Times New Roman" panose="02020603050405020304" pitchFamily="18" charset="0"/>
              </a:rPr>
              <a:t>kushal</a:t>
            </a:r>
            <a:r>
              <a:rPr lang="en-IN" sz="1600" b="1" spc="-110" dirty="0">
                <a:latin typeface="Verdana"/>
                <a:cs typeface="Times New Roman" panose="02020603050405020304" pitchFamily="18" charset="0"/>
              </a:rPr>
              <a:t> </a:t>
            </a:r>
            <a:r>
              <a:rPr lang="en-IN" sz="1600" b="1" spc="-110" dirty="0" err="1">
                <a:latin typeface="Verdana"/>
                <a:cs typeface="Times New Roman" panose="02020603050405020304" pitchFamily="18" charset="0"/>
              </a:rPr>
              <a:t>heneger</a:t>
            </a:r>
            <a:r>
              <a:rPr lang="en-IN" sz="1600" b="1" spc="-110" dirty="0">
                <a:latin typeface="Verdana"/>
                <a:cs typeface="Times New Roman" panose="02020603050405020304" pitchFamily="18" charset="0"/>
              </a:rPr>
              <a:t>(1SG20CS114)</a:t>
            </a:r>
          </a:p>
          <a:p>
            <a:pPr marL="38100" marR="5080" indent="-26034">
              <a:lnSpc>
                <a:spcPct val="150000"/>
              </a:lnSpc>
              <a:spcBef>
                <a:spcPts val="235"/>
              </a:spcBef>
            </a:pPr>
            <a:endParaRPr sz="1600" dirty="0">
              <a:latin typeface="Verdana"/>
              <a:cs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207514" y="690117"/>
            <a:ext cx="2745486" cy="566822"/>
          </a:xfrm>
          <a:prstGeom prst="rect">
            <a:avLst/>
          </a:prstGeom>
        </p:spPr>
        <p:txBody>
          <a:bodyPr vert="horz" wrap="square" lIns="0" tIns="12700" rIns="0" bIns="0" rtlCol="0">
            <a:spAutoFit/>
          </a:bodyPr>
          <a:lstStyle/>
          <a:p>
            <a:pPr marL="12700">
              <a:lnSpc>
                <a:spcPct val="100000"/>
              </a:lnSpc>
              <a:spcBef>
                <a:spcPts val="100"/>
              </a:spcBef>
            </a:pPr>
            <a:r>
              <a:rPr b="1" spc="-215" dirty="0"/>
              <a:t>CONTENTS</a:t>
            </a:r>
          </a:p>
        </p:txBody>
      </p:sp>
      <p:sp>
        <p:nvSpPr>
          <p:cNvPr id="4" name="object 4"/>
          <p:cNvSpPr txBox="1"/>
          <p:nvPr/>
        </p:nvSpPr>
        <p:spPr>
          <a:xfrm>
            <a:off x="2207514" y="1849729"/>
            <a:ext cx="2992120" cy="3912870"/>
          </a:xfrm>
          <a:prstGeom prst="rect">
            <a:avLst/>
          </a:prstGeom>
        </p:spPr>
        <p:txBody>
          <a:bodyPr vert="horz" wrap="square" lIns="0" tIns="139065" rIns="0" bIns="0" rtlCol="0">
            <a:spAutoFit/>
          </a:bodyPr>
          <a:lstStyle/>
          <a:p>
            <a:pPr marL="12700">
              <a:lnSpc>
                <a:spcPct val="100000"/>
              </a:lnSpc>
              <a:spcBef>
                <a:spcPts val="1095"/>
              </a:spcBef>
            </a:pPr>
            <a:r>
              <a:rPr sz="2000" spc="780" dirty="0">
                <a:solidFill>
                  <a:srgbClr val="FFC908"/>
                </a:solidFill>
                <a:latin typeface="Noto Sans Symbols2"/>
                <a:cs typeface="Noto Sans Symbols2"/>
              </a:rPr>
              <a:t>🠶</a:t>
            </a:r>
            <a:r>
              <a:rPr sz="2000" spc="395" dirty="0">
                <a:solidFill>
                  <a:srgbClr val="FFC908"/>
                </a:solidFill>
                <a:latin typeface="Noto Sans Symbols2"/>
                <a:cs typeface="Noto Sans Symbols2"/>
              </a:rPr>
              <a:t> </a:t>
            </a:r>
            <a:r>
              <a:rPr sz="2000" spc="-10" dirty="0">
                <a:solidFill>
                  <a:srgbClr val="404040"/>
                </a:solidFill>
                <a:latin typeface="Verdana"/>
                <a:cs typeface="Verdana"/>
              </a:rPr>
              <a:t>Abstract</a:t>
            </a:r>
            <a:endParaRPr sz="2000">
              <a:latin typeface="Verdana"/>
              <a:cs typeface="Verdana"/>
            </a:endParaRPr>
          </a:p>
          <a:p>
            <a:pPr marL="12700">
              <a:lnSpc>
                <a:spcPct val="100000"/>
              </a:lnSpc>
              <a:spcBef>
                <a:spcPts val="1000"/>
              </a:spcBef>
            </a:pPr>
            <a:r>
              <a:rPr sz="2000" spc="145" dirty="0">
                <a:solidFill>
                  <a:srgbClr val="FFC908"/>
                </a:solidFill>
                <a:latin typeface="Noto Sans Symbols2"/>
                <a:cs typeface="Noto Sans Symbols2"/>
              </a:rPr>
              <a:t>🠶</a:t>
            </a:r>
            <a:r>
              <a:rPr sz="2000" spc="395" dirty="0">
                <a:solidFill>
                  <a:srgbClr val="FFC908"/>
                </a:solidFill>
                <a:latin typeface="Noto Sans Symbols2"/>
                <a:cs typeface="Noto Sans Symbols2"/>
              </a:rPr>
              <a:t> </a:t>
            </a:r>
            <a:r>
              <a:rPr sz="2000" spc="-10" dirty="0">
                <a:solidFill>
                  <a:srgbClr val="404040"/>
                </a:solidFill>
                <a:latin typeface="Verdana"/>
                <a:cs typeface="Verdana"/>
              </a:rPr>
              <a:t>Introduction</a:t>
            </a:r>
            <a:endParaRPr sz="2000">
              <a:latin typeface="Verdana"/>
              <a:cs typeface="Verdana"/>
            </a:endParaRPr>
          </a:p>
          <a:p>
            <a:pPr marL="12700">
              <a:lnSpc>
                <a:spcPct val="100000"/>
              </a:lnSpc>
              <a:spcBef>
                <a:spcPts val="1005"/>
              </a:spcBef>
            </a:pPr>
            <a:r>
              <a:rPr sz="2000" spc="145" dirty="0">
                <a:solidFill>
                  <a:srgbClr val="FFC908"/>
                </a:solidFill>
                <a:latin typeface="Noto Sans Symbols2"/>
                <a:cs typeface="Noto Sans Symbols2"/>
              </a:rPr>
              <a:t>🠶</a:t>
            </a:r>
            <a:r>
              <a:rPr sz="2000" spc="440" dirty="0">
                <a:solidFill>
                  <a:srgbClr val="FFC908"/>
                </a:solidFill>
                <a:latin typeface="Noto Sans Symbols2"/>
                <a:cs typeface="Noto Sans Symbols2"/>
              </a:rPr>
              <a:t> </a:t>
            </a:r>
            <a:r>
              <a:rPr sz="2000" spc="-114" dirty="0">
                <a:solidFill>
                  <a:srgbClr val="404040"/>
                </a:solidFill>
                <a:latin typeface="Verdana"/>
                <a:cs typeface="Verdana"/>
              </a:rPr>
              <a:t>Internship</a:t>
            </a:r>
            <a:r>
              <a:rPr sz="2000" spc="-160" dirty="0">
                <a:solidFill>
                  <a:srgbClr val="404040"/>
                </a:solidFill>
                <a:latin typeface="Verdana"/>
                <a:cs typeface="Verdana"/>
              </a:rPr>
              <a:t> </a:t>
            </a:r>
            <a:r>
              <a:rPr sz="2000" spc="-10" dirty="0">
                <a:solidFill>
                  <a:srgbClr val="404040"/>
                </a:solidFill>
                <a:latin typeface="Verdana"/>
                <a:cs typeface="Verdana"/>
              </a:rPr>
              <a:t>Domain</a:t>
            </a:r>
            <a:endParaRPr sz="2000">
              <a:latin typeface="Verdana"/>
              <a:cs typeface="Verdana"/>
            </a:endParaRPr>
          </a:p>
          <a:p>
            <a:pPr marL="12700">
              <a:lnSpc>
                <a:spcPct val="100000"/>
              </a:lnSpc>
              <a:spcBef>
                <a:spcPts val="1000"/>
              </a:spcBef>
            </a:pPr>
            <a:r>
              <a:rPr sz="2000" spc="145" dirty="0">
                <a:solidFill>
                  <a:srgbClr val="FFC908"/>
                </a:solidFill>
                <a:latin typeface="Noto Sans Symbols2"/>
                <a:cs typeface="Noto Sans Symbols2"/>
              </a:rPr>
              <a:t>🠶</a:t>
            </a:r>
            <a:r>
              <a:rPr sz="2000" spc="425" dirty="0">
                <a:solidFill>
                  <a:srgbClr val="FFC908"/>
                </a:solidFill>
                <a:latin typeface="Noto Sans Symbols2"/>
                <a:cs typeface="Noto Sans Symbols2"/>
              </a:rPr>
              <a:t> </a:t>
            </a:r>
            <a:r>
              <a:rPr sz="2000" spc="-35" dirty="0">
                <a:solidFill>
                  <a:srgbClr val="404040"/>
                </a:solidFill>
                <a:latin typeface="Verdana"/>
                <a:cs typeface="Verdana"/>
              </a:rPr>
              <a:t>Project</a:t>
            </a:r>
            <a:r>
              <a:rPr sz="2000" spc="-145" dirty="0">
                <a:solidFill>
                  <a:srgbClr val="404040"/>
                </a:solidFill>
                <a:latin typeface="Verdana"/>
                <a:cs typeface="Verdana"/>
              </a:rPr>
              <a:t> </a:t>
            </a:r>
            <a:r>
              <a:rPr sz="2000" spc="-10" dirty="0">
                <a:solidFill>
                  <a:srgbClr val="404040"/>
                </a:solidFill>
                <a:latin typeface="Verdana"/>
                <a:cs typeface="Verdana"/>
              </a:rPr>
              <a:t>Introduction</a:t>
            </a:r>
            <a:endParaRPr sz="2000">
              <a:latin typeface="Verdana"/>
              <a:cs typeface="Verdana"/>
            </a:endParaRPr>
          </a:p>
          <a:p>
            <a:pPr marL="12700">
              <a:lnSpc>
                <a:spcPct val="100000"/>
              </a:lnSpc>
              <a:spcBef>
                <a:spcPts val="994"/>
              </a:spcBef>
            </a:pPr>
            <a:r>
              <a:rPr sz="2000" spc="160" dirty="0">
                <a:solidFill>
                  <a:srgbClr val="FFC908"/>
                </a:solidFill>
                <a:latin typeface="Noto Sans Symbols2"/>
                <a:cs typeface="Noto Sans Symbols2"/>
              </a:rPr>
              <a:t>🠶</a:t>
            </a:r>
            <a:r>
              <a:rPr sz="2000" spc="420" dirty="0">
                <a:solidFill>
                  <a:srgbClr val="FFC908"/>
                </a:solidFill>
                <a:latin typeface="Noto Sans Symbols2"/>
                <a:cs typeface="Noto Sans Symbols2"/>
              </a:rPr>
              <a:t> </a:t>
            </a:r>
            <a:r>
              <a:rPr sz="2000" spc="-30" dirty="0">
                <a:solidFill>
                  <a:srgbClr val="404040"/>
                </a:solidFill>
                <a:latin typeface="Verdana"/>
                <a:cs typeface="Verdana"/>
              </a:rPr>
              <a:t>Course</a:t>
            </a:r>
            <a:r>
              <a:rPr sz="2000" spc="-165" dirty="0">
                <a:solidFill>
                  <a:srgbClr val="404040"/>
                </a:solidFill>
                <a:latin typeface="Verdana"/>
                <a:cs typeface="Verdana"/>
              </a:rPr>
              <a:t> </a:t>
            </a:r>
            <a:r>
              <a:rPr sz="2000" spc="45" dirty="0">
                <a:solidFill>
                  <a:srgbClr val="404040"/>
                </a:solidFill>
                <a:latin typeface="Verdana"/>
                <a:cs typeface="Verdana"/>
              </a:rPr>
              <a:t>Outcome</a:t>
            </a:r>
            <a:endParaRPr sz="2000">
              <a:latin typeface="Verdana"/>
              <a:cs typeface="Verdana"/>
            </a:endParaRPr>
          </a:p>
          <a:p>
            <a:pPr marL="12700">
              <a:lnSpc>
                <a:spcPct val="100000"/>
              </a:lnSpc>
              <a:spcBef>
                <a:spcPts val="1010"/>
              </a:spcBef>
            </a:pPr>
            <a:r>
              <a:rPr sz="2000" spc="145" dirty="0">
                <a:solidFill>
                  <a:srgbClr val="FFC908"/>
                </a:solidFill>
                <a:latin typeface="Noto Sans Symbols2"/>
                <a:cs typeface="Noto Sans Symbols2"/>
              </a:rPr>
              <a:t>🠶</a:t>
            </a:r>
            <a:r>
              <a:rPr sz="2000" spc="5" dirty="0">
                <a:solidFill>
                  <a:srgbClr val="FFC908"/>
                </a:solidFill>
                <a:latin typeface="Noto Sans Symbols2"/>
                <a:cs typeface="Noto Sans Symbols2"/>
              </a:rPr>
              <a:t>  </a:t>
            </a:r>
            <a:r>
              <a:rPr sz="2000" dirty="0">
                <a:solidFill>
                  <a:srgbClr val="404040"/>
                </a:solidFill>
                <a:latin typeface="Verdana"/>
                <a:cs typeface="Verdana"/>
              </a:rPr>
              <a:t>Module</a:t>
            </a:r>
            <a:r>
              <a:rPr sz="2000" spc="-70" dirty="0">
                <a:solidFill>
                  <a:srgbClr val="404040"/>
                </a:solidFill>
                <a:latin typeface="Verdana"/>
                <a:cs typeface="Verdana"/>
              </a:rPr>
              <a:t> </a:t>
            </a:r>
            <a:r>
              <a:rPr sz="2000" spc="-10" dirty="0">
                <a:solidFill>
                  <a:srgbClr val="404040"/>
                </a:solidFill>
                <a:latin typeface="Verdana"/>
                <a:cs typeface="Verdana"/>
              </a:rPr>
              <a:t>Specification</a:t>
            </a:r>
            <a:endParaRPr sz="2000">
              <a:latin typeface="Verdana"/>
              <a:cs typeface="Verdana"/>
            </a:endParaRPr>
          </a:p>
          <a:p>
            <a:pPr marL="12700">
              <a:lnSpc>
                <a:spcPct val="100000"/>
              </a:lnSpc>
              <a:spcBef>
                <a:spcPts val="994"/>
              </a:spcBef>
            </a:pPr>
            <a:r>
              <a:rPr sz="2000" spc="145" dirty="0">
                <a:solidFill>
                  <a:srgbClr val="FFC908"/>
                </a:solidFill>
                <a:latin typeface="Noto Sans Symbols2"/>
                <a:cs typeface="Noto Sans Symbols2"/>
              </a:rPr>
              <a:t>🠶</a:t>
            </a:r>
            <a:r>
              <a:rPr sz="2000" spc="395" dirty="0">
                <a:solidFill>
                  <a:srgbClr val="FFC908"/>
                </a:solidFill>
                <a:latin typeface="Noto Sans Symbols2"/>
                <a:cs typeface="Noto Sans Symbols2"/>
              </a:rPr>
              <a:t> </a:t>
            </a:r>
            <a:r>
              <a:rPr sz="2000" spc="-10" dirty="0">
                <a:solidFill>
                  <a:srgbClr val="404040"/>
                </a:solidFill>
                <a:latin typeface="Verdana"/>
                <a:cs typeface="Verdana"/>
              </a:rPr>
              <a:t>Result</a:t>
            </a:r>
            <a:endParaRPr sz="2000">
              <a:latin typeface="Verdana"/>
              <a:cs typeface="Verdana"/>
            </a:endParaRPr>
          </a:p>
          <a:p>
            <a:pPr marL="12700">
              <a:lnSpc>
                <a:spcPct val="100000"/>
              </a:lnSpc>
              <a:spcBef>
                <a:spcPts val="994"/>
              </a:spcBef>
            </a:pPr>
            <a:r>
              <a:rPr sz="2000" spc="145" dirty="0">
                <a:solidFill>
                  <a:srgbClr val="FFC908"/>
                </a:solidFill>
                <a:latin typeface="Noto Sans Symbols2"/>
                <a:cs typeface="Noto Sans Symbols2"/>
              </a:rPr>
              <a:t>🠶</a:t>
            </a:r>
            <a:r>
              <a:rPr sz="2000" spc="395" dirty="0">
                <a:solidFill>
                  <a:srgbClr val="FFC908"/>
                </a:solidFill>
                <a:latin typeface="Noto Sans Symbols2"/>
                <a:cs typeface="Noto Sans Symbols2"/>
              </a:rPr>
              <a:t> </a:t>
            </a:r>
            <a:r>
              <a:rPr sz="2000" spc="-10" dirty="0">
                <a:solidFill>
                  <a:srgbClr val="404040"/>
                </a:solidFill>
                <a:latin typeface="Verdana"/>
                <a:cs typeface="Verdana"/>
              </a:rPr>
              <a:t>Conclusion</a:t>
            </a:r>
            <a:endParaRPr sz="2000">
              <a:latin typeface="Verdana"/>
              <a:cs typeface="Verdana"/>
            </a:endParaRPr>
          </a:p>
          <a:p>
            <a:pPr marL="12700">
              <a:lnSpc>
                <a:spcPct val="100000"/>
              </a:lnSpc>
              <a:spcBef>
                <a:spcPts val="1010"/>
              </a:spcBef>
            </a:pPr>
            <a:r>
              <a:rPr sz="2000" spc="145" dirty="0">
                <a:solidFill>
                  <a:srgbClr val="FFC908"/>
                </a:solidFill>
                <a:latin typeface="Noto Sans Symbols2"/>
                <a:cs typeface="Noto Sans Symbols2"/>
              </a:rPr>
              <a:t>🠶</a:t>
            </a:r>
            <a:r>
              <a:rPr sz="2000" spc="395" dirty="0">
                <a:solidFill>
                  <a:srgbClr val="FFC908"/>
                </a:solidFill>
                <a:latin typeface="Noto Sans Symbols2"/>
                <a:cs typeface="Noto Sans Symbols2"/>
              </a:rPr>
              <a:t> </a:t>
            </a:r>
            <a:r>
              <a:rPr sz="2000" spc="-10" dirty="0">
                <a:solidFill>
                  <a:srgbClr val="404040"/>
                </a:solidFill>
                <a:latin typeface="Verdana"/>
                <a:cs typeface="Verdana"/>
              </a:rPr>
              <a:t>References</a:t>
            </a:r>
            <a:endParaRPr sz="2000">
              <a:latin typeface="Verdana"/>
              <a:cs typeface="Verdan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457200" y="685800"/>
            <a:ext cx="4419601" cy="566822"/>
          </a:xfrm>
          <a:prstGeom prst="rect">
            <a:avLst/>
          </a:prstGeom>
        </p:spPr>
        <p:txBody>
          <a:bodyPr vert="horz" wrap="square" lIns="0" tIns="12700" rIns="0" bIns="0" rtlCol="0">
            <a:spAutoFit/>
          </a:bodyPr>
          <a:lstStyle/>
          <a:p>
            <a:pPr marL="1780539">
              <a:lnSpc>
                <a:spcPct val="100000"/>
              </a:lnSpc>
              <a:spcBef>
                <a:spcPts val="100"/>
              </a:spcBef>
            </a:pPr>
            <a:r>
              <a:rPr lang="en-IN" b="1" spc="-20" dirty="0">
                <a:latin typeface="Times New Roman" panose="02020603050405020304" pitchFamily="18" charset="0"/>
                <a:cs typeface="Times New Roman" panose="02020603050405020304" pitchFamily="18" charset="0"/>
              </a:rPr>
              <a:t>ABSTRACT</a:t>
            </a:r>
          </a:p>
        </p:txBody>
      </p:sp>
      <p:sp>
        <p:nvSpPr>
          <p:cNvPr id="4" name="object 4"/>
          <p:cNvSpPr txBox="1"/>
          <p:nvPr/>
        </p:nvSpPr>
        <p:spPr>
          <a:xfrm>
            <a:off x="762000" y="1403686"/>
            <a:ext cx="10450449" cy="4987519"/>
          </a:xfrm>
          <a:prstGeom prst="rect">
            <a:avLst/>
          </a:prstGeom>
        </p:spPr>
        <p:txBody>
          <a:bodyPr vert="horz" wrap="square" lIns="0" tIns="12700" rIns="0" bIns="0" rtlCol="0">
            <a:spAutoFit/>
          </a:bodyPr>
          <a:lstStyle/>
          <a:p>
            <a:pPr marL="355600" marR="5080" indent="-342900">
              <a:lnSpc>
                <a:spcPct val="150000"/>
              </a:lnSpc>
              <a:spcBef>
                <a:spcPts val="100"/>
              </a:spcBef>
              <a:buFont typeface="Wingdings" panose="05000000000000000000" pitchFamily="2" charset="2"/>
              <a:buChar char="Ø"/>
              <a:tabLst>
                <a:tab pos="354965" algn="l"/>
              </a:tabLst>
            </a:pPr>
            <a:r>
              <a:rPr lang="en-US" sz="1800" dirty="0">
                <a:latin typeface="Times New Roman" panose="02020603050405020304" pitchFamily="18" charset="0"/>
                <a:cs typeface="Times New Roman" panose="02020603050405020304" pitchFamily="18" charset="0"/>
              </a:rPr>
              <a:t>Sentiment analysis on social media has become an important way to monitor public opinion and understand perceptions on trends, events, brands, and products. This project aims to analyze sentiments of tweets as being positive or negative for sentiment classification.</a:t>
            </a:r>
          </a:p>
          <a:p>
            <a:pPr marL="355600" marR="5080" indent="-342900">
              <a:lnSpc>
                <a:spcPct val="150000"/>
              </a:lnSpc>
              <a:spcBef>
                <a:spcPts val="100"/>
              </a:spcBef>
              <a:buFont typeface="Wingdings" panose="05000000000000000000" pitchFamily="2" charset="2"/>
              <a:buChar char="Ø"/>
              <a:tabLst>
                <a:tab pos="354965" algn="l"/>
              </a:tabLst>
            </a:pPr>
            <a:r>
              <a:rPr lang="en-US" sz="1800" dirty="0">
                <a:latin typeface="Times New Roman" panose="02020603050405020304" pitchFamily="18" charset="0"/>
                <a:cs typeface="Times New Roman" panose="02020603050405020304" pitchFamily="18" charset="0"/>
              </a:rPr>
              <a:t>A dataset containing 4916 Twitter tweets with sentiment labels was used. Preprocessing techniques like removing twitter handles, punctuation, tokenize words, and stemming were applied to clean the tweet text data. The cleaned tokens were vectorized into bag of words features using </a:t>
            </a:r>
            <a:r>
              <a:rPr lang="en-US" sz="1800" dirty="0" err="1">
                <a:latin typeface="Times New Roman" panose="02020603050405020304" pitchFamily="18" charset="0"/>
                <a:cs typeface="Times New Roman" panose="02020603050405020304" pitchFamily="18" charset="0"/>
              </a:rPr>
              <a:t>CountVectorizer</a:t>
            </a:r>
            <a:r>
              <a:rPr lang="en-US" sz="1800" dirty="0">
                <a:latin typeface="Times New Roman" panose="02020603050405020304" pitchFamily="18" charset="0"/>
                <a:cs typeface="Times New Roman" panose="02020603050405020304" pitchFamily="18" charset="0"/>
              </a:rPr>
              <a:t>.</a:t>
            </a:r>
          </a:p>
          <a:p>
            <a:pPr marL="355600" marR="5080" indent="-342900">
              <a:lnSpc>
                <a:spcPct val="150000"/>
              </a:lnSpc>
              <a:spcBef>
                <a:spcPts val="100"/>
              </a:spcBef>
              <a:buFont typeface="Wingdings" panose="05000000000000000000" pitchFamily="2" charset="2"/>
              <a:buChar char="Ø"/>
              <a:tabLst>
                <a:tab pos="354965" algn="l"/>
              </a:tabLst>
            </a:pPr>
            <a:r>
              <a:rPr lang="en-US" sz="1800" dirty="0">
                <a:latin typeface="Times New Roman" panose="02020603050405020304" pitchFamily="18" charset="0"/>
                <a:cs typeface="Times New Roman" panose="02020603050405020304" pitchFamily="18" charset="0"/>
              </a:rPr>
              <a:t>An 80-20 train-test split was implemented before building a logistic regression model for sentiment classification. The model was trained on the bag of words text vectors and sentiment labels from the training data.</a:t>
            </a:r>
          </a:p>
          <a:p>
            <a:pPr marL="355600" marR="5080" indent="-342900">
              <a:lnSpc>
                <a:spcPct val="150000"/>
              </a:lnSpc>
              <a:spcBef>
                <a:spcPts val="100"/>
              </a:spcBef>
              <a:buFont typeface="Wingdings" panose="05000000000000000000" pitchFamily="2" charset="2"/>
              <a:buChar char="Ø"/>
              <a:tabLst>
                <a:tab pos="354965" algn="l"/>
              </a:tabLst>
            </a:pPr>
            <a:r>
              <a:rPr lang="en-US" sz="1800" dirty="0">
                <a:latin typeface="Times New Roman" panose="02020603050405020304" pitchFamily="18" charset="0"/>
                <a:cs typeface="Times New Roman" panose="02020603050405020304" pitchFamily="18" charset="0"/>
              </a:rPr>
              <a:t>The performance of the classification model was evaluated on the 20% test set using accuracy and F1-score. The model achieved an accuracy of XX% and F1-score of XX in identifying positive and negative sentiment tweets.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677334" y="609600"/>
            <a:ext cx="8596668" cy="566822"/>
          </a:xfrm>
          <a:prstGeom prst="rect">
            <a:avLst/>
          </a:prstGeom>
        </p:spPr>
        <p:txBody>
          <a:bodyPr vert="horz" wrap="square" lIns="0" tIns="12700" rIns="0" bIns="0" rtlCol="0">
            <a:spAutoFit/>
          </a:bodyPr>
          <a:lstStyle/>
          <a:p>
            <a:pPr marL="1780539">
              <a:lnSpc>
                <a:spcPct val="100000"/>
              </a:lnSpc>
              <a:spcBef>
                <a:spcPts val="100"/>
              </a:spcBef>
            </a:pPr>
            <a:r>
              <a:rPr lang="en-IN" b="1" spc="-90" dirty="0">
                <a:latin typeface="Times New Roman" panose="02020603050405020304" pitchFamily="18" charset="0"/>
                <a:cs typeface="Times New Roman" panose="02020603050405020304" pitchFamily="18" charset="0"/>
              </a:rPr>
              <a:t>INTRODUCTION</a:t>
            </a:r>
          </a:p>
        </p:txBody>
      </p:sp>
      <p:sp>
        <p:nvSpPr>
          <p:cNvPr id="4" name="object 4"/>
          <p:cNvSpPr txBox="1"/>
          <p:nvPr/>
        </p:nvSpPr>
        <p:spPr>
          <a:xfrm>
            <a:off x="838200" y="1447800"/>
            <a:ext cx="8979535" cy="5054589"/>
          </a:xfrm>
          <a:prstGeom prst="rect">
            <a:avLst/>
          </a:prstGeom>
        </p:spPr>
        <p:txBody>
          <a:bodyPr vert="horz" wrap="square" lIns="0" tIns="12700" rIns="0" bIns="0" rtlCol="0">
            <a:spAutoFit/>
          </a:bodyPr>
          <a:lstStyle/>
          <a:p>
            <a:pPr marL="355600" marR="6350" indent="-342900" algn="just">
              <a:lnSpc>
                <a:spcPct val="150000"/>
              </a:lnSpc>
              <a:spcBef>
                <a:spcPts val="100"/>
              </a:spcBef>
              <a:buFont typeface="Wingdings" panose="05000000000000000000" pitchFamily="2" charset="2"/>
              <a:buChar char="Ø"/>
            </a:pPr>
            <a:r>
              <a:rPr lang="en-IN" sz="1600" spc="-25" dirty="0" err="1">
                <a:solidFill>
                  <a:schemeClr val="tx1"/>
                </a:solidFill>
                <a:latin typeface="Times New Roman" panose="02020603050405020304" pitchFamily="18" charset="0"/>
                <a:cs typeface="Times New Roman" panose="02020603050405020304" pitchFamily="18" charset="0"/>
              </a:rPr>
              <a:t>Alnitak</a:t>
            </a:r>
            <a:r>
              <a:rPr lang="en-IN" sz="1600" spc="-25" dirty="0">
                <a:solidFill>
                  <a:schemeClr val="tx1"/>
                </a:solidFill>
                <a:latin typeface="Times New Roman" panose="02020603050405020304" pitchFamily="18" charset="0"/>
                <a:cs typeface="Times New Roman" panose="02020603050405020304" pitchFamily="18" charset="0"/>
              </a:rPr>
              <a:t> Solutions </a:t>
            </a:r>
            <a:r>
              <a:rPr sz="1600" spc="-110" dirty="0">
                <a:solidFill>
                  <a:schemeClr val="tx1"/>
                </a:solidFill>
                <a:latin typeface="Times New Roman" panose="02020603050405020304" pitchFamily="18" charset="0"/>
                <a:cs typeface="Times New Roman" panose="02020603050405020304" pitchFamily="18" charset="0"/>
              </a:rPr>
              <a:t>Pvt.</a:t>
            </a:r>
            <a:r>
              <a:rPr sz="1600" spc="5" dirty="0">
                <a:solidFill>
                  <a:schemeClr val="tx1"/>
                </a:solidFill>
                <a:latin typeface="Times New Roman" panose="02020603050405020304" pitchFamily="18" charset="0"/>
                <a:cs typeface="Times New Roman" panose="02020603050405020304" pitchFamily="18" charset="0"/>
              </a:rPr>
              <a:t> </a:t>
            </a:r>
            <a:r>
              <a:rPr sz="1600" spc="-90" dirty="0">
                <a:solidFill>
                  <a:schemeClr val="tx1"/>
                </a:solidFill>
                <a:latin typeface="Times New Roman" panose="02020603050405020304" pitchFamily="18" charset="0"/>
                <a:cs typeface="Times New Roman" panose="02020603050405020304" pitchFamily="18" charset="0"/>
              </a:rPr>
              <a:t>Ltd.</a:t>
            </a:r>
            <a:r>
              <a:rPr sz="1600" spc="-5" dirty="0">
                <a:solidFill>
                  <a:schemeClr val="tx1"/>
                </a:solidFill>
                <a:latin typeface="Times New Roman" panose="02020603050405020304" pitchFamily="18" charset="0"/>
                <a:cs typeface="Times New Roman" panose="02020603050405020304" pitchFamily="18" charset="0"/>
              </a:rPr>
              <a:t> </a:t>
            </a:r>
            <a:r>
              <a:rPr lang="en-IN" sz="1600" spc="-5" dirty="0">
                <a:solidFill>
                  <a:schemeClr val="tx1"/>
                </a:solidFill>
                <a:latin typeface="Times New Roman" panose="02020603050405020304" pitchFamily="18" charset="0"/>
                <a:cs typeface="Times New Roman" panose="02020603050405020304" pitchFamily="18" charset="0"/>
              </a:rPr>
              <a:t>Is a </a:t>
            </a:r>
            <a:r>
              <a:rPr sz="1600" spc="-505" dirty="0">
                <a:solidFill>
                  <a:schemeClr val="tx1"/>
                </a:solidFill>
                <a:latin typeface="Times New Roman" panose="02020603050405020304" pitchFamily="18" charset="0"/>
                <a:cs typeface="Times New Roman" panose="02020603050405020304" pitchFamily="18" charset="0"/>
              </a:rPr>
              <a:t>I</a:t>
            </a:r>
            <a:r>
              <a:rPr lang="en-IN" sz="1600" dirty="0">
                <a:solidFill>
                  <a:schemeClr val="tx1"/>
                </a:solidFill>
                <a:latin typeface="Times New Roman" panose="02020603050405020304" pitchFamily="18" charset="0"/>
                <a:cs typeface="Times New Roman" panose="02020603050405020304" pitchFamily="18" charset="0"/>
              </a:rPr>
              <a:t>leading</a:t>
            </a:r>
            <a:r>
              <a:rPr lang="en-IN" sz="1600" spc="15" dirty="0">
                <a:solidFill>
                  <a:schemeClr val="tx1"/>
                </a:solidFill>
                <a:latin typeface="Times New Roman" panose="02020603050405020304" pitchFamily="18" charset="0"/>
                <a:cs typeface="Times New Roman" panose="02020603050405020304" pitchFamily="18" charset="0"/>
              </a:rPr>
              <a:t> software </a:t>
            </a:r>
            <a:r>
              <a:rPr sz="1600" spc="-95" dirty="0">
                <a:solidFill>
                  <a:schemeClr val="tx1"/>
                </a:solidFill>
                <a:latin typeface="Times New Roman" panose="02020603050405020304" pitchFamily="18" charset="0"/>
                <a:cs typeface="Times New Roman" panose="02020603050405020304" pitchFamily="18" charset="0"/>
              </a:rPr>
              <a:t>solutions</a:t>
            </a:r>
            <a:r>
              <a:rPr sz="1600" spc="15" dirty="0">
                <a:solidFill>
                  <a:schemeClr val="tx1"/>
                </a:solidFill>
                <a:latin typeface="Times New Roman" panose="02020603050405020304" pitchFamily="18" charset="0"/>
                <a:cs typeface="Times New Roman" panose="02020603050405020304" pitchFamily="18" charset="0"/>
              </a:rPr>
              <a:t> </a:t>
            </a:r>
            <a:r>
              <a:rPr sz="1600" spc="60" dirty="0">
                <a:solidFill>
                  <a:schemeClr val="tx1"/>
                </a:solidFill>
                <a:latin typeface="Times New Roman" panose="02020603050405020304" pitchFamily="18" charset="0"/>
                <a:cs typeface="Times New Roman" panose="02020603050405020304" pitchFamily="18" charset="0"/>
              </a:rPr>
              <a:t>and</a:t>
            </a:r>
            <a:r>
              <a:rPr sz="1600" spc="30" dirty="0">
                <a:solidFill>
                  <a:schemeClr val="tx1"/>
                </a:solidFill>
                <a:latin typeface="Times New Roman" panose="02020603050405020304" pitchFamily="18" charset="0"/>
                <a:cs typeface="Times New Roman" panose="02020603050405020304" pitchFamily="18" charset="0"/>
              </a:rPr>
              <a:t> </a:t>
            </a:r>
            <a:r>
              <a:rPr sz="1600" spc="-20" dirty="0">
                <a:solidFill>
                  <a:schemeClr val="tx1"/>
                </a:solidFill>
                <a:latin typeface="Times New Roman" panose="02020603050405020304" pitchFamily="18" charset="0"/>
                <a:cs typeface="Times New Roman" panose="02020603050405020304" pitchFamily="18" charset="0"/>
              </a:rPr>
              <a:t>services </a:t>
            </a:r>
            <a:r>
              <a:rPr sz="1600" spc="-110" dirty="0">
                <a:solidFill>
                  <a:schemeClr val="tx1"/>
                </a:solidFill>
                <a:latin typeface="Times New Roman" panose="02020603050405020304" pitchFamily="18" charset="0"/>
                <a:cs typeface="Times New Roman" panose="02020603050405020304" pitchFamily="18" charset="0"/>
              </a:rPr>
              <a:t>industry</a:t>
            </a:r>
            <a:r>
              <a:rPr sz="1600" spc="-105" dirty="0">
                <a:solidFill>
                  <a:schemeClr val="tx1"/>
                </a:solidFill>
                <a:latin typeface="Times New Roman" panose="02020603050405020304" pitchFamily="18" charset="0"/>
                <a:cs typeface="Times New Roman" panose="02020603050405020304" pitchFamily="18" charset="0"/>
              </a:rPr>
              <a:t> </a:t>
            </a:r>
            <a:r>
              <a:rPr sz="1600" spc="-25" dirty="0">
                <a:solidFill>
                  <a:schemeClr val="tx1"/>
                </a:solidFill>
                <a:latin typeface="Times New Roman" panose="02020603050405020304" pitchFamily="18" charset="0"/>
                <a:cs typeface="Times New Roman" panose="02020603050405020304" pitchFamily="18" charset="0"/>
              </a:rPr>
              <a:t>focusing</a:t>
            </a:r>
            <a:r>
              <a:rPr sz="1600" spc="-114" dirty="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on</a:t>
            </a:r>
            <a:r>
              <a:rPr sz="1600" spc="-110" dirty="0">
                <a:solidFill>
                  <a:schemeClr val="tx1"/>
                </a:solidFill>
                <a:latin typeface="Times New Roman" panose="02020603050405020304" pitchFamily="18" charset="0"/>
                <a:cs typeface="Times New Roman" panose="02020603050405020304" pitchFamily="18" charset="0"/>
              </a:rPr>
              <a:t> </a:t>
            </a:r>
            <a:r>
              <a:rPr sz="1600" spc="-50" dirty="0">
                <a:solidFill>
                  <a:schemeClr val="tx1"/>
                </a:solidFill>
                <a:latin typeface="Times New Roman" panose="02020603050405020304" pitchFamily="18" charset="0"/>
                <a:cs typeface="Times New Roman" panose="02020603050405020304" pitchFamily="18" charset="0"/>
              </a:rPr>
              <a:t>quality</a:t>
            </a:r>
            <a:r>
              <a:rPr sz="1600" spc="-120" dirty="0">
                <a:solidFill>
                  <a:schemeClr val="tx1"/>
                </a:solidFill>
                <a:latin typeface="Times New Roman" panose="02020603050405020304" pitchFamily="18" charset="0"/>
                <a:cs typeface="Times New Roman" panose="02020603050405020304" pitchFamily="18" charset="0"/>
              </a:rPr>
              <a:t> </a:t>
            </a:r>
            <a:r>
              <a:rPr sz="1600" spc="-45" dirty="0">
                <a:solidFill>
                  <a:schemeClr val="tx1"/>
                </a:solidFill>
                <a:latin typeface="Times New Roman" panose="02020603050405020304" pitchFamily="18" charset="0"/>
                <a:cs typeface="Times New Roman" panose="02020603050405020304" pitchFamily="18" charset="0"/>
              </a:rPr>
              <a:t>standards</a:t>
            </a:r>
            <a:r>
              <a:rPr sz="1600" spc="-75" dirty="0">
                <a:solidFill>
                  <a:schemeClr val="tx1"/>
                </a:solidFill>
                <a:latin typeface="Times New Roman" panose="02020603050405020304" pitchFamily="18" charset="0"/>
                <a:cs typeface="Times New Roman" panose="02020603050405020304" pitchFamily="18" charset="0"/>
              </a:rPr>
              <a:t> </a:t>
            </a:r>
            <a:r>
              <a:rPr sz="1600" spc="65" dirty="0">
                <a:solidFill>
                  <a:schemeClr val="tx1"/>
                </a:solidFill>
                <a:latin typeface="Times New Roman" panose="02020603050405020304" pitchFamily="18" charset="0"/>
                <a:cs typeface="Times New Roman" panose="02020603050405020304" pitchFamily="18" charset="0"/>
              </a:rPr>
              <a:t>and</a:t>
            </a:r>
            <a:r>
              <a:rPr sz="1600" spc="-105" dirty="0">
                <a:solidFill>
                  <a:schemeClr val="tx1"/>
                </a:solidFill>
                <a:latin typeface="Times New Roman" panose="02020603050405020304" pitchFamily="18" charset="0"/>
                <a:cs typeface="Times New Roman" panose="02020603050405020304" pitchFamily="18" charset="0"/>
              </a:rPr>
              <a:t> </a:t>
            </a:r>
            <a:r>
              <a:rPr sz="1600" spc="-40" dirty="0">
                <a:solidFill>
                  <a:schemeClr val="tx1"/>
                </a:solidFill>
                <a:latin typeface="Times New Roman" panose="02020603050405020304" pitchFamily="18" charset="0"/>
                <a:cs typeface="Times New Roman" panose="02020603050405020304" pitchFamily="18" charset="0"/>
              </a:rPr>
              <a:t>customer</a:t>
            </a:r>
            <a:r>
              <a:rPr sz="1600" spc="-80" dirty="0">
                <a:solidFill>
                  <a:schemeClr val="tx1"/>
                </a:solidFill>
                <a:latin typeface="Times New Roman" panose="02020603050405020304" pitchFamily="18" charset="0"/>
                <a:cs typeface="Times New Roman" panose="02020603050405020304" pitchFamily="18" charset="0"/>
              </a:rPr>
              <a:t> </a:t>
            </a:r>
            <a:r>
              <a:rPr sz="1600" spc="-10" dirty="0">
                <a:solidFill>
                  <a:schemeClr val="tx1"/>
                </a:solidFill>
                <a:latin typeface="Times New Roman" panose="02020603050405020304" pitchFamily="18" charset="0"/>
                <a:cs typeface="Times New Roman" panose="02020603050405020304" pitchFamily="18" charset="0"/>
              </a:rPr>
              <a:t>values.</a:t>
            </a:r>
            <a:endParaRPr lang="en-IN" sz="1600" spc="-10" dirty="0">
              <a:solidFill>
                <a:schemeClr val="tx1"/>
              </a:solidFill>
              <a:latin typeface="Times New Roman" panose="02020603050405020304" pitchFamily="18" charset="0"/>
              <a:cs typeface="Times New Roman" panose="02020603050405020304" pitchFamily="18" charset="0"/>
            </a:endParaRPr>
          </a:p>
          <a:p>
            <a:pPr marL="355600" marR="6350" indent="-342900" algn="just">
              <a:lnSpc>
                <a:spcPct val="150000"/>
              </a:lnSpc>
              <a:spcBef>
                <a:spcPts val="100"/>
              </a:spcBef>
              <a:buFont typeface="Wingdings" panose="05000000000000000000" pitchFamily="2" charset="2"/>
              <a:buChar char="Ø"/>
            </a:pPr>
            <a:r>
              <a:rPr lang="en-IN" sz="1600" spc="-10" dirty="0" err="1">
                <a:solidFill>
                  <a:schemeClr val="tx1"/>
                </a:solidFill>
                <a:latin typeface="Times New Roman" panose="02020603050405020304" pitchFamily="18" charset="0"/>
                <a:cs typeface="Times New Roman" panose="02020603050405020304" pitchFamily="18" charset="0"/>
              </a:rPr>
              <a:t>Alnitak</a:t>
            </a:r>
            <a:r>
              <a:rPr lang="en-IN" sz="1600" spc="-10" dirty="0">
                <a:solidFill>
                  <a:schemeClr val="tx1"/>
                </a:solidFill>
                <a:latin typeface="Times New Roman" panose="02020603050405020304" pitchFamily="18" charset="0"/>
                <a:cs typeface="Times New Roman" panose="02020603050405020304" pitchFamily="18" charset="0"/>
              </a:rPr>
              <a:t> Solutions Pvt limited provide technologically advanced solutions to Real World Problems in the field of natural language </a:t>
            </a:r>
            <a:r>
              <a:rPr lang="en-IN" sz="1600" spc="-10" dirty="0" err="1">
                <a:solidFill>
                  <a:schemeClr val="tx1"/>
                </a:solidFill>
                <a:latin typeface="Times New Roman" panose="02020603050405020304" pitchFamily="18" charset="0"/>
                <a:cs typeface="Times New Roman" panose="02020603050405020304" pitchFamily="18" charset="0"/>
              </a:rPr>
              <a:t>processing,Artificial</a:t>
            </a:r>
            <a:r>
              <a:rPr lang="en-IN" sz="1600" spc="-10" dirty="0">
                <a:solidFill>
                  <a:schemeClr val="tx1"/>
                </a:solidFill>
                <a:latin typeface="Times New Roman" panose="02020603050405020304" pitchFamily="18" charset="0"/>
                <a:cs typeface="Times New Roman" panose="02020603050405020304" pitchFamily="18" charset="0"/>
              </a:rPr>
              <a:t> intelligence.</a:t>
            </a:r>
            <a:endParaRPr sz="1600" dirty="0">
              <a:solidFill>
                <a:schemeClr val="tx1"/>
              </a:solidFill>
              <a:latin typeface="Times New Roman" panose="02020603050405020304" pitchFamily="18" charset="0"/>
              <a:cs typeface="Times New Roman" panose="02020603050405020304" pitchFamily="18" charset="0"/>
            </a:endParaRPr>
          </a:p>
          <a:p>
            <a:pPr marL="298450" marR="7620" indent="-285750" algn="just">
              <a:lnSpc>
                <a:spcPct val="150000"/>
              </a:lnSpc>
              <a:spcBef>
                <a:spcPts val="994"/>
              </a:spcBef>
              <a:buFont typeface="Wingdings" panose="05000000000000000000" pitchFamily="2" charset="2"/>
              <a:buChar char="Ø"/>
            </a:pPr>
            <a:r>
              <a:rPr sz="1600" spc="25" dirty="0">
                <a:solidFill>
                  <a:schemeClr val="tx1"/>
                </a:solidFill>
                <a:latin typeface="Times New Roman" panose="02020603050405020304" pitchFamily="18" charset="0"/>
                <a:cs typeface="Times New Roman" panose="02020603050405020304" pitchFamily="18" charset="0"/>
              </a:rPr>
              <a:t> </a:t>
            </a:r>
            <a:r>
              <a:rPr lang="en-IN" sz="1600" spc="25" dirty="0" err="1">
                <a:solidFill>
                  <a:schemeClr val="tx1"/>
                </a:solidFill>
                <a:latin typeface="Times New Roman" panose="02020603050405020304" pitchFamily="18" charset="0"/>
                <a:cs typeface="Times New Roman" panose="02020603050405020304" pitchFamily="18" charset="0"/>
              </a:rPr>
              <a:t>Alnitak</a:t>
            </a:r>
            <a:r>
              <a:rPr lang="en-IN" sz="1600" spc="25" dirty="0">
                <a:solidFill>
                  <a:schemeClr val="tx1"/>
                </a:solidFill>
                <a:latin typeface="Times New Roman" panose="02020603050405020304" pitchFamily="18" charset="0"/>
                <a:cs typeface="Times New Roman" panose="02020603050405020304" pitchFamily="18" charset="0"/>
              </a:rPr>
              <a:t> </a:t>
            </a:r>
            <a:r>
              <a:rPr sz="1600" spc="-25" dirty="0">
                <a:solidFill>
                  <a:schemeClr val="tx1"/>
                </a:solidFill>
                <a:latin typeface="Times New Roman" panose="02020603050405020304" pitchFamily="18" charset="0"/>
                <a:cs typeface="Times New Roman" panose="02020603050405020304" pitchFamily="18" charset="0"/>
              </a:rPr>
              <a:t>offers</a:t>
            </a:r>
            <a:r>
              <a:rPr sz="1600" spc="140" dirty="0">
                <a:solidFill>
                  <a:schemeClr val="tx1"/>
                </a:solidFill>
                <a:latin typeface="Times New Roman" panose="02020603050405020304" pitchFamily="18" charset="0"/>
                <a:cs typeface="Times New Roman" panose="02020603050405020304" pitchFamily="18" charset="0"/>
              </a:rPr>
              <a:t> </a:t>
            </a:r>
            <a:r>
              <a:rPr sz="1600" spc="150" dirty="0">
                <a:solidFill>
                  <a:schemeClr val="tx1"/>
                </a:solidFill>
                <a:latin typeface="Times New Roman" panose="02020603050405020304" pitchFamily="18" charset="0"/>
                <a:cs typeface="Times New Roman" panose="02020603050405020304" pitchFamily="18" charset="0"/>
              </a:rPr>
              <a:t>a</a:t>
            </a:r>
            <a:r>
              <a:rPr sz="1600" spc="155" dirty="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wide</a:t>
            </a:r>
            <a:r>
              <a:rPr sz="1600" spc="145" dirty="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range</a:t>
            </a:r>
            <a:r>
              <a:rPr sz="1600" spc="145" dirty="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of</a:t>
            </a:r>
            <a:r>
              <a:rPr sz="1600" spc="150" dirty="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Embedded</a:t>
            </a:r>
            <a:r>
              <a:rPr sz="1600" spc="150" dirty="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Design</a:t>
            </a:r>
            <a:r>
              <a:rPr sz="1600" spc="145" dirty="0">
                <a:solidFill>
                  <a:schemeClr val="tx1"/>
                </a:solidFill>
                <a:latin typeface="Times New Roman" panose="02020603050405020304" pitchFamily="18" charset="0"/>
                <a:cs typeface="Times New Roman" panose="02020603050405020304" pitchFamily="18" charset="0"/>
              </a:rPr>
              <a:t> </a:t>
            </a:r>
            <a:r>
              <a:rPr sz="1600" spc="-30" dirty="0">
                <a:solidFill>
                  <a:schemeClr val="tx1"/>
                </a:solidFill>
                <a:latin typeface="Times New Roman" panose="02020603050405020304" pitchFamily="18" charset="0"/>
                <a:cs typeface="Times New Roman" panose="02020603050405020304" pitchFamily="18" charset="0"/>
              </a:rPr>
              <a:t>Services </a:t>
            </a:r>
            <a:r>
              <a:rPr sz="1600" spc="-40" dirty="0">
                <a:solidFill>
                  <a:schemeClr val="tx1"/>
                </a:solidFill>
                <a:latin typeface="Times New Roman" panose="02020603050405020304" pitchFamily="18" charset="0"/>
                <a:cs typeface="Times New Roman" panose="02020603050405020304" pitchFamily="18" charset="0"/>
              </a:rPr>
              <a:t>that</a:t>
            </a:r>
            <a:r>
              <a:rPr sz="1600" spc="-60" dirty="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are</a:t>
            </a:r>
            <a:r>
              <a:rPr sz="1600" spc="-70" dirty="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intended</a:t>
            </a:r>
            <a:r>
              <a:rPr sz="1600" spc="-45" dirty="0">
                <a:solidFill>
                  <a:schemeClr val="tx1"/>
                </a:solidFill>
                <a:latin typeface="Times New Roman" panose="02020603050405020304" pitchFamily="18" charset="0"/>
                <a:cs typeface="Times New Roman" panose="02020603050405020304" pitchFamily="18" charset="0"/>
              </a:rPr>
              <a:t> </a:t>
            </a:r>
            <a:r>
              <a:rPr sz="1600" spc="-40" dirty="0">
                <a:solidFill>
                  <a:schemeClr val="tx1"/>
                </a:solidFill>
                <a:latin typeface="Times New Roman" panose="02020603050405020304" pitchFamily="18" charset="0"/>
                <a:cs typeface="Times New Roman" panose="02020603050405020304" pitchFamily="18" charset="0"/>
              </a:rPr>
              <a:t>towards</a:t>
            </a:r>
            <a:r>
              <a:rPr sz="1600" spc="-25" dirty="0">
                <a:solidFill>
                  <a:schemeClr val="tx1"/>
                </a:solidFill>
                <a:latin typeface="Times New Roman" panose="02020603050405020304" pitchFamily="18" charset="0"/>
                <a:cs typeface="Times New Roman" panose="02020603050405020304" pitchFamily="18" charset="0"/>
              </a:rPr>
              <a:t> </a:t>
            </a:r>
            <a:r>
              <a:rPr sz="1600" spc="-85" dirty="0">
                <a:solidFill>
                  <a:schemeClr val="tx1"/>
                </a:solidFill>
                <a:latin typeface="Times New Roman" panose="02020603050405020304" pitchFamily="18" charset="0"/>
                <a:cs typeface="Times New Roman" panose="02020603050405020304" pitchFamily="18" charset="0"/>
              </a:rPr>
              <a:t>transforming</a:t>
            </a:r>
            <a:r>
              <a:rPr sz="1600" spc="-70" dirty="0">
                <a:solidFill>
                  <a:schemeClr val="tx1"/>
                </a:solidFill>
                <a:latin typeface="Times New Roman" panose="02020603050405020304" pitchFamily="18" charset="0"/>
                <a:cs typeface="Times New Roman" panose="02020603050405020304" pitchFamily="18" charset="0"/>
              </a:rPr>
              <a:t> </a:t>
            </a:r>
            <a:r>
              <a:rPr sz="1600" spc="50" dirty="0">
                <a:solidFill>
                  <a:schemeClr val="tx1"/>
                </a:solidFill>
                <a:latin typeface="Times New Roman" panose="02020603050405020304" pitchFamily="18" charset="0"/>
                <a:cs typeface="Times New Roman" panose="02020603050405020304" pitchFamily="18" charset="0"/>
              </a:rPr>
              <a:t>an</a:t>
            </a:r>
            <a:r>
              <a:rPr sz="1600" spc="-80" dirty="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idea</a:t>
            </a:r>
            <a:r>
              <a:rPr sz="1600" spc="-100" dirty="0">
                <a:solidFill>
                  <a:schemeClr val="tx1"/>
                </a:solidFill>
                <a:latin typeface="Times New Roman" panose="02020603050405020304" pitchFamily="18" charset="0"/>
                <a:cs typeface="Times New Roman" panose="02020603050405020304" pitchFamily="18" charset="0"/>
              </a:rPr>
              <a:t> </a:t>
            </a:r>
            <a:r>
              <a:rPr sz="1600" spc="-55" dirty="0">
                <a:solidFill>
                  <a:schemeClr val="tx1"/>
                </a:solidFill>
                <a:latin typeface="Times New Roman" panose="02020603050405020304" pitchFamily="18" charset="0"/>
                <a:cs typeface="Times New Roman" panose="02020603050405020304" pitchFamily="18" charset="0"/>
              </a:rPr>
              <a:t>into</a:t>
            </a:r>
            <a:r>
              <a:rPr sz="1600" spc="-75" dirty="0">
                <a:solidFill>
                  <a:schemeClr val="tx1"/>
                </a:solidFill>
                <a:latin typeface="Times New Roman" panose="02020603050405020304" pitchFamily="18" charset="0"/>
                <a:cs typeface="Times New Roman" panose="02020603050405020304" pitchFamily="18" charset="0"/>
              </a:rPr>
              <a:t> </a:t>
            </a:r>
            <a:r>
              <a:rPr sz="1600" spc="150" dirty="0">
                <a:solidFill>
                  <a:schemeClr val="tx1"/>
                </a:solidFill>
                <a:latin typeface="Times New Roman" panose="02020603050405020304" pitchFamily="18" charset="0"/>
                <a:cs typeface="Times New Roman" panose="02020603050405020304" pitchFamily="18" charset="0"/>
              </a:rPr>
              <a:t>a</a:t>
            </a:r>
            <a:r>
              <a:rPr sz="1600" spc="-80" dirty="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complete</a:t>
            </a:r>
            <a:r>
              <a:rPr sz="1600" spc="-65" dirty="0">
                <a:solidFill>
                  <a:schemeClr val="tx1"/>
                </a:solidFill>
                <a:latin typeface="Times New Roman" panose="02020603050405020304" pitchFamily="18" charset="0"/>
                <a:cs typeface="Times New Roman" panose="02020603050405020304" pitchFamily="18" charset="0"/>
              </a:rPr>
              <a:t> </a:t>
            </a:r>
            <a:r>
              <a:rPr sz="1600" spc="-10" dirty="0">
                <a:solidFill>
                  <a:schemeClr val="tx1"/>
                </a:solidFill>
                <a:latin typeface="Times New Roman" panose="02020603050405020304" pitchFamily="18" charset="0"/>
                <a:cs typeface="Times New Roman" panose="02020603050405020304" pitchFamily="18" charset="0"/>
              </a:rPr>
              <a:t>product.</a:t>
            </a:r>
            <a:endParaRPr sz="1600" dirty="0">
              <a:solidFill>
                <a:schemeClr val="tx1"/>
              </a:solidFill>
              <a:latin typeface="Times New Roman" panose="02020603050405020304" pitchFamily="18" charset="0"/>
              <a:cs typeface="Times New Roman" panose="02020603050405020304" pitchFamily="18" charset="0"/>
            </a:endParaRPr>
          </a:p>
          <a:p>
            <a:pPr marL="298450" marR="6350" indent="-285750" algn="just">
              <a:lnSpc>
                <a:spcPct val="150000"/>
              </a:lnSpc>
              <a:spcBef>
                <a:spcPts val="1010"/>
              </a:spcBef>
              <a:buFont typeface="Wingdings" panose="05000000000000000000" pitchFamily="2" charset="2"/>
              <a:buChar char="Ø"/>
            </a:pPr>
            <a:r>
              <a:rPr lang="en-IN" sz="1600" spc="-25" dirty="0" err="1">
                <a:solidFill>
                  <a:schemeClr val="tx1"/>
                </a:solidFill>
                <a:latin typeface="Times New Roman" panose="02020603050405020304" pitchFamily="18" charset="0"/>
                <a:cs typeface="Times New Roman" panose="02020603050405020304" pitchFamily="18" charset="0"/>
              </a:rPr>
              <a:t>Alnitak</a:t>
            </a:r>
            <a:r>
              <a:rPr lang="en-IN" sz="1600" spc="-25" dirty="0">
                <a:solidFill>
                  <a:schemeClr val="tx1"/>
                </a:solidFill>
                <a:latin typeface="Times New Roman" panose="02020603050405020304" pitchFamily="18" charset="0"/>
                <a:cs typeface="Times New Roman" panose="02020603050405020304" pitchFamily="18" charset="0"/>
              </a:rPr>
              <a:t> Solutions </a:t>
            </a:r>
            <a:r>
              <a:rPr sz="1600" dirty="0">
                <a:solidFill>
                  <a:schemeClr val="tx1"/>
                </a:solidFill>
                <a:latin typeface="Times New Roman" panose="02020603050405020304" pitchFamily="18" charset="0"/>
                <a:cs typeface="Times New Roman" panose="02020603050405020304" pitchFamily="18" charset="0"/>
              </a:rPr>
              <a:t>offer</a:t>
            </a:r>
            <a:r>
              <a:rPr sz="1600" spc="355" dirty="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real</a:t>
            </a:r>
            <a:r>
              <a:rPr sz="1600" spc="375" dirty="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time</a:t>
            </a:r>
            <a:r>
              <a:rPr sz="1600" spc="365" dirty="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experience</a:t>
            </a:r>
            <a:r>
              <a:rPr sz="1600" spc="355" dirty="0">
                <a:solidFill>
                  <a:schemeClr val="tx1"/>
                </a:solidFill>
                <a:latin typeface="Times New Roman" panose="02020603050405020304" pitchFamily="18" charset="0"/>
                <a:cs typeface="Times New Roman" panose="02020603050405020304" pitchFamily="18" charset="0"/>
              </a:rPr>
              <a:t> </a:t>
            </a:r>
            <a:r>
              <a:rPr sz="1600" spc="65" dirty="0">
                <a:solidFill>
                  <a:schemeClr val="tx1"/>
                </a:solidFill>
                <a:latin typeface="Times New Roman" panose="02020603050405020304" pitchFamily="18" charset="0"/>
                <a:cs typeface="Times New Roman" panose="02020603050405020304" pitchFamily="18" charset="0"/>
              </a:rPr>
              <a:t>and</a:t>
            </a:r>
            <a:r>
              <a:rPr sz="1600" spc="360" dirty="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opportunities</a:t>
            </a:r>
            <a:r>
              <a:rPr sz="1600" spc="360" dirty="0">
                <a:solidFill>
                  <a:schemeClr val="tx1"/>
                </a:solidFill>
                <a:latin typeface="Times New Roman" panose="02020603050405020304" pitchFamily="18" charset="0"/>
                <a:cs typeface="Times New Roman" panose="02020603050405020304" pitchFamily="18" charset="0"/>
              </a:rPr>
              <a:t> </a:t>
            </a:r>
            <a:r>
              <a:rPr sz="1600" spc="-25" dirty="0">
                <a:solidFill>
                  <a:schemeClr val="tx1"/>
                </a:solidFill>
                <a:latin typeface="Times New Roman" panose="02020603050405020304" pitchFamily="18" charset="0"/>
                <a:cs typeface="Times New Roman" panose="02020603050405020304" pitchFamily="18" charset="0"/>
              </a:rPr>
              <a:t>to </a:t>
            </a:r>
            <a:r>
              <a:rPr sz="1600" dirty="0">
                <a:solidFill>
                  <a:schemeClr val="tx1"/>
                </a:solidFill>
                <a:latin typeface="Times New Roman" panose="02020603050405020304" pitchFamily="18" charset="0"/>
                <a:cs typeface="Times New Roman" panose="02020603050405020304" pitchFamily="18" charset="0"/>
              </a:rPr>
              <a:t>develop</a:t>
            </a:r>
            <a:r>
              <a:rPr sz="1600" spc="275" dirty="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engineering</a:t>
            </a:r>
            <a:r>
              <a:rPr sz="1600" spc="295" dirty="0">
                <a:solidFill>
                  <a:schemeClr val="tx1"/>
                </a:solidFill>
                <a:latin typeface="Times New Roman" panose="02020603050405020304" pitchFamily="18" charset="0"/>
                <a:cs typeface="Times New Roman" panose="02020603050405020304" pitchFamily="18" charset="0"/>
              </a:rPr>
              <a:t> </a:t>
            </a:r>
            <a:r>
              <a:rPr sz="1600" spc="-100" dirty="0">
                <a:solidFill>
                  <a:schemeClr val="tx1"/>
                </a:solidFill>
                <a:latin typeface="Times New Roman" panose="02020603050405020304" pitchFamily="18" charset="0"/>
                <a:cs typeface="Times New Roman" panose="02020603050405020304" pitchFamily="18" charset="0"/>
              </a:rPr>
              <a:t>skills</a:t>
            </a:r>
            <a:r>
              <a:rPr sz="1600" spc="270" dirty="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with</a:t>
            </a:r>
            <a:r>
              <a:rPr sz="1600" spc="295" dirty="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hands</a:t>
            </a:r>
            <a:r>
              <a:rPr sz="1600" spc="280" dirty="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on</a:t>
            </a:r>
            <a:r>
              <a:rPr sz="1600" spc="280" dirty="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real</a:t>
            </a:r>
            <a:r>
              <a:rPr sz="1600" spc="310" dirty="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time</a:t>
            </a:r>
            <a:r>
              <a:rPr sz="1600" spc="280" dirty="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applications</a:t>
            </a:r>
            <a:r>
              <a:rPr sz="1600" spc="290" dirty="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from</a:t>
            </a:r>
            <a:r>
              <a:rPr sz="1600" spc="290" dirty="0">
                <a:solidFill>
                  <a:schemeClr val="tx1"/>
                </a:solidFill>
                <a:latin typeface="Times New Roman" panose="02020603050405020304" pitchFamily="18" charset="0"/>
                <a:cs typeface="Times New Roman" panose="02020603050405020304" pitchFamily="18" charset="0"/>
              </a:rPr>
              <a:t> </a:t>
            </a:r>
            <a:r>
              <a:rPr sz="1600" spc="-25" dirty="0">
                <a:solidFill>
                  <a:schemeClr val="tx1"/>
                </a:solidFill>
                <a:latin typeface="Times New Roman" panose="02020603050405020304" pitchFamily="18" charset="0"/>
                <a:cs typeface="Times New Roman" panose="02020603050405020304" pitchFamily="18" charset="0"/>
              </a:rPr>
              <a:t>our </a:t>
            </a:r>
            <a:r>
              <a:rPr sz="1600" spc="-114" dirty="0">
                <a:solidFill>
                  <a:schemeClr val="tx1"/>
                </a:solidFill>
                <a:latin typeface="Times New Roman" panose="02020603050405020304" pitchFamily="18" charset="0"/>
                <a:cs typeface="Times New Roman" panose="02020603050405020304" pitchFamily="18" charset="0"/>
              </a:rPr>
              <a:t>Industrial </a:t>
            </a:r>
            <a:r>
              <a:rPr sz="1600" spc="-80" dirty="0">
                <a:solidFill>
                  <a:schemeClr val="tx1"/>
                </a:solidFill>
                <a:latin typeface="Times New Roman" panose="02020603050405020304" pitchFamily="18" charset="0"/>
                <a:cs typeface="Times New Roman" panose="02020603050405020304" pitchFamily="18" charset="0"/>
              </a:rPr>
              <a:t>experts</a:t>
            </a:r>
            <a:r>
              <a:rPr sz="1600" spc="-60" dirty="0">
                <a:solidFill>
                  <a:schemeClr val="tx1"/>
                </a:solidFill>
                <a:latin typeface="Times New Roman" panose="02020603050405020304" pitchFamily="18" charset="0"/>
                <a:cs typeface="Times New Roman" panose="02020603050405020304" pitchFamily="18" charset="0"/>
              </a:rPr>
              <a:t> </a:t>
            </a:r>
            <a:r>
              <a:rPr sz="1600" spc="-20" dirty="0">
                <a:solidFill>
                  <a:schemeClr val="tx1"/>
                </a:solidFill>
                <a:latin typeface="Times New Roman" panose="02020603050405020304" pitchFamily="18" charset="0"/>
                <a:cs typeface="Times New Roman" panose="02020603050405020304" pitchFamily="18" charset="0"/>
              </a:rPr>
              <a:t>having</a:t>
            </a:r>
            <a:r>
              <a:rPr sz="1600" spc="-135" dirty="0">
                <a:solidFill>
                  <a:schemeClr val="tx1"/>
                </a:solidFill>
                <a:latin typeface="Times New Roman" panose="02020603050405020304" pitchFamily="18" charset="0"/>
                <a:cs typeface="Times New Roman" panose="02020603050405020304" pitchFamily="18" charset="0"/>
              </a:rPr>
              <a:t> </a:t>
            </a:r>
            <a:r>
              <a:rPr sz="1600" spc="70" dirty="0">
                <a:solidFill>
                  <a:schemeClr val="tx1"/>
                </a:solidFill>
                <a:latin typeface="Times New Roman" panose="02020603050405020304" pitchFamily="18" charset="0"/>
                <a:cs typeface="Times New Roman" panose="02020603050405020304" pitchFamily="18" charset="0"/>
              </a:rPr>
              <a:t>decades</a:t>
            </a:r>
            <a:r>
              <a:rPr sz="1600" spc="-70" dirty="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of</a:t>
            </a:r>
            <a:r>
              <a:rPr sz="1600" spc="-114" dirty="0">
                <a:solidFill>
                  <a:schemeClr val="tx1"/>
                </a:solidFill>
                <a:latin typeface="Times New Roman" panose="02020603050405020304" pitchFamily="18" charset="0"/>
                <a:cs typeface="Times New Roman" panose="02020603050405020304" pitchFamily="18" charset="0"/>
              </a:rPr>
              <a:t> </a:t>
            </a:r>
            <a:r>
              <a:rPr sz="1600" spc="-10" dirty="0">
                <a:solidFill>
                  <a:schemeClr val="tx1"/>
                </a:solidFill>
                <a:latin typeface="Times New Roman" panose="02020603050405020304" pitchFamily="18" charset="0"/>
                <a:cs typeface="Times New Roman" panose="02020603050405020304" pitchFamily="18" charset="0"/>
              </a:rPr>
              <a:t>experience.</a:t>
            </a:r>
            <a:endParaRPr lang="en-IN" sz="1600" spc="60" dirty="0">
              <a:solidFill>
                <a:schemeClr val="tx1"/>
              </a:solidFill>
              <a:latin typeface="Times New Roman" panose="02020603050405020304" pitchFamily="18" charset="0"/>
              <a:cs typeface="Times New Roman" panose="02020603050405020304" pitchFamily="18" charset="0"/>
            </a:endParaRPr>
          </a:p>
          <a:p>
            <a:pPr marL="298450" marR="6350" indent="-285750" algn="just">
              <a:lnSpc>
                <a:spcPct val="150000"/>
              </a:lnSpc>
              <a:spcBef>
                <a:spcPts val="1010"/>
              </a:spcBef>
              <a:buFont typeface="Wingdings" panose="05000000000000000000" pitchFamily="2" charset="2"/>
              <a:buChar char="Ø"/>
            </a:pPr>
            <a:r>
              <a:rPr sz="1600" spc="-110" dirty="0">
                <a:solidFill>
                  <a:schemeClr val="tx1"/>
                </a:solidFill>
                <a:latin typeface="Times New Roman" panose="02020603050405020304" pitchFamily="18" charset="0"/>
                <a:cs typeface="Times New Roman" panose="02020603050405020304" pitchFamily="18" charset="0"/>
              </a:rPr>
              <a:t>They</a:t>
            </a:r>
            <a:r>
              <a:rPr sz="1600" spc="-5" dirty="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empower</a:t>
            </a:r>
            <a:r>
              <a:rPr sz="1600" spc="-20" dirty="0">
                <a:solidFill>
                  <a:schemeClr val="tx1"/>
                </a:solidFill>
                <a:latin typeface="Times New Roman" panose="02020603050405020304" pitchFamily="18" charset="0"/>
                <a:cs typeface="Times New Roman" panose="02020603050405020304" pitchFamily="18" charset="0"/>
              </a:rPr>
              <a:t> </a:t>
            </a:r>
            <a:r>
              <a:rPr sz="1600" spc="-30" dirty="0">
                <a:solidFill>
                  <a:schemeClr val="tx1"/>
                </a:solidFill>
                <a:latin typeface="Times New Roman" panose="02020603050405020304" pitchFamily="18" charset="0"/>
                <a:cs typeface="Times New Roman" panose="02020603050405020304" pitchFamily="18" charset="0"/>
              </a:rPr>
              <a:t>individual</a:t>
            </a:r>
            <a:r>
              <a:rPr sz="1600" spc="-20" dirty="0">
                <a:solidFill>
                  <a:schemeClr val="tx1"/>
                </a:solidFill>
                <a:latin typeface="Times New Roman" panose="02020603050405020304" pitchFamily="18" charset="0"/>
                <a:cs typeface="Times New Roman" panose="02020603050405020304" pitchFamily="18" charset="0"/>
              </a:rPr>
              <a:t> </a:t>
            </a:r>
            <a:r>
              <a:rPr sz="1600" spc="-50" dirty="0">
                <a:solidFill>
                  <a:schemeClr val="tx1"/>
                </a:solidFill>
                <a:latin typeface="Times New Roman" panose="02020603050405020304" pitchFamily="18" charset="0"/>
                <a:cs typeface="Times New Roman" panose="02020603050405020304" pitchFamily="18" charset="0"/>
              </a:rPr>
              <a:t>with</a:t>
            </a:r>
            <a:r>
              <a:rPr sz="1600" spc="-5" dirty="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knowledge,</a:t>
            </a:r>
            <a:r>
              <a:rPr sz="1600" spc="-15" dirty="0">
                <a:solidFill>
                  <a:schemeClr val="tx1"/>
                </a:solidFill>
                <a:latin typeface="Times New Roman" panose="02020603050405020304" pitchFamily="18" charset="0"/>
                <a:cs typeface="Times New Roman" panose="02020603050405020304" pitchFamily="18" charset="0"/>
              </a:rPr>
              <a:t> </a:t>
            </a:r>
            <a:r>
              <a:rPr sz="1600" spc="-185" dirty="0">
                <a:solidFill>
                  <a:schemeClr val="tx1"/>
                </a:solidFill>
                <a:latin typeface="Times New Roman" panose="02020603050405020304" pitchFamily="18" charset="0"/>
                <a:cs typeface="Times New Roman" panose="02020603050405020304" pitchFamily="18" charset="0"/>
              </a:rPr>
              <a:t>skills</a:t>
            </a:r>
            <a:r>
              <a:rPr sz="1600" spc="25" dirty="0">
                <a:solidFill>
                  <a:schemeClr val="tx1"/>
                </a:solidFill>
                <a:latin typeface="Times New Roman" panose="02020603050405020304" pitchFamily="18" charset="0"/>
                <a:cs typeface="Times New Roman" panose="02020603050405020304" pitchFamily="18" charset="0"/>
              </a:rPr>
              <a:t> </a:t>
            </a:r>
            <a:r>
              <a:rPr sz="1600" spc="60" dirty="0">
                <a:solidFill>
                  <a:schemeClr val="tx1"/>
                </a:solidFill>
                <a:latin typeface="Times New Roman" panose="02020603050405020304" pitchFamily="18" charset="0"/>
                <a:cs typeface="Times New Roman" panose="02020603050405020304" pitchFamily="18" charset="0"/>
              </a:rPr>
              <a:t>and</a:t>
            </a:r>
            <a:r>
              <a:rPr sz="1600" spc="-5" dirty="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competencies that</a:t>
            </a:r>
            <a:r>
              <a:rPr sz="1600" spc="-15" dirty="0">
                <a:solidFill>
                  <a:schemeClr val="tx1"/>
                </a:solidFill>
                <a:latin typeface="Times New Roman" panose="02020603050405020304" pitchFamily="18" charset="0"/>
                <a:cs typeface="Times New Roman" panose="02020603050405020304" pitchFamily="18" charset="0"/>
              </a:rPr>
              <a:t> </a:t>
            </a:r>
            <a:r>
              <a:rPr sz="1600" spc="-70" dirty="0">
                <a:solidFill>
                  <a:schemeClr val="tx1"/>
                </a:solidFill>
                <a:latin typeface="Times New Roman" panose="02020603050405020304" pitchFamily="18" charset="0"/>
                <a:cs typeface="Times New Roman" panose="02020603050405020304" pitchFamily="18" charset="0"/>
              </a:rPr>
              <a:t>assist </a:t>
            </a:r>
            <a:r>
              <a:rPr sz="1600" dirty="0">
                <a:solidFill>
                  <a:schemeClr val="tx1"/>
                </a:solidFill>
                <a:latin typeface="Times New Roman" panose="02020603050405020304" pitchFamily="18" charset="0"/>
                <a:cs typeface="Times New Roman" panose="02020603050405020304" pitchFamily="18" charset="0"/>
              </a:rPr>
              <a:t>them</a:t>
            </a:r>
            <a:r>
              <a:rPr sz="1600" spc="-25" dirty="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to</a:t>
            </a:r>
            <a:r>
              <a:rPr sz="1600" spc="-25" dirty="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escalate</a:t>
            </a:r>
            <a:r>
              <a:rPr sz="1600" spc="-20" dirty="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as</a:t>
            </a:r>
            <a:r>
              <a:rPr sz="1600" spc="-25" dirty="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integrated</a:t>
            </a:r>
            <a:r>
              <a:rPr sz="1600" spc="-20" dirty="0">
                <a:solidFill>
                  <a:schemeClr val="tx1"/>
                </a:solidFill>
                <a:latin typeface="Times New Roman" panose="02020603050405020304" pitchFamily="18" charset="0"/>
                <a:cs typeface="Times New Roman" panose="02020603050405020304" pitchFamily="18" charset="0"/>
              </a:rPr>
              <a:t> </a:t>
            </a:r>
            <a:r>
              <a:rPr sz="1600" spc="-45" dirty="0">
                <a:solidFill>
                  <a:schemeClr val="tx1"/>
                </a:solidFill>
                <a:latin typeface="Times New Roman" panose="02020603050405020304" pitchFamily="18" charset="0"/>
                <a:cs typeface="Times New Roman" panose="02020603050405020304" pitchFamily="18" charset="0"/>
              </a:rPr>
              <a:t>individuals</a:t>
            </a:r>
            <a:r>
              <a:rPr sz="1600" spc="-5" dirty="0">
                <a:solidFill>
                  <a:schemeClr val="tx1"/>
                </a:solidFill>
                <a:latin typeface="Times New Roman" panose="02020603050405020304" pitchFamily="18" charset="0"/>
                <a:cs typeface="Times New Roman" panose="02020603050405020304" pitchFamily="18" charset="0"/>
              </a:rPr>
              <a:t> </a:t>
            </a:r>
            <a:r>
              <a:rPr sz="1600" spc="-45" dirty="0">
                <a:solidFill>
                  <a:schemeClr val="tx1"/>
                </a:solidFill>
                <a:latin typeface="Times New Roman" panose="02020603050405020304" pitchFamily="18" charset="0"/>
                <a:cs typeface="Times New Roman" panose="02020603050405020304" pitchFamily="18" charset="0"/>
              </a:rPr>
              <a:t>with</a:t>
            </a:r>
            <a:r>
              <a:rPr sz="1600" spc="-25" dirty="0">
                <a:solidFill>
                  <a:schemeClr val="tx1"/>
                </a:solidFill>
                <a:latin typeface="Times New Roman" panose="02020603050405020304" pitchFamily="18" charset="0"/>
                <a:cs typeface="Times New Roman" panose="02020603050405020304" pitchFamily="18" charset="0"/>
              </a:rPr>
              <a:t> </a:t>
            </a:r>
            <a:r>
              <a:rPr sz="1600" spc="150" dirty="0">
                <a:solidFill>
                  <a:schemeClr val="tx1"/>
                </a:solidFill>
                <a:latin typeface="Times New Roman" panose="02020603050405020304" pitchFamily="18" charset="0"/>
                <a:cs typeface="Times New Roman" panose="02020603050405020304" pitchFamily="18" charset="0"/>
              </a:rPr>
              <a:t>a</a:t>
            </a:r>
            <a:r>
              <a:rPr sz="1600" spc="-30" dirty="0">
                <a:solidFill>
                  <a:schemeClr val="tx1"/>
                </a:solidFill>
                <a:latin typeface="Times New Roman" panose="02020603050405020304" pitchFamily="18" charset="0"/>
                <a:cs typeface="Times New Roman" panose="02020603050405020304" pitchFamily="18" charset="0"/>
              </a:rPr>
              <a:t> </a:t>
            </a:r>
            <a:r>
              <a:rPr sz="1600" spc="-50" dirty="0">
                <a:solidFill>
                  <a:schemeClr val="tx1"/>
                </a:solidFill>
                <a:latin typeface="Times New Roman" panose="02020603050405020304" pitchFamily="18" charset="0"/>
                <a:cs typeface="Times New Roman" panose="02020603050405020304" pitchFamily="18" charset="0"/>
              </a:rPr>
              <a:t>sense</a:t>
            </a:r>
            <a:r>
              <a:rPr sz="1600" spc="-25" dirty="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of</a:t>
            </a:r>
            <a:r>
              <a:rPr sz="1600" spc="-20" dirty="0">
                <a:solidFill>
                  <a:schemeClr val="tx1"/>
                </a:solidFill>
                <a:latin typeface="Times New Roman" panose="02020603050405020304" pitchFamily="18" charset="0"/>
                <a:cs typeface="Times New Roman" panose="02020603050405020304" pitchFamily="18" charset="0"/>
              </a:rPr>
              <a:t> </a:t>
            </a:r>
            <a:r>
              <a:rPr sz="1600" spc="-10" dirty="0">
                <a:solidFill>
                  <a:schemeClr val="tx1"/>
                </a:solidFill>
                <a:latin typeface="Times New Roman" panose="02020603050405020304" pitchFamily="18" charset="0"/>
                <a:cs typeface="Times New Roman" panose="02020603050405020304" pitchFamily="18" charset="0"/>
              </a:rPr>
              <a:t>commitment</a:t>
            </a:r>
            <a:r>
              <a:rPr sz="1600" spc="-25" dirty="0">
                <a:solidFill>
                  <a:schemeClr val="tx1"/>
                </a:solidFill>
                <a:latin typeface="Times New Roman" panose="02020603050405020304" pitchFamily="18" charset="0"/>
                <a:cs typeface="Times New Roman" panose="02020603050405020304" pitchFamily="18" charset="0"/>
              </a:rPr>
              <a:t> </a:t>
            </a:r>
            <a:r>
              <a:rPr sz="1600" spc="40" dirty="0">
                <a:solidFill>
                  <a:schemeClr val="tx1"/>
                </a:solidFill>
                <a:latin typeface="Times New Roman" panose="02020603050405020304" pitchFamily="18" charset="0"/>
                <a:cs typeface="Times New Roman" panose="02020603050405020304" pitchFamily="18" charset="0"/>
              </a:rPr>
              <a:t>and </a:t>
            </a:r>
            <a:r>
              <a:rPr sz="1600" spc="-10" dirty="0">
                <a:solidFill>
                  <a:schemeClr val="tx1"/>
                </a:solidFill>
                <a:latin typeface="Times New Roman" panose="02020603050405020304" pitchFamily="18" charset="0"/>
                <a:cs typeface="Times New Roman" panose="02020603050405020304" pitchFamily="18" charset="0"/>
              </a:rPr>
              <a:t>dedication.</a:t>
            </a:r>
            <a:endParaRPr sz="1600" dirty="0">
              <a:solidFill>
                <a:schemeClr val="tx1"/>
              </a:solidFill>
              <a:latin typeface="Times New Roman" panose="02020603050405020304" pitchFamily="18" charset="0"/>
              <a:cs typeface="Times New Roman" panose="02020603050405020304" pitchFamily="18" charset="0"/>
            </a:endParaRPr>
          </a:p>
          <a:p>
            <a:pPr marL="298450" indent="-285750" algn="just">
              <a:lnSpc>
                <a:spcPct val="150000"/>
              </a:lnSpc>
              <a:spcBef>
                <a:spcPts val="994"/>
              </a:spcBef>
              <a:buFont typeface="Wingdings" panose="05000000000000000000" pitchFamily="2" charset="2"/>
              <a:buChar char="Ø"/>
            </a:pPr>
            <a:r>
              <a:rPr lang="en-IN" sz="1600" spc="-25" dirty="0" err="1">
                <a:solidFill>
                  <a:schemeClr val="tx1"/>
                </a:solidFill>
                <a:latin typeface="Times New Roman" panose="02020603050405020304" pitchFamily="18" charset="0"/>
                <a:cs typeface="Times New Roman" panose="02020603050405020304" pitchFamily="18" charset="0"/>
              </a:rPr>
              <a:t>Alnitak</a:t>
            </a:r>
            <a:r>
              <a:rPr lang="en-IN" sz="1600" spc="-25" dirty="0">
                <a:solidFill>
                  <a:schemeClr val="tx1"/>
                </a:solidFill>
                <a:latin typeface="Times New Roman" panose="02020603050405020304" pitchFamily="18" charset="0"/>
                <a:cs typeface="Times New Roman" panose="02020603050405020304" pitchFamily="18" charset="0"/>
              </a:rPr>
              <a:t> Solutions  </a:t>
            </a:r>
            <a:r>
              <a:rPr sz="1600" spc="-25" dirty="0">
                <a:solidFill>
                  <a:schemeClr val="tx1"/>
                </a:solidFill>
                <a:latin typeface="Times New Roman" panose="02020603050405020304" pitchFamily="18" charset="0"/>
                <a:cs typeface="Times New Roman" panose="02020603050405020304" pitchFamily="18" charset="0"/>
              </a:rPr>
              <a:t>offers</a:t>
            </a:r>
            <a:r>
              <a:rPr sz="1600" spc="190" dirty="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you</a:t>
            </a:r>
            <a:r>
              <a:rPr sz="1600" spc="190" dirty="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research</a:t>
            </a:r>
            <a:r>
              <a:rPr sz="1600" spc="210" dirty="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work</a:t>
            </a:r>
            <a:r>
              <a:rPr sz="1600" spc="185" dirty="0">
                <a:solidFill>
                  <a:schemeClr val="tx1"/>
                </a:solidFill>
                <a:latin typeface="Times New Roman" panose="02020603050405020304" pitchFamily="18" charset="0"/>
                <a:cs typeface="Times New Roman" panose="02020603050405020304" pitchFamily="18" charset="0"/>
              </a:rPr>
              <a:t> </a:t>
            </a:r>
            <a:r>
              <a:rPr sz="1600" spc="-10" dirty="0">
                <a:solidFill>
                  <a:schemeClr val="tx1"/>
                </a:solidFill>
                <a:latin typeface="Times New Roman" panose="02020603050405020304" pitchFamily="18" charset="0"/>
                <a:cs typeface="Times New Roman" panose="02020603050405020304" pitchFamily="18" charset="0"/>
              </a:rPr>
              <a:t>consulting</a:t>
            </a:r>
            <a:r>
              <a:rPr sz="1600" spc="200" dirty="0">
                <a:solidFill>
                  <a:schemeClr val="tx1"/>
                </a:solidFill>
                <a:latin typeface="Times New Roman" panose="02020603050405020304" pitchFamily="18" charset="0"/>
                <a:cs typeface="Times New Roman" panose="02020603050405020304" pitchFamily="18" charset="0"/>
              </a:rPr>
              <a:t> </a:t>
            </a:r>
            <a:r>
              <a:rPr sz="1600" spc="-30" dirty="0">
                <a:solidFill>
                  <a:schemeClr val="tx1"/>
                </a:solidFill>
                <a:latin typeface="Times New Roman" panose="02020603050405020304" pitchFamily="18" charset="0"/>
                <a:cs typeface="Times New Roman" panose="02020603050405020304" pitchFamily="18" charset="0"/>
              </a:rPr>
              <a:t>services</a:t>
            </a:r>
            <a:r>
              <a:rPr sz="1600" spc="190" dirty="0">
                <a:solidFill>
                  <a:schemeClr val="tx1"/>
                </a:solidFill>
                <a:latin typeface="Times New Roman" panose="02020603050405020304" pitchFamily="18" charset="0"/>
                <a:cs typeface="Times New Roman" panose="02020603050405020304" pitchFamily="18" charset="0"/>
              </a:rPr>
              <a:t> </a:t>
            </a:r>
            <a:r>
              <a:rPr sz="1600" spc="-20" dirty="0">
                <a:solidFill>
                  <a:schemeClr val="tx1"/>
                </a:solidFill>
                <a:latin typeface="Times New Roman" panose="02020603050405020304" pitchFamily="18" charset="0"/>
                <a:cs typeface="Times New Roman" panose="02020603050405020304" pitchFamily="18" charset="0"/>
              </a:rPr>
              <a:t>from</a:t>
            </a:r>
            <a:endParaRPr lang="en-IN" sz="1600" spc="-20" dirty="0">
              <a:solidFill>
                <a:schemeClr val="tx1"/>
              </a:solidFill>
              <a:latin typeface="Times New Roman" panose="02020603050405020304" pitchFamily="18" charset="0"/>
              <a:cs typeface="Times New Roman" panose="02020603050405020304" pitchFamily="18" charset="0"/>
            </a:endParaRPr>
          </a:p>
          <a:p>
            <a:pPr marL="12700" algn="just">
              <a:lnSpc>
                <a:spcPct val="150000"/>
              </a:lnSpc>
              <a:spcBef>
                <a:spcPts val="994"/>
              </a:spcBef>
            </a:pPr>
            <a:r>
              <a:rPr lang="en-IN" sz="1600" spc="-20" dirty="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topic</a:t>
            </a:r>
            <a:r>
              <a:rPr sz="1600" spc="-95" dirty="0">
                <a:solidFill>
                  <a:schemeClr val="tx1"/>
                </a:solidFill>
                <a:latin typeface="Times New Roman" panose="02020603050405020304" pitchFamily="18" charset="0"/>
                <a:cs typeface="Times New Roman" panose="02020603050405020304" pitchFamily="18" charset="0"/>
              </a:rPr>
              <a:t> </a:t>
            </a:r>
            <a:r>
              <a:rPr sz="1600" spc="-30" dirty="0">
                <a:solidFill>
                  <a:schemeClr val="tx1"/>
                </a:solidFill>
                <a:latin typeface="Times New Roman" panose="02020603050405020304" pitchFamily="18" charset="0"/>
                <a:cs typeface="Times New Roman" panose="02020603050405020304" pitchFamily="18" charset="0"/>
              </a:rPr>
              <a:t>selection</a:t>
            </a:r>
            <a:r>
              <a:rPr sz="1600" spc="-80" dirty="0">
                <a:solidFill>
                  <a:schemeClr val="tx1"/>
                </a:solidFill>
                <a:latin typeface="Times New Roman" panose="02020603050405020304" pitchFamily="18" charset="0"/>
                <a:cs typeface="Times New Roman" panose="02020603050405020304" pitchFamily="18" charset="0"/>
              </a:rPr>
              <a:t> </a:t>
            </a:r>
            <a:r>
              <a:rPr sz="1600" spc="-10" dirty="0">
                <a:solidFill>
                  <a:schemeClr val="tx1"/>
                </a:solidFill>
                <a:latin typeface="Times New Roman" panose="02020603050405020304" pitchFamily="18" charset="0"/>
                <a:cs typeface="Times New Roman" panose="02020603050405020304" pitchFamily="18" charset="0"/>
              </a:rPr>
              <a:t>to</a:t>
            </a:r>
            <a:r>
              <a:rPr sz="1600" spc="-80" dirty="0">
                <a:solidFill>
                  <a:schemeClr val="tx1"/>
                </a:solidFill>
                <a:latin typeface="Times New Roman" panose="02020603050405020304" pitchFamily="18" charset="0"/>
                <a:cs typeface="Times New Roman" panose="02020603050405020304" pitchFamily="18" charset="0"/>
              </a:rPr>
              <a:t> </a:t>
            </a:r>
            <a:r>
              <a:rPr sz="1600" spc="-55" dirty="0">
                <a:solidFill>
                  <a:schemeClr val="tx1"/>
                </a:solidFill>
                <a:latin typeface="Times New Roman" panose="02020603050405020304" pitchFamily="18" charset="0"/>
                <a:cs typeface="Times New Roman" panose="02020603050405020304" pitchFamily="18" charset="0"/>
              </a:rPr>
              <a:t>final</a:t>
            </a:r>
            <a:r>
              <a:rPr sz="1600" spc="-90" dirty="0">
                <a:solidFill>
                  <a:schemeClr val="tx1"/>
                </a:solidFill>
                <a:latin typeface="Times New Roman" panose="02020603050405020304" pitchFamily="18" charset="0"/>
                <a:cs typeface="Times New Roman" panose="02020603050405020304" pitchFamily="18" charset="0"/>
              </a:rPr>
              <a:t> </a:t>
            </a:r>
            <a:r>
              <a:rPr sz="1600" spc="-130" dirty="0">
                <a:solidFill>
                  <a:schemeClr val="tx1"/>
                </a:solidFill>
                <a:latin typeface="Times New Roman" panose="02020603050405020304" pitchFamily="18" charset="0"/>
                <a:cs typeface="Times New Roman" panose="02020603050405020304" pitchFamily="18" charset="0"/>
              </a:rPr>
              <a:t>thesis</a:t>
            </a:r>
            <a:r>
              <a:rPr sz="1600" spc="-65" dirty="0">
                <a:solidFill>
                  <a:schemeClr val="tx1"/>
                </a:solidFill>
                <a:latin typeface="Times New Roman" panose="02020603050405020304" pitchFamily="18" charset="0"/>
                <a:cs typeface="Times New Roman" panose="02020603050405020304" pitchFamily="18" charset="0"/>
              </a:rPr>
              <a:t> </a:t>
            </a:r>
            <a:r>
              <a:rPr sz="1600" spc="-10" dirty="0">
                <a:solidFill>
                  <a:schemeClr val="tx1"/>
                </a:solidFill>
                <a:latin typeface="Times New Roman" panose="02020603050405020304" pitchFamily="18" charset="0"/>
                <a:cs typeface="Times New Roman" panose="02020603050405020304" pitchFamily="18" charset="0"/>
              </a:rPr>
              <a:t>writing.</a:t>
            </a:r>
            <a:endParaRPr sz="1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371600" y="609600"/>
            <a:ext cx="6247130" cy="1674817"/>
          </a:xfrm>
          <a:prstGeom prst="rect">
            <a:avLst/>
          </a:prstGeom>
        </p:spPr>
        <p:txBody>
          <a:bodyPr vert="horz" wrap="square" lIns="0" tIns="12700" rIns="0" bIns="0" rtlCol="0">
            <a:spAutoFit/>
          </a:bodyPr>
          <a:lstStyle/>
          <a:p>
            <a:pPr marL="12700">
              <a:lnSpc>
                <a:spcPct val="100000"/>
              </a:lnSpc>
              <a:spcBef>
                <a:spcPts val="100"/>
              </a:spcBef>
            </a:pPr>
            <a:r>
              <a:rPr lang="en-IN" spc="-10" dirty="0"/>
              <a:t>      </a:t>
            </a:r>
            <a:r>
              <a:rPr lang="en-IN" b="1" spc="-10" dirty="0">
                <a:latin typeface="Times New Roman" panose="02020603050405020304" pitchFamily="18" charset="0"/>
                <a:cs typeface="Times New Roman" panose="02020603050405020304" pitchFamily="18" charset="0"/>
              </a:rPr>
              <a:t>INTERNSHIP  DOMAIN</a:t>
            </a:r>
            <a:br>
              <a:rPr lang="en-IN" spc="-10" dirty="0">
                <a:latin typeface="Times New Roman" panose="02020603050405020304" pitchFamily="18" charset="0"/>
                <a:cs typeface="Times New Roman" panose="02020603050405020304" pitchFamily="18" charset="0"/>
              </a:rPr>
            </a:br>
            <a:br>
              <a:rPr lang="en-IN" spc="-10" dirty="0"/>
            </a:br>
            <a:r>
              <a:rPr lang="en-IN" spc="-10" dirty="0"/>
              <a:t>       </a:t>
            </a:r>
            <a:endParaRPr spc="-10" dirty="0"/>
          </a:p>
        </p:txBody>
      </p:sp>
      <p:sp>
        <p:nvSpPr>
          <p:cNvPr id="6" name="TextBox 5">
            <a:extLst>
              <a:ext uri="{FF2B5EF4-FFF2-40B4-BE49-F238E27FC236}">
                <a16:creationId xmlns:a16="http://schemas.microsoft.com/office/drawing/2014/main" id="{EFD81688-6FEF-909B-D4BF-DD556BAD8F0D}"/>
              </a:ext>
            </a:extLst>
          </p:cNvPr>
          <p:cNvSpPr txBox="1"/>
          <p:nvPr/>
        </p:nvSpPr>
        <p:spPr>
          <a:xfrm>
            <a:off x="685800" y="1142999"/>
            <a:ext cx="10287000" cy="5320944"/>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NLP:</a:t>
            </a:r>
            <a:endParaRPr lang="en-IN"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Natural Language Processing (NLP) is a field of artificial intelligence (AI) that focuses on the interaction between computers and human language.</a:t>
            </a:r>
          </a:p>
          <a:p>
            <a:pPr marL="285750" indent="-285750">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 It involves the development of algorithms and models to enable machines to understand, interpret, and generate human-like language.</a:t>
            </a:r>
          </a:p>
          <a:p>
            <a:pPr marL="285750" indent="-285750">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 NLP applications include language translation, sentiment analysis, chatbots, and text summarization. </a:t>
            </a:r>
          </a:p>
          <a:p>
            <a:pPr marL="285750" indent="-285750">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Techniques such as machine learning and deep learning are often employed in NLP to process and analyze large amounts of textual data.</a:t>
            </a:r>
          </a:p>
          <a:p>
            <a:pPr marL="285750" indent="-285750">
              <a:lnSpc>
                <a:spcPct val="150000"/>
              </a:lnSpc>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Key components of NLP include:</a:t>
            </a:r>
          </a:p>
          <a:p>
            <a:pPr marL="285750" indent="-285750">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Tokenization: Breaking down text into individual words or units, known as tokens, to facilitate analysis.</a:t>
            </a:r>
          </a:p>
          <a:p>
            <a:pPr marL="285750" indent="-285750">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Named Entity Recognition (NER): Identifying and classifying entities (such as names, locations, and dates) within text</a:t>
            </a:r>
          </a:p>
          <a:p>
            <a:pPr marL="285750" indent="-285750">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Part-of-Speech Tagging (POS): Assigning grammatical tags to words, indicating their syntactic roles in a sentence.</a:t>
            </a:r>
          </a:p>
          <a:p>
            <a:pPr marL="285750" indent="-285750">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Sentiment Analysis: Determining the sentiment or emotional tone expressed in a piece of text. Language Modeling: Developing models that understand and generate human-like text based on learned language patterns</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04800" y="609600"/>
            <a:ext cx="8911687" cy="566822"/>
          </a:xfrm>
          <a:prstGeom prst="rect">
            <a:avLst/>
          </a:prstGeom>
        </p:spPr>
        <p:txBody>
          <a:bodyPr vert="horz" wrap="square" lIns="0" tIns="12700" rIns="0" bIns="0" rtlCol="0">
            <a:spAutoFit/>
          </a:bodyPr>
          <a:lstStyle/>
          <a:p>
            <a:pPr marL="1780539">
              <a:lnSpc>
                <a:spcPct val="100000"/>
              </a:lnSpc>
              <a:spcBef>
                <a:spcPts val="100"/>
              </a:spcBef>
            </a:pPr>
            <a:r>
              <a:rPr lang="en-IN" spc="-204" dirty="0">
                <a:latin typeface="Times New Roman" panose="02020603050405020304" pitchFamily="18" charset="0"/>
                <a:cs typeface="Times New Roman" panose="02020603050405020304" pitchFamily="18" charset="0"/>
              </a:rPr>
              <a:t>    </a:t>
            </a:r>
            <a:r>
              <a:rPr lang="en-IN" b="1" spc="-204" dirty="0">
                <a:latin typeface="Times New Roman" panose="02020603050405020304" pitchFamily="18" charset="0"/>
                <a:cs typeface="Times New Roman" panose="02020603050405020304" pitchFamily="18" charset="0"/>
              </a:rPr>
              <a:t>PROJECT  INTRODUCTION</a:t>
            </a:r>
            <a:endParaRPr b="1" spc="-204"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88859E05-CA08-E5FB-A72F-351B0FC9B883}"/>
              </a:ext>
            </a:extLst>
          </p:cNvPr>
          <p:cNvSpPr txBox="1"/>
          <p:nvPr/>
        </p:nvSpPr>
        <p:spPr>
          <a:xfrm>
            <a:off x="914400" y="1600200"/>
            <a:ext cx="9906000" cy="4849404"/>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Sentiment analysis refers to the use of natural language processing, text analysis, computational linguistics to systematically identify, extract, quantify, and study affective states and subjective information. Sentiment analysis on social media platforms has become extremely valuable for businesses and organizations to understand public sentiment towards brands, events, policies etc.</a:t>
            </a:r>
          </a:p>
          <a:p>
            <a:pPr marL="285750" indent="-285750">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Twitter with its millions of daily users and tweets provides a great source of data for analyzing sentiments and opinions at scale. The text of tweets represents a treasure trove of insights waiting to be uncovered with appropriate sentiment analysis techniques.</a:t>
            </a:r>
          </a:p>
          <a:p>
            <a:pPr marL="285750" indent="-285750">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In this project, we aim to conduct sentiment analysis on Twitter data to classify tweets as expressing positive or negative sentiment. We will use a labeled dataset containing thousands of tweets mapped to sentiment polarity labels for model building and evaluation purposes.</a:t>
            </a:r>
          </a:p>
          <a:p>
            <a:pPr marL="285750" indent="-285750">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The project will follow standard machine learning model development pipeline starting from data acquisition, text preprocessing, feature extraction followed by applying classification algorithms like logistic regression and performance evaluation using accuracy, confusion matrix etc.</a:t>
            </a:r>
            <a:endParaRPr lang="en-IN"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990600" y="609600"/>
            <a:ext cx="8911687" cy="1280890"/>
          </a:xfrm>
          <a:prstGeom prst="rect">
            <a:avLst/>
          </a:prstGeom>
        </p:spPr>
        <p:txBody>
          <a:bodyPr vert="horz" wrap="square" lIns="0" tIns="12700" rIns="0" bIns="0" rtlCol="0">
            <a:spAutoFit/>
          </a:bodyPr>
          <a:lstStyle/>
          <a:p>
            <a:pPr marL="1570990">
              <a:lnSpc>
                <a:spcPct val="100000"/>
              </a:lnSpc>
              <a:spcBef>
                <a:spcPts val="100"/>
              </a:spcBef>
            </a:pPr>
            <a:r>
              <a:rPr lang="en-IN" b="1" spc="-65" dirty="0">
                <a:latin typeface="Times New Roman" panose="02020603050405020304" pitchFamily="18" charset="0"/>
                <a:cs typeface="Times New Roman" panose="02020603050405020304" pitchFamily="18" charset="0"/>
              </a:rPr>
              <a:t>COURSE</a:t>
            </a:r>
            <a:r>
              <a:rPr lang="en-IN" b="1" spc="-204" dirty="0">
                <a:latin typeface="Times New Roman" panose="02020603050405020304" pitchFamily="18" charset="0"/>
                <a:cs typeface="Times New Roman" panose="02020603050405020304" pitchFamily="18" charset="0"/>
              </a:rPr>
              <a:t> </a:t>
            </a:r>
            <a:r>
              <a:rPr lang="en-IN" b="1" spc="-10" dirty="0">
                <a:latin typeface="Times New Roman" panose="02020603050405020304" pitchFamily="18" charset="0"/>
                <a:cs typeface="Times New Roman" panose="02020603050405020304" pitchFamily="18" charset="0"/>
              </a:rPr>
              <a:t>OUTCOMES</a:t>
            </a:r>
          </a:p>
        </p:txBody>
      </p:sp>
      <p:sp>
        <p:nvSpPr>
          <p:cNvPr id="4" name="object 4"/>
          <p:cNvSpPr txBox="1"/>
          <p:nvPr/>
        </p:nvSpPr>
        <p:spPr>
          <a:xfrm>
            <a:off x="1524000" y="1828800"/>
            <a:ext cx="5257800" cy="3449021"/>
          </a:xfrm>
          <a:prstGeom prst="rect">
            <a:avLst/>
          </a:prstGeom>
        </p:spPr>
        <p:txBody>
          <a:bodyPr vert="horz" wrap="square" lIns="0" tIns="111125" rIns="0" bIns="0" rtlCol="0">
            <a:spAutoFit/>
          </a:bodyPr>
          <a:lstStyle/>
          <a:p>
            <a:pPr marL="298450" indent="-285750">
              <a:lnSpc>
                <a:spcPct val="150000"/>
              </a:lnSpc>
              <a:spcBef>
                <a:spcPts val="875"/>
              </a:spcBef>
              <a:buFont typeface="Wingdings" panose="05000000000000000000" pitchFamily="2" charset="2"/>
              <a:buChar char="Ø"/>
              <a:tabLst>
                <a:tab pos="354965" algn="l"/>
              </a:tabLst>
            </a:pPr>
            <a:r>
              <a:rPr lang="en-IN" sz="2000" b="1" spc="-310" dirty="0">
                <a:solidFill>
                  <a:schemeClr val="tx1"/>
                </a:solidFill>
                <a:latin typeface="Times New Roman" panose="02020603050405020304" pitchFamily="18" charset="0"/>
                <a:cs typeface="Times New Roman" panose="02020603050405020304" pitchFamily="18" charset="0"/>
              </a:rPr>
              <a:t>S </a:t>
            </a:r>
            <a:r>
              <a:rPr lang="en-IN" sz="2000" b="1" spc="-310" dirty="0">
                <a:latin typeface="Times New Roman" panose="02020603050405020304" pitchFamily="18" charset="0"/>
                <a:cs typeface="Times New Roman" panose="02020603050405020304" pitchFamily="18" charset="0"/>
              </a:rPr>
              <a:t>OFTWARE</a:t>
            </a:r>
            <a:endParaRPr sz="2000" b="1" dirty="0">
              <a:solidFill>
                <a:schemeClr val="tx1"/>
              </a:solidFill>
              <a:latin typeface="Times New Roman" panose="02020603050405020304" pitchFamily="18" charset="0"/>
              <a:cs typeface="Times New Roman" panose="02020603050405020304" pitchFamily="18" charset="0"/>
            </a:endParaRPr>
          </a:p>
          <a:p>
            <a:pPr marL="379730">
              <a:lnSpc>
                <a:spcPct val="150000"/>
              </a:lnSpc>
              <a:spcBef>
                <a:spcPts val="650"/>
              </a:spcBef>
            </a:pPr>
            <a:r>
              <a:rPr lang="en-IN" b="1" spc="-65" dirty="0">
                <a:latin typeface="Times New Roman" panose="02020603050405020304" pitchFamily="18" charset="0"/>
                <a:cs typeface="Times New Roman" panose="02020603050405020304" pitchFamily="18" charset="0"/>
              </a:rPr>
              <a:t>            Google </a:t>
            </a:r>
            <a:r>
              <a:rPr lang="en-IN" b="1" spc="-65" dirty="0" err="1">
                <a:latin typeface="Times New Roman" panose="02020603050405020304" pitchFamily="18" charset="0"/>
                <a:cs typeface="Times New Roman" panose="02020603050405020304" pitchFamily="18" charset="0"/>
              </a:rPr>
              <a:t>Colab</a:t>
            </a:r>
            <a:endParaRPr lang="en-IN" b="1" dirty="0">
              <a:latin typeface="Times New Roman" panose="02020603050405020304" pitchFamily="18" charset="0"/>
              <a:cs typeface="Times New Roman" panose="02020603050405020304" pitchFamily="18" charset="0"/>
            </a:endParaRPr>
          </a:p>
          <a:p>
            <a:pPr marL="298450" indent="-285750">
              <a:lnSpc>
                <a:spcPct val="150000"/>
              </a:lnSpc>
              <a:spcBef>
                <a:spcPts val="5"/>
              </a:spcBef>
              <a:buFont typeface="Wingdings" panose="05000000000000000000" pitchFamily="2" charset="2"/>
              <a:buChar char="Ø"/>
              <a:tabLst>
                <a:tab pos="354965" algn="l"/>
              </a:tabLst>
            </a:pPr>
            <a:r>
              <a:rPr sz="1800" dirty="0">
                <a:solidFill>
                  <a:schemeClr val="tx1"/>
                </a:solidFill>
                <a:latin typeface="Times New Roman" panose="02020603050405020304" pitchFamily="18" charset="0"/>
                <a:cs typeface="Times New Roman" panose="02020603050405020304" pitchFamily="18" charset="0"/>
              </a:rPr>
              <a:t>	</a:t>
            </a:r>
            <a:r>
              <a:rPr sz="2000" b="1" spc="-175" dirty="0">
                <a:solidFill>
                  <a:schemeClr val="tx1"/>
                </a:solidFill>
                <a:latin typeface="Times New Roman" panose="02020603050405020304" pitchFamily="18" charset="0"/>
                <a:cs typeface="Times New Roman" panose="02020603050405020304" pitchFamily="18" charset="0"/>
              </a:rPr>
              <a:t>PROGRAMMING</a:t>
            </a:r>
            <a:r>
              <a:rPr sz="2000" b="1" spc="-65" dirty="0">
                <a:solidFill>
                  <a:schemeClr val="tx1"/>
                </a:solidFill>
                <a:latin typeface="Times New Roman" panose="02020603050405020304" pitchFamily="18" charset="0"/>
                <a:cs typeface="Times New Roman" panose="02020603050405020304" pitchFamily="18" charset="0"/>
              </a:rPr>
              <a:t> </a:t>
            </a:r>
            <a:r>
              <a:rPr lang="en-IN" sz="2000" b="1" spc="-65" dirty="0">
                <a:solidFill>
                  <a:schemeClr val="tx1"/>
                </a:solidFill>
                <a:latin typeface="Times New Roman" panose="02020603050405020304" pitchFamily="18" charset="0"/>
                <a:cs typeface="Times New Roman" panose="02020603050405020304" pitchFamily="18" charset="0"/>
              </a:rPr>
              <a:t>  </a:t>
            </a:r>
            <a:r>
              <a:rPr sz="2000" b="1" spc="-145" dirty="0">
                <a:solidFill>
                  <a:schemeClr val="tx1"/>
                </a:solidFill>
                <a:latin typeface="Times New Roman" panose="02020603050405020304" pitchFamily="18" charset="0"/>
                <a:cs typeface="Times New Roman" panose="02020603050405020304" pitchFamily="18" charset="0"/>
              </a:rPr>
              <a:t>LANGUAGE</a:t>
            </a:r>
            <a:endParaRPr lang="en-IN" sz="2000" b="1" spc="-145" dirty="0">
              <a:solidFill>
                <a:schemeClr val="tx1"/>
              </a:solidFill>
              <a:latin typeface="Times New Roman" panose="02020603050405020304" pitchFamily="18" charset="0"/>
              <a:cs typeface="Times New Roman" panose="02020603050405020304" pitchFamily="18" charset="0"/>
            </a:endParaRPr>
          </a:p>
          <a:p>
            <a:pPr marL="12700">
              <a:lnSpc>
                <a:spcPct val="150000"/>
              </a:lnSpc>
              <a:spcBef>
                <a:spcPts val="5"/>
              </a:spcBef>
              <a:tabLst>
                <a:tab pos="354965" algn="l"/>
              </a:tabLst>
            </a:pPr>
            <a:r>
              <a:rPr lang="en-IN" spc="-145" dirty="0">
                <a:solidFill>
                  <a:schemeClr val="tx1"/>
                </a:solidFill>
                <a:latin typeface="Times New Roman" panose="02020603050405020304" pitchFamily="18" charset="0"/>
                <a:cs typeface="Times New Roman" panose="02020603050405020304" pitchFamily="18" charset="0"/>
              </a:rPr>
              <a:t>                        </a:t>
            </a:r>
            <a:r>
              <a:rPr lang="en-IN" b="1" spc="-145" dirty="0">
                <a:latin typeface="Times New Roman" panose="02020603050405020304" pitchFamily="18" charset="0"/>
                <a:cs typeface="Times New Roman" panose="02020603050405020304" pitchFamily="18" charset="0"/>
              </a:rPr>
              <a:t>Python</a:t>
            </a:r>
            <a:endParaRPr lang="en-IN" sz="1800" b="1" spc="-145" dirty="0">
              <a:latin typeface="Times New Roman" panose="02020603050405020304" pitchFamily="18" charset="0"/>
              <a:cs typeface="Times New Roman" panose="02020603050405020304" pitchFamily="18" charset="0"/>
            </a:endParaRPr>
          </a:p>
          <a:p>
            <a:pPr marL="298450" indent="-285750">
              <a:lnSpc>
                <a:spcPct val="150000"/>
              </a:lnSpc>
              <a:spcBef>
                <a:spcPts val="5"/>
              </a:spcBef>
              <a:buFont typeface="Wingdings" panose="05000000000000000000" pitchFamily="2" charset="2"/>
              <a:buChar char="Ø"/>
              <a:tabLst>
                <a:tab pos="354965" algn="l"/>
              </a:tabLst>
            </a:pPr>
            <a:r>
              <a:rPr lang="en-IN" sz="2000" b="1" dirty="0">
                <a:solidFill>
                  <a:schemeClr val="tx1"/>
                </a:solidFill>
                <a:latin typeface="Times New Roman" panose="02020603050405020304" pitchFamily="18" charset="0"/>
                <a:cs typeface="Times New Roman" panose="02020603050405020304" pitchFamily="18" charset="0"/>
              </a:rPr>
              <a:t>DOMAIN</a:t>
            </a:r>
          </a:p>
          <a:p>
            <a:pPr marL="12700">
              <a:lnSpc>
                <a:spcPct val="150000"/>
              </a:lnSpc>
              <a:spcBef>
                <a:spcPts val="5"/>
              </a:spcBef>
              <a:tabLst>
                <a:tab pos="354965" algn="l"/>
              </a:tabLst>
            </a:pPr>
            <a:r>
              <a:rPr lang="en-IN" dirty="0">
                <a:solidFill>
                  <a:schemeClr val="tx1"/>
                </a:solidFill>
                <a:latin typeface="Times New Roman" panose="02020603050405020304" pitchFamily="18" charset="0"/>
                <a:cs typeface="Times New Roman" panose="02020603050405020304" pitchFamily="18" charset="0"/>
              </a:rPr>
              <a:t>                 </a:t>
            </a:r>
            <a:r>
              <a:rPr lang="en-IN" b="1" dirty="0">
                <a:solidFill>
                  <a:schemeClr val="tx1"/>
                </a:solidFill>
                <a:latin typeface="Times New Roman" panose="02020603050405020304" pitchFamily="18" charset="0"/>
                <a:cs typeface="Times New Roman" panose="02020603050405020304" pitchFamily="18" charset="0"/>
              </a:rPr>
              <a:t>NLP</a:t>
            </a:r>
            <a:endParaRPr sz="1800" b="1" dirty="0">
              <a:solidFill>
                <a:schemeClr val="tx1"/>
              </a:solidFill>
              <a:latin typeface="Times New Roman" panose="02020603050405020304" pitchFamily="18" charset="0"/>
              <a:cs typeface="Times New Roman" panose="02020603050405020304" pitchFamily="18" charset="0"/>
            </a:endParaRPr>
          </a:p>
          <a:p>
            <a:pPr marL="379730">
              <a:lnSpc>
                <a:spcPct val="100000"/>
              </a:lnSpc>
              <a:spcBef>
                <a:spcPts val="645"/>
              </a:spcBef>
            </a:pPr>
            <a:endParaRPr lang="en-IN" sz="1500" spc="-25" dirty="0">
              <a:solidFill>
                <a:srgbClr val="404040"/>
              </a:solidFill>
              <a:latin typeface="Verdana"/>
              <a:cs typeface="Verdana"/>
            </a:endParaRPr>
          </a:p>
          <a:p>
            <a:pPr marL="379730">
              <a:lnSpc>
                <a:spcPct val="100000"/>
              </a:lnSpc>
              <a:spcBef>
                <a:spcPts val="645"/>
              </a:spcBef>
            </a:pPr>
            <a:endParaRPr sz="1500" dirty="0">
              <a:latin typeface="Verdana"/>
              <a:cs typeface="Verdan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EFAB3-8838-294A-2402-582D1E188069}"/>
              </a:ext>
            </a:extLst>
          </p:cNvPr>
          <p:cNvSpPr>
            <a:spLocks noGrp="1"/>
          </p:cNvSpPr>
          <p:nvPr>
            <p:ph type="title"/>
          </p:nvPr>
        </p:nvSpPr>
        <p:spPr>
          <a:xfrm>
            <a:off x="-685800" y="609600"/>
            <a:ext cx="10384535" cy="1107996"/>
          </a:xfrm>
        </p:spPr>
        <p:txBody>
          <a:bodyPr>
            <a:normAutofit fontScale="90000"/>
          </a:bodyPr>
          <a:lstStyle/>
          <a:p>
            <a:r>
              <a:rPr lang="en-IN" b="1" dirty="0">
                <a:latin typeface="Times New Roman" panose="02020603050405020304" pitchFamily="18" charset="0"/>
                <a:cs typeface="Times New Roman" panose="02020603050405020304" pitchFamily="18" charset="0"/>
              </a:rPr>
              <a:t>                               GOOGLE COLAB</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F8D3CC7-4EC3-0EC5-C82D-C43B348C0FD8}"/>
              </a:ext>
            </a:extLst>
          </p:cNvPr>
          <p:cNvSpPr txBox="1"/>
          <p:nvPr/>
        </p:nvSpPr>
        <p:spPr>
          <a:xfrm>
            <a:off x="903732" y="1239083"/>
            <a:ext cx="10678668" cy="4247317"/>
          </a:xfrm>
          <a:prstGeom prst="rect">
            <a:avLst/>
          </a:prstGeom>
          <a:noFill/>
        </p:spPr>
        <p:txBody>
          <a:bodyPr wrap="square">
            <a:spAutoFit/>
          </a:bodyPr>
          <a:lstStyle/>
          <a:p>
            <a:pPr marL="285750" indent="-28575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Google </a:t>
            </a:r>
            <a:r>
              <a:rPr lang="en-IN" dirty="0" err="1">
                <a:latin typeface="Times New Roman" panose="02020603050405020304" pitchFamily="18" charset="0"/>
                <a:cs typeface="Times New Roman" panose="02020603050405020304" pitchFamily="18" charset="0"/>
              </a:rPr>
              <a:t>Colab</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Colaboratory</a:t>
            </a:r>
            <a:r>
              <a:rPr lang="en-IN" dirty="0">
                <a:latin typeface="Times New Roman" panose="02020603050405020304" pitchFamily="18" charset="0"/>
                <a:cs typeface="Times New Roman" panose="02020603050405020304" pitchFamily="18" charset="0"/>
              </a:rPr>
              <a:t>) is a popular platform for running Python code in a collaborative, cloud-based environment. </a:t>
            </a:r>
          </a:p>
          <a:p>
            <a:pPr marL="285750" indent="-285750">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It's commonly used in NLP projects due to its accessibility and the ability to leverage GPU resources for training deep learning models.</a:t>
            </a:r>
          </a:p>
          <a:p>
            <a:pPr marL="285750" indent="-285750">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dirty="0" err="1">
                <a:latin typeface="Times New Roman" panose="02020603050405020304" pitchFamily="18" charset="0"/>
                <a:cs typeface="Times New Roman" panose="02020603050405020304" pitchFamily="18" charset="0"/>
              </a:rPr>
              <a:t>Colab</a:t>
            </a:r>
            <a:r>
              <a:rPr lang="en-US" dirty="0">
                <a:latin typeface="Times New Roman" panose="02020603050405020304" pitchFamily="18" charset="0"/>
                <a:cs typeface="Times New Roman" panose="02020603050405020304" pitchFamily="18" charset="0"/>
              </a:rPr>
              <a:t> notebooks execute code on Google's cloud servers, meaning you can leverage the power of Google hardware, including GPUs and TPUs, regardless of the power of your machine. All you need is a browser.</a:t>
            </a:r>
          </a:p>
          <a:p>
            <a:pPr marL="285750" indent="-285750">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Google </a:t>
            </a:r>
            <a:r>
              <a:rPr lang="en-US" dirty="0" err="1">
                <a:latin typeface="Times New Roman" panose="02020603050405020304" pitchFamily="18" charset="0"/>
                <a:cs typeface="Times New Roman" panose="02020603050405020304" pitchFamily="18" charset="0"/>
              </a:rPr>
              <a:t>Colab</a:t>
            </a:r>
            <a:r>
              <a:rPr lang="en-US" dirty="0">
                <a:latin typeface="Times New Roman" panose="02020603050405020304" pitchFamily="18" charset="0"/>
                <a:cs typeface="Times New Roman" panose="02020603050405020304" pitchFamily="18" charset="0"/>
              </a:rPr>
              <a:t> is an excellent tool for machine learning projects. It provides access to free GPU and TPU resources that can significantly speed up model training. You can also install popular machine learning libraries such as </a:t>
            </a:r>
            <a:r>
              <a:rPr lang="en-US" dirty="0" err="1">
                <a:latin typeface="Times New Roman" panose="02020603050405020304" pitchFamily="18" charset="0"/>
                <a:cs typeface="Times New Roman" panose="02020603050405020304" pitchFamily="18" charset="0"/>
              </a:rPr>
              <a:t>Sklearn</a:t>
            </a:r>
            <a:r>
              <a:rPr lang="en-US" dirty="0">
                <a:latin typeface="Times New Roman" panose="02020603050405020304" pitchFamily="18" charset="0"/>
                <a:cs typeface="Times New Roman" panose="02020603050405020304" pitchFamily="18" charset="0"/>
              </a:rPr>
              <a:t>, TensorFlow and </a:t>
            </a:r>
            <a:r>
              <a:rPr lang="en-US" dirty="0" err="1">
                <a:latin typeface="Times New Roman" panose="02020603050405020304" pitchFamily="18" charset="0"/>
                <a:cs typeface="Times New Roman" panose="02020603050405020304" pitchFamily="18" charset="0"/>
              </a:rPr>
              <a:t>PyTorch</a:t>
            </a:r>
            <a:r>
              <a:rPr lang="en-US" dirty="0">
                <a:latin typeface="Times New Roman" panose="02020603050405020304" pitchFamily="18" charset="0"/>
                <a:cs typeface="Times New Roman" panose="02020603050405020304" pitchFamily="18" charset="0"/>
              </a:rPr>
              <a:t> to make use of those in your modeling.</a:t>
            </a:r>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Google </a:t>
            </a:r>
            <a:r>
              <a:rPr lang="en-IN" dirty="0" err="1">
                <a:latin typeface="Times New Roman" panose="02020603050405020304" pitchFamily="18" charset="0"/>
                <a:cs typeface="Times New Roman" panose="02020603050405020304" pitchFamily="18" charset="0"/>
              </a:rPr>
              <a:t>Colab</a:t>
            </a:r>
            <a:r>
              <a:rPr lang="en-IN" dirty="0">
                <a:latin typeface="Times New Roman" panose="02020603050405020304" pitchFamily="18" charset="0"/>
                <a:cs typeface="Times New Roman" panose="02020603050405020304" pitchFamily="18" charset="0"/>
              </a:rPr>
              <a:t> is a convenient choice for collaborative and resource-intensive NLP projects, offering a balance between ease of use and powerful computational capabilities.</a:t>
            </a:r>
          </a:p>
        </p:txBody>
      </p:sp>
    </p:spTree>
    <p:extLst>
      <p:ext uri="{BB962C8B-B14F-4D97-AF65-F5344CB8AC3E}">
        <p14:creationId xmlns:p14="http://schemas.microsoft.com/office/powerpoint/2010/main" val="26856052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371600" y="533400"/>
            <a:ext cx="8596668" cy="1320800"/>
          </a:xfrm>
          <a:prstGeom prst="rect">
            <a:avLst/>
          </a:prstGeom>
        </p:spPr>
        <p:txBody>
          <a:bodyPr vert="horz" wrap="square" lIns="0" tIns="12700" rIns="0" bIns="0" rtlCol="0">
            <a:spAutoFit/>
          </a:bodyPr>
          <a:lstStyle/>
          <a:p>
            <a:pPr marL="1541145">
              <a:lnSpc>
                <a:spcPct val="100000"/>
              </a:lnSpc>
              <a:spcBef>
                <a:spcPts val="100"/>
              </a:spcBef>
            </a:pPr>
            <a:r>
              <a:rPr lang="en-IN" spc="-300" dirty="0">
                <a:latin typeface="Times New Roman" panose="02020603050405020304" pitchFamily="18" charset="0"/>
                <a:cs typeface="Times New Roman" panose="02020603050405020304" pitchFamily="18" charset="0"/>
              </a:rPr>
              <a:t>                              </a:t>
            </a:r>
            <a:r>
              <a:rPr lang="en-IN" b="1" spc="-300" dirty="0">
                <a:latin typeface="Times New Roman" panose="02020603050405020304" pitchFamily="18" charset="0"/>
                <a:cs typeface="Times New Roman" panose="02020603050405020304" pitchFamily="18" charset="0"/>
              </a:rPr>
              <a:t>PYTHON</a:t>
            </a:r>
            <a:endParaRPr b="1" spc="-3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2A4D2DD-0774-1FC6-5EFE-5FECF5E53F57}"/>
              </a:ext>
            </a:extLst>
          </p:cNvPr>
          <p:cNvSpPr txBox="1"/>
          <p:nvPr/>
        </p:nvSpPr>
        <p:spPr>
          <a:xfrm>
            <a:off x="5640512" y="2974368"/>
            <a:ext cx="914400" cy="914400"/>
          </a:xfrm>
          <a:prstGeom prst="rect">
            <a:avLst/>
          </a:prstGeom>
          <a:noFill/>
        </p:spPr>
        <p:txBody>
          <a:bodyPr wrap="square" rtlCol="0">
            <a:spAutoFit/>
          </a:bodyPr>
          <a:lstStyle/>
          <a:p>
            <a:endParaRPr lang="en-IN" dirty="0"/>
          </a:p>
        </p:txBody>
      </p:sp>
      <p:sp>
        <p:nvSpPr>
          <p:cNvPr id="6" name="TextBox 5">
            <a:extLst>
              <a:ext uri="{FF2B5EF4-FFF2-40B4-BE49-F238E27FC236}">
                <a16:creationId xmlns:a16="http://schemas.microsoft.com/office/drawing/2014/main" id="{792EB461-249F-3CF5-0869-16C66F1596AF}"/>
              </a:ext>
            </a:extLst>
          </p:cNvPr>
          <p:cNvSpPr txBox="1"/>
          <p:nvPr/>
        </p:nvSpPr>
        <p:spPr>
          <a:xfrm>
            <a:off x="1335212" y="1371600"/>
            <a:ext cx="10439400" cy="5410200"/>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Python is a versatile and widely-used programming language known for its readability, simplicity, and extensive ecosystem. </a:t>
            </a:r>
          </a:p>
          <a:p>
            <a:pPr marL="285750" indent="-285750">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Here are some key aspects of Python:</a:t>
            </a:r>
          </a:p>
          <a:p>
            <a:pPr marL="285750" indent="-285750">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General-Purpose: Python is a general-purpose programming language suitable for various applications, including web development, data analysis, machine learning, artificial intelligence, automation, and </a:t>
            </a:r>
            <a:r>
              <a:rPr lang="en-US" sz="1600" dirty="0" err="1">
                <a:latin typeface="Times New Roman" panose="02020603050405020304" pitchFamily="18" charset="0"/>
                <a:cs typeface="Times New Roman" panose="02020603050405020304" pitchFamily="18" charset="0"/>
              </a:rPr>
              <a:t>more.Readable</a:t>
            </a:r>
            <a:r>
              <a:rPr lang="en-US" sz="1600" dirty="0">
                <a:latin typeface="Times New Roman" panose="02020603050405020304" pitchFamily="18" charset="0"/>
                <a:cs typeface="Times New Roman" panose="02020603050405020304" pitchFamily="18" charset="0"/>
              </a:rPr>
              <a:t> and Expressive.</a:t>
            </a:r>
          </a:p>
          <a:p>
            <a:pPr marL="285750" indent="-285750">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 Python's syntax is designed to be readable and concise, emphasizing code readability and reducing the cost of program maintenance.</a:t>
            </a:r>
          </a:p>
          <a:p>
            <a:pPr marL="285750" indent="-285750">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Large </a:t>
            </a:r>
            <a:r>
              <a:rPr lang="en-US" sz="1600" dirty="0" err="1">
                <a:latin typeface="Times New Roman" panose="02020603050405020304" pitchFamily="18" charset="0"/>
                <a:cs typeface="Times New Roman" panose="02020603050405020304" pitchFamily="18" charset="0"/>
              </a:rPr>
              <a:t>Ecosystem:Python</a:t>
            </a:r>
            <a:r>
              <a:rPr lang="en-US" sz="1600" dirty="0">
                <a:latin typeface="Times New Roman" panose="02020603050405020304" pitchFamily="18" charset="0"/>
                <a:cs typeface="Times New Roman" panose="02020603050405020304" pitchFamily="18" charset="0"/>
              </a:rPr>
              <a:t> has a rich set of libraries and frameworks that cater to diverse needs. Popular libraries include NumPy and Pandas for data manipulation, Flask and Django for web development, TensorFlow and </a:t>
            </a:r>
            <a:r>
              <a:rPr lang="en-US" sz="1600" dirty="0" err="1">
                <a:latin typeface="Times New Roman" panose="02020603050405020304" pitchFamily="18" charset="0"/>
                <a:cs typeface="Times New Roman" panose="02020603050405020304" pitchFamily="18" charset="0"/>
              </a:rPr>
              <a:t>PyTorch</a:t>
            </a:r>
            <a:r>
              <a:rPr lang="en-US" sz="1600" dirty="0">
                <a:latin typeface="Times New Roman" panose="02020603050405020304" pitchFamily="18" charset="0"/>
                <a:cs typeface="Times New Roman" panose="02020603050405020304" pitchFamily="18" charset="0"/>
              </a:rPr>
              <a:t> for machine learning, and many more.</a:t>
            </a:r>
          </a:p>
          <a:p>
            <a:pPr marL="285750" indent="-285750">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Community Support: Python has a large and active community, contributing to an extensive range of resources, documentation, and third-party packages. This community support makes it easier for developers to find solutions and stay updated on best practices.</a:t>
            </a:r>
          </a:p>
          <a:p>
            <a:pPr marL="285750" indent="-285750">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Cross-Platform: Python is cross-platform, allowing code to run on different operating systems without modification.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447800" y="1447800"/>
            <a:ext cx="9599295" cy="3593291"/>
          </a:xfrm>
          <a:prstGeom prst="rect">
            <a:avLst/>
          </a:prstGeom>
        </p:spPr>
        <p:txBody>
          <a:bodyPr vert="horz" wrap="square" lIns="0" tIns="12700" rIns="0" bIns="0" rtlCol="0">
            <a:spAutoFit/>
          </a:bodyPr>
          <a:lstStyle/>
          <a:p>
            <a:pPr marL="285750" indent="-285750">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Interpreted Language: Python is an interpreted language, meaning that code can be executed line by line, making it suitable for both scripting and large-scale applications.</a:t>
            </a:r>
          </a:p>
          <a:p>
            <a:pPr marL="285750" indent="-285750">
              <a:lnSpc>
                <a:spcPct val="150000"/>
              </a:lnSpc>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Open Source: Python is open-source, fostering collaboration and continuous improvement. Users can modify and distribute Python's source code under the terms of the Python Software Foundation License.</a:t>
            </a:r>
          </a:p>
          <a:p>
            <a:pPr marL="285750" indent="-285750">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Dynamic Typing: Python is dynamically typed, allowing for flexibility in variable assignment and reducing the need for explicit type declarations</a:t>
            </a:r>
            <a:endParaRPr lang="en-IN" sz="1800" dirty="0">
              <a:latin typeface="Times New Roman" panose="02020603050405020304" pitchFamily="18" charset="0"/>
              <a:cs typeface="Times New Roman" panose="02020603050405020304" pitchFamily="18" charset="0"/>
            </a:endParaRPr>
          </a:p>
          <a:p>
            <a:pPr marL="15875">
              <a:lnSpc>
                <a:spcPts val="1945"/>
              </a:lnSpc>
              <a:spcBef>
                <a:spcPts val="100"/>
              </a:spcBef>
            </a:pPr>
            <a:endParaRPr sz="1800" dirty="0">
              <a:latin typeface="Times New Roman"/>
              <a:cs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677334" y="609600"/>
            <a:ext cx="8596668" cy="566822"/>
          </a:xfrm>
          <a:prstGeom prst="rect">
            <a:avLst/>
          </a:prstGeom>
        </p:spPr>
        <p:txBody>
          <a:bodyPr vert="horz" wrap="square" lIns="0" tIns="12700" rIns="0" bIns="0" rtlCol="0">
            <a:spAutoFit/>
          </a:bodyPr>
          <a:lstStyle/>
          <a:p>
            <a:pPr marL="1780539">
              <a:lnSpc>
                <a:spcPct val="100000"/>
              </a:lnSpc>
              <a:spcBef>
                <a:spcPts val="100"/>
              </a:spcBef>
            </a:pPr>
            <a:r>
              <a:rPr lang="en-IN" b="1" spc="60" dirty="0">
                <a:latin typeface="Times New Roman" panose="02020603050405020304" pitchFamily="18" charset="0"/>
                <a:cs typeface="Times New Roman" panose="02020603050405020304" pitchFamily="18" charset="0"/>
              </a:rPr>
              <a:t>MODULE</a:t>
            </a:r>
            <a:r>
              <a:rPr lang="en-IN" b="1" spc="-245" dirty="0">
                <a:latin typeface="Times New Roman" panose="02020603050405020304" pitchFamily="18" charset="0"/>
                <a:cs typeface="Times New Roman" panose="02020603050405020304" pitchFamily="18" charset="0"/>
              </a:rPr>
              <a:t> </a:t>
            </a:r>
            <a:r>
              <a:rPr lang="en-IN" b="1" spc="-10" dirty="0">
                <a:latin typeface="Times New Roman" panose="02020603050405020304" pitchFamily="18" charset="0"/>
                <a:cs typeface="Times New Roman" panose="02020603050405020304" pitchFamily="18" charset="0"/>
              </a:rPr>
              <a:t>SPECIFICATION</a:t>
            </a:r>
          </a:p>
        </p:txBody>
      </p:sp>
      <p:sp>
        <p:nvSpPr>
          <p:cNvPr id="4" name="object 4"/>
          <p:cNvSpPr txBox="1"/>
          <p:nvPr/>
        </p:nvSpPr>
        <p:spPr>
          <a:xfrm>
            <a:off x="1286934" y="1295400"/>
            <a:ext cx="10905066" cy="6033639"/>
          </a:xfrm>
          <a:prstGeom prst="rect">
            <a:avLst/>
          </a:prstGeom>
        </p:spPr>
        <p:txBody>
          <a:bodyPr vert="horz" wrap="square" lIns="0" tIns="12700" rIns="0" bIns="0" rtlCol="0">
            <a:spAutoFit/>
          </a:bodyPr>
          <a:lstStyle/>
          <a:p>
            <a:pPr marL="355600" marR="5715" indent="-342900" algn="just">
              <a:lnSpc>
                <a:spcPct val="140000"/>
              </a:lnSpc>
              <a:spcBef>
                <a:spcPts val="100"/>
              </a:spcBef>
            </a:pPr>
            <a:r>
              <a:rPr lang="en-US" sz="1600" dirty="0">
                <a:latin typeface="Times New Roman" panose="02020603050405020304" pitchFamily="18" charset="0"/>
                <a:cs typeface="Times New Roman" panose="02020603050405020304" pitchFamily="18" charset="0"/>
              </a:rPr>
              <a:t>"Creating an Twitter Sentimental Analysis using NLP project involves several key modules:</a:t>
            </a:r>
          </a:p>
          <a:p>
            <a:pPr marL="355600" marR="5715" indent="-342900" algn="just">
              <a:lnSpc>
                <a:spcPct val="140000"/>
              </a:lnSpc>
              <a:spcBef>
                <a:spcPts val="100"/>
              </a:spcBef>
              <a:buFont typeface="Wingdings" panose="05000000000000000000" pitchFamily="2" charset="2"/>
              <a:buChar char="Ø"/>
            </a:pPr>
            <a:r>
              <a:rPr lang="en-US" sz="1500" b="1" dirty="0">
                <a:latin typeface="Times New Roman" panose="02020603050405020304" pitchFamily="18" charset="0"/>
                <a:cs typeface="Times New Roman" panose="02020603050405020304" pitchFamily="18" charset="0"/>
              </a:rPr>
              <a:t>Data Collection and Understanding</a:t>
            </a:r>
          </a:p>
          <a:p>
            <a:pPr marL="355600" marR="5715" indent="-342900" algn="just">
              <a:lnSpc>
                <a:spcPct val="140000"/>
              </a:lnSpc>
              <a:spcBef>
                <a:spcPts val="100"/>
              </a:spcBef>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 Import tweet dataset</a:t>
            </a:r>
          </a:p>
          <a:p>
            <a:pPr marL="355600" marR="5715" indent="-342900" algn="just">
              <a:lnSpc>
                <a:spcPct val="140000"/>
              </a:lnSpc>
              <a:spcBef>
                <a:spcPts val="100"/>
              </a:spcBef>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Explore data columns - text, labels, </a:t>
            </a:r>
            <a:r>
              <a:rPr lang="en-US" sz="1500" dirty="0" err="1">
                <a:latin typeface="Times New Roman" panose="02020603050405020304" pitchFamily="18" charset="0"/>
                <a:cs typeface="Times New Roman" panose="02020603050405020304" pitchFamily="18" charset="0"/>
              </a:rPr>
              <a:t>metadataUnderstand</a:t>
            </a:r>
            <a:endParaRPr lang="en-US" sz="1500" dirty="0">
              <a:latin typeface="Times New Roman" panose="02020603050405020304" pitchFamily="18" charset="0"/>
              <a:cs typeface="Times New Roman" panose="02020603050405020304" pitchFamily="18" charset="0"/>
            </a:endParaRPr>
          </a:p>
          <a:p>
            <a:pPr marL="355600" marR="5715" indent="-342900" algn="just">
              <a:lnSpc>
                <a:spcPct val="140000"/>
              </a:lnSpc>
              <a:spcBef>
                <a:spcPts val="100"/>
              </a:spcBef>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sentiment types and label distribution</a:t>
            </a:r>
          </a:p>
          <a:p>
            <a:pPr marL="355600" marR="5715" indent="-342900" algn="just">
              <a:lnSpc>
                <a:spcPct val="140000"/>
              </a:lnSpc>
              <a:spcBef>
                <a:spcPts val="100"/>
              </a:spcBef>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Sample data for model building</a:t>
            </a:r>
          </a:p>
          <a:p>
            <a:pPr marL="298450" marR="5715" indent="-285750" algn="just">
              <a:lnSpc>
                <a:spcPct val="140000"/>
              </a:lnSpc>
              <a:spcBef>
                <a:spcPts val="100"/>
              </a:spcBef>
              <a:buFont typeface="Wingdings" panose="05000000000000000000" pitchFamily="2" charset="2"/>
              <a:buChar char="Ø"/>
            </a:pPr>
            <a:r>
              <a:rPr lang="en-US" sz="1500" b="1" dirty="0">
                <a:latin typeface="Times New Roman" panose="02020603050405020304" pitchFamily="18" charset="0"/>
                <a:cs typeface="Times New Roman" panose="02020603050405020304" pitchFamily="18" charset="0"/>
              </a:rPr>
              <a:t>Text Preprocessing</a:t>
            </a:r>
          </a:p>
          <a:p>
            <a:pPr marL="298450" marR="5715" indent="-285750" algn="just">
              <a:lnSpc>
                <a:spcPct val="140000"/>
              </a:lnSpc>
              <a:spcBef>
                <a:spcPts val="100"/>
              </a:spcBef>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Text cleaning to normalize tweets</a:t>
            </a:r>
          </a:p>
          <a:p>
            <a:pPr marL="298450" marR="5715" indent="-285750" algn="just">
              <a:lnSpc>
                <a:spcPct val="140000"/>
              </a:lnSpc>
              <a:spcBef>
                <a:spcPts val="100"/>
              </a:spcBef>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Handle abbreviations, spell corrections</a:t>
            </a:r>
          </a:p>
          <a:p>
            <a:pPr marL="298450" marR="5715" indent="-285750" algn="just">
              <a:lnSpc>
                <a:spcPct val="140000"/>
              </a:lnSpc>
              <a:spcBef>
                <a:spcPts val="100"/>
              </a:spcBef>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Remove URLs, Twitter handles, hashtags</a:t>
            </a:r>
          </a:p>
          <a:p>
            <a:pPr marL="298450" marR="5715" indent="-285750" algn="just">
              <a:lnSpc>
                <a:spcPct val="140000"/>
              </a:lnSpc>
              <a:spcBef>
                <a:spcPts val="100"/>
              </a:spcBef>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Tokenize into words</a:t>
            </a:r>
          </a:p>
          <a:p>
            <a:pPr marL="298450" marR="5715" indent="-285750" algn="just">
              <a:lnSpc>
                <a:spcPct val="140000"/>
              </a:lnSpc>
              <a:spcBef>
                <a:spcPts val="100"/>
              </a:spcBef>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Remove stop words and punctuations</a:t>
            </a:r>
          </a:p>
          <a:p>
            <a:pPr marL="298450" marR="5715" indent="-285750" algn="just">
              <a:lnSpc>
                <a:spcPct val="140000"/>
              </a:lnSpc>
              <a:spcBef>
                <a:spcPts val="100"/>
              </a:spcBef>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Stemming/Lemmatization</a:t>
            </a:r>
          </a:p>
          <a:p>
            <a:pPr marL="298450" marR="5715" indent="-285750" algn="just">
              <a:lnSpc>
                <a:spcPct val="140000"/>
              </a:lnSpc>
              <a:spcBef>
                <a:spcPts val="100"/>
              </a:spcBef>
              <a:buFont typeface="Wingdings" panose="05000000000000000000" pitchFamily="2" charset="2"/>
              <a:buChar char="Ø"/>
            </a:pPr>
            <a:r>
              <a:rPr lang="en-US" sz="1500" b="1" dirty="0">
                <a:latin typeface="Times New Roman" panose="02020603050405020304" pitchFamily="18" charset="0"/>
                <a:cs typeface="Times New Roman" panose="02020603050405020304" pitchFamily="18" charset="0"/>
              </a:rPr>
              <a:t>Feature Engineering</a:t>
            </a:r>
          </a:p>
          <a:p>
            <a:pPr marL="298450" marR="5715" indent="-285750" algn="just">
              <a:lnSpc>
                <a:spcPct val="140000"/>
              </a:lnSpc>
              <a:spcBef>
                <a:spcPts val="100"/>
              </a:spcBef>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Bag of Words text vectorization</a:t>
            </a:r>
          </a:p>
          <a:p>
            <a:pPr marL="298450" marR="5715" indent="-285750" algn="just">
              <a:lnSpc>
                <a:spcPct val="140000"/>
              </a:lnSpc>
              <a:spcBef>
                <a:spcPts val="100"/>
              </a:spcBef>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TF-IDF vectors</a:t>
            </a:r>
          </a:p>
          <a:p>
            <a:pPr marL="298450" marR="5715" indent="-285750" algn="just">
              <a:lnSpc>
                <a:spcPct val="140000"/>
              </a:lnSpc>
              <a:spcBef>
                <a:spcPts val="100"/>
              </a:spcBef>
              <a:buFont typeface="Arial" panose="020B0604020202020204" pitchFamily="34" charset="0"/>
              <a:buChar char="•"/>
            </a:pPr>
            <a:endParaRPr lang="en-US" sz="1500" dirty="0">
              <a:latin typeface="Times New Roman" panose="02020603050405020304" pitchFamily="18" charset="0"/>
              <a:cs typeface="Times New Roman" panose="02020603050405020304" pitchFamily="18" charset="0"/>
            </a:endParaRPr>
          </a:p>
          <a:p>
            <a:pPr marL="355600" marR="5715" indent="-342900" algn="just">
              <a:lnSpc>
                <a:spcPct val="140000"/>
              </a:lnSpc>
              <a:spcBef>
                <a:spcPts val="100"/>
              </a:spcBef>
              <a:buFont typeface="Arial" panose="020B0604020202020204" pitchFamily="34" charset="0"/>
              <a:buChar char="•"/>
            </a:pPr>
            <a:endParaRPr lang="en-US" sz="15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A85F94D-CB52-E12D-3914-C289E332DE27}"/>
              </a:ext>
            </a:extLst>
          </p:cNvPr>
          <p:cNvSpPr txBox="1"/>
          <p:nvPr/>
        </p:nvSpPr>
        <p:spPr>
          <a:xfrm>
            <a:off x="1676400" y="1524000"/>
            <a:ext cx="10668000" cy="3259226"/>
          </a:xfrm>
          <a:prstGeom prst="rect">
            <a:avLst/>
          </a:prstGeom>
          <a:noFill/>
        </p:spPr>
        <p:txBody>
          <a:bodyPr wrap="square">
            <a:spAutoFit/>
          </a:bodyPr>
          <a:lstStyle/>
          <a:p>
            <a:pPr marL="355600" marR="5715" indent="-342900" algn="just">
              <a:lnSpc>
                <a:spcPct val="140000"/>
              </a:lnSpc>
              <a:spcBef>
                <a:spcPts val="100"/>
              </a:spcBef>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Word Embeddings (Word2Vec/</a:t>
            </a:r>
            <a:r>
              <a:rPr lang="en-US" sz="1600" dirty="0" err="1">
                <a:latin typeface="Times New Roman" panose="02020603050405020304" pitchFamily="18" charset="0"/>
                <a:cs typeface="Times New Roman" panose="02020603050405020304" pitchFamily="18" charset="0"/>
              </a:rPr>
              <a:t>GloVe</a:t>
            </a:r>
            <a:r>
              <a:rPr lang="en-US" sz="1600" dirty="0">
                <a:latin typeface="Times New Roman" panose="02020603050405020304" pitchFamily="18" charset="0"/>
                <a:cs typeface="Times New Roman" panose="02020603050405020304" pitchFamily="18" charset="0"/>
              </a:rPr>
              <a:t>)</a:t>
            </a:r>
          </a:p>
          <a:p>
            <a:pPr marL="355600" marR="5715" indent="-342900" algn="just">
              <a:lnSpc>
                <a:spcPct val="140000"/>
              </a:lnSpc>
              <a:spcBef>
                <a:spcPts val="100"/>
              </a:spcBef>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Model Building</a:t>
            </a:r>
          </a:p>
          <a:p>
            <a:pPr marL="355600" marR="5715" indent="-342900" algn="just">
              <a:lnSpc>
                <a:spcPct val="140000"/>
              </a:lnSpc>
              <a:spcBef>
                <a:spcPts val="100"/>
              </a:spcBef>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Split data into train-test sets</a:t>
            </a:r>
          </a:p>
          <a:p>
            <a:pPr marL="355600" marR="5715" indent="-342900" algn="just">
              <a:lnSpc>
                <a:spcPct val="140000"/>
              </a:lnSpc>
              <a:spcBef>
                <a:spcPts val="100"/>
              </a:spcBef>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Building classification models - Logistic Regression, Naive Bayes, Random forest</a:t>
            </a:r>
          </a:p>
          <a:p>
            <a:pPr marL="355600" marR="5715" indent="-342900" algn="just">
              <a:lnSpc>
                <a:spcPct val="140000"/>
              </a:lnSpc>
              <a:spcBef>
                <a:spcPts val="100"/>
              </a:spcBef>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Tuning model hyperparameters</a:t>
            </a:r>
          </a:p>
          <a:p>
            <a:pPr marL="355600" marR="5715" indent="-342900" algn="just">
              <a:lnSpc>
                <a:spcPct val="140000"/>
              </a:lnSpc>
              <a:spcBef>
                <a:spcPts val="100"/>
              </a:spcBef>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Model Evaluation</a:t>
            </a:r>
          </a:p>
          <a:p>
            <a:pPr marL="355600" marR="5715" indent="-342900" algn="just">
              <a:lnSpc>
                <a:spcPct val="140000"/>
              </a:lnSpc>
              <a:spcBef>
                <a:spcPts val="100"/>
              </a:spcBef>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Evaluation metrics - accuracy, precision, recall, F1-score</a:t>
            </a:r>
          </a:p>
          <a:p>
            <a:pPr marL="355600" marR="5715" indent="-342900" algn="just">
              <a:lnSpc>
                <a:spcPct val="140000"/>
              </a:lnSpc>
              <a:spcBef>
                <a:spcPts val="100"/>
              </a:spcBef>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Confusion matrix</a:t>
            </a:r>
          </a:p>
          <a:p>
            <a:pPr marL="355600" marR="5715" indent="-342900" algn="just">
              <a:lnSpc>
                <a:spcPct val="140000"/>
              </a:lnSpc>
              <a:spcBef>
                <a:spcPts val="100"/>
              </a:spcBef>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Classification reports</a:t>
            </a:r>
          </a:p>
        </p:txBody>
      </p:sp>
    </p:spTree>
    <p:extLst>
      <p:ext uri="{BB962C8B-B14F-4D97-AF65-F5344CB8AC3E}">
        <p14:creationId xmlns:p14="http://schemas.microsoft.com/office/powerpoint/2010/main" val="8681350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671952" y="646252"/>
            <a:ext cx="2052448" cy="566822"/>
          </a:xfrm>
          <a:prstGeom prst="rect">
            <a:avLst/>
          </a:prstGeom>
        </p:spPr>
        <p:txBody>
          <a:bodyPr vert="horz" wrap="square" lIns="0" tIns="12700" rIns="0" bIns="0" rtlCol="0">
            <a:spAutoFit/>
          </a:bodyPr>
          <a:lstStyle/>
          <a:p>
            <a:pPr marL="12700">
              <a:lnSpc>
                <a:spcPct val="100000"/>
              </a:lnSpc>
              <a:spcBef>
                <a:spcPts val="100"/>
              </a:spcBef>
            </a:pPr>
            <a:r>
              <a:rPr lang="en-IN" b="1" spc="-190" dirty="0">
                <a:latin typeface="Times New Roman" panose="02020603050405020304" pitchFamily="18" charset="0"/>
                <a:cs typeface="Times New Roman" panose="02020603050405020304" pitchFamily="18" charset="0"/>
              </a:rPr>
              <a:t>RESULT</a:t>
            </a:r>
          </a:p>
        </p:txBody>
      </p:sp>
      <p:pic>
        <p:nvPicPr>
          <p:cNvPr id="4" name="Picture 3">
            <a:extLst>
              <a:ext uri="{FF2B5EF4-FFF2-40B4-BE49-F238E27FC236}">
                <a16:creationId xmlns:a16="http://schemas.microsoft.com/office/drawing/2014/main" id="{A2C92018-01D1-C39B-225E-F8A858EE2DDB}"/>
              </a:ext>
            </a:extLst>
          </p:cNvPr>
          <p:cNvPicPr>
            <a:picLocks noChangeAspect="1"/>
          </p:cNvPicPr>
          <p:nvPr/>
        </p:nvPicPr>
        <p:blipFill>
          <a:blip r:embed="rId2"/>
          <a:stretch>
            <a:fillRect/>
          </a:stretch>
        </p:blipFill>
        <p:spPr>
          <a:xfrm>
            <a:off x="3352800" y="1447800"/>
            <a:ext cx="4861981" cy="2080440"/>
          </a:xfrm>
          <a:prstGeom prst="rect">
            <a:avLst/>
          </a:prstGeom>
        </p:spPr>
      </p:pic>
      <p:pic>
        <p:nvPicPr>
          <p:cNvPr id="9" name="Picture 8">
            <a:extLst>
              <a:ext uri="{FF2B5EF4-FFF2-40B4-BE49-F238E27FC236}">
                <a16:creationId xmlns:a16="http://schemas.microsoft.com/office/drawing/2014/main" id="{E5262DC9-EBA1-F2E4-DA3A-F4C399A656A0}"/>
              </a:ext>
            </a:extLst>
          </p:cNvPr>
          <p:cNvPicPr>
            <a:picLocks noChangeAspect="1"/>
          </p:cNvPicPr>
          <p:nvPr/>
        </p:nvPicPr>
        <p:blipFill>
          <a:blip r:embed="rId3"/>
          <a:stretch>
            <a:fillRect/>
          </a:stretch>
        </p:blipFill>
        <p:spPr>
          <a:xfrm>
            <a:off x="1828800" y="3719331"/>
            <a:ext cx="8085521" cy="204233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671952" y="1090930"/>
            <a:ext cx="138430" cy="513715"/>
          </a:xfrm>
          <a:prstGeom prst="rect">
            <a:avLst/>
          </a:prstGeom>
        </p:spPr>
        <p:txBody>
          <a:bodyPr vert="horz" wrap="square" lIns="0" tIns="13335" rIns="0" bIns="0" rtlCol="0">
            <a:spAutoFit/>
          </a:bodyPr>
          <a:lstStyle/>
          <a:p>
            <a:pPr marL="12700">
              <a:lnSpc>
                <a:spcPct val="100000"/>
              </a:lnSpc>
              <a:spcBef>
                <a:spcPts val="105"/>
              </a:spcBef>
            </a:pPr>
            <a:r>
              <a:rPr sz="3200" spc="-330" dirty="0">
                <a:solidFill>
                  <a:srgbClr val="252525"/>
                </a:solidFill>
                <a:latin typeface="Verdana"/>
                <a:cs typeface="Verdana"/>
              </a:rPr>
              <a:t>.</a:t>
            </a:r>
            <a:endParaRPr sz="3200">
              <a:latin typeface="Verdana"/>
              <a:cs typeface="Verdana"/>
            </a:endParaRPr>
          </a:p>
        </p:txBody>
      </p:sp>
      <p:pic>
        <p:nvPicPr>
          <p:cNvPr id="4" name="Picture 3">
            <a:extLst>
              <a:ext uri="{FF2B5EF4-FFF2-40B4-BE49-F238E27FC236}">
                <a16:creationId xmlns:a16="http://schemas.microsoft.com/office/drawing/2014/main" id="{05113924-CA9D-20C2-5B02-59DC9BAAEA57}"/>
              </a:ext>
            </a:extLst>
          </p:cNvPr>
          <p:cNvPicPr>
            <a:picLocks noChangeAspect="1"/>
          </p:cNvPicPr>
          <p:nvPr/>
        </p:nvPicPr>
        <p:blipFill>
          <a:blip r:embed="rId2"/>
          <a:stretch>
            <a:fillRect/>
          </a:stretch>
        </p:blipFill>
        <p:spPr>
          <a:xfrm>
            <a:off x="3585375" y="362477"/>
            <a:ext cx="4732430" cy="1242168"/>
          </a:xfrm>
          <a:prstGeom prst="rect">
            <a:avLst/>
          </a:prstGeom>
        </p:spPr>
      </p:pic>
      <p:pic>
        <p:nvPicPr>
          <p:cNvPr id="7" name="Picture 6">
            <a:extLst>
              <a:ext uri="{FF2B5EF4-FFF2-40B4-BE49-F238E27FC236}">
                <a16:creationId xmlns:a16="http://schemas.microsoft.com/office/drawing/2014/main" id="{A9D71738-7AFB-CA4A-9448-B77E3D09432E}"/>
              </a:ext>
            </a:extLst>
          </p:cNvPr>
          <p:cNvPicPr>
            <a:picLocks noChangeAspect="1"/>
          </p:cNvPicPr>
          <p:nvPr/>
        </p:nvPicPr>
        <p:blipFill>
          <a:blip r:embed="rId3"/>
          <a:stretch>
            <a:fillRect/>
          </a:stretch>
        </p:blipFill>
        <p:spPr>
          <a:xfrm>
            <a:off x="1676399" y="1802447"/>
            <a:ext cx="8550381" cy="2613887"/>
          </a:xfrm>
          <a:prstGeom prst="rect">
            <a:avLst/>
          </a:prstGeom>
        </p:spPr>
      </p:pic>
      <p:pic>
        <p:nvPicPr>
          <p:cNvPr id="9" name="Picture 8">
            <a:extLst>
              <a:ext uri="{FF2B5EF4-FFF2-40B4-BE49-F238E27FC236}">
                <a16:creationId xmlns:a16="http://schemas.microsoft.com/office/drawing/2014/main" id="{B577DF87-666B-D7AA-0FAE-1E66BC4C93BF}"/>
              </a:ext>
            </a:extLst>
          </p:cNvPr>
          <p:cNvPicPr>
            <a:picLocks noChangeAspect="1"/>
          </p:cNvPicPr>
          <p:nvPr/>
        </p:nvPicPr>
        <p:blipFill>
          <a:blip r:embed="rId4"/>
          <a:stretch>
            <a:fillRect/>
          </a:stretch>
        </p:blipFill>
        <p:spPr>
          <a:xfrm>
            <a:off x="3733800" y="4633186"/>
            <a:ext cx="4584005" cy="199965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A300BEF-8801-0154-8E26-CFA1635E2102}"/>
              </a:ext>
            </a:extLst>
          </p:cNvPr>
          <p:cNvPicPr>
            <a:picLocks noChangeAspect="1"/>
          </p:cNvPicPr>
          <p:nvPr/>
        </p:nvPicPr>
        <p:blipFill>
          <a:blip r:embed="rId2"/>
          <a:stretch>
            <a:fillRect/>
          </a:stretch>
        </p:blipFill>
        <p:spPr>
          <a:xfrm>
            <a:off x="1828800" y="1028133"/>
            <a:ext cx="8931090" cy="5696517"/>
          </a:xfrm>
          <a:prstGeom prst="rect">
            <a:avLst/>
          </a:prstGeom>
        </p:spPr>
      </p:pic>
      <p:sp>
        <p:nvSpPr>
          <p:cNvPr id="5" name="TextBox 4">
            <a:extLst>
              <a:ext uri="{FF2B5EF4-FFF2-40B4-BE49-F238E27FC236}">
                <a16:creationId xmlns:a16="http://schemas.microsoft.com/office/drawing/2014/main" id="{F51510B3-1006-4F52-6FB7-11A4D319CA48}"/>
              </a:ext>
            </a:extLst>
          </p:cNvPr>
          <p:cNvSpPr txBox="1"/>
          <p:nvPr/>
        </p:nvSpPr>
        <p:spPr>
          <a:xfrm>
            <a:off x="4114800" y="133350"/>
            <a:ext cx="8229600" cy="707886"/>
          </a:xfrm>
          <a:prstGeom prst="rect">
            <a:avLst/>
          </a:prstGeom>
          <a:noFill/>
        </p:spPr>
        <p:txBody>
          <a:bodyPr wrap="square" rtlCol="0">
            <a:spAutoFit/>
          </a:bodyPr>
          <a:lstStyle/>
          <a:p>
            <a:r>
              <a:rPr lang="en-US" sz="4000" dirty="0">
                <a:solidFill>
                  <a:schemeClr val="accent1"/>
                </a:solidFill>
              </a:rPr>
              <a:t>WORD CLOUD</a:t>
            </a:r>
            <a:endParaRPr lang="en-GB" sz="4000" dirty="0">
              <a:solidFill>
                <a:schemeClr val="accent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8F55698-00AD-98FA-725F-72B598520CA6}"/>
              </a:ext>
            </a:extLst>
          </p:cNvPr>
          <p:cNvPicPr>
            <a:picLocks noChangeAspect="1"/>
          </p:cNvPicPr>
          <p:nvPr/>
        </p:nvPicPr>
        <p:blipFill>
          <a:blip r:embed="rId2"/>
          <a:stretch>
            <a:fillRect/>
          </a:stretch>
        </p:blipFill>
        <p:spPr>
          <a:xfrm>
            <a:off x="1905000" y="1219200"/>
            <a:ext cx="8584383" cy="5401972"/>
          </a:xfrm>
          <a:prstGeom prst="rect">
            <a:avLst/>
          </a:prstGeom>
        </p:spPr>
      </p:pic>
      <p:sp>
        <p:nvSpPr>
          <p:cNvPr id="5" name="TextBox 4">
            <a:extLst>
              <a:ext uri="{FF2B5EF4-FFF2-40B4-BE49-F238E27FC236}">
                <a16:creationId xmlns:a16="http://schemas.microsoft.com/office/drawing/2014/main" id="{B1C758AA-6CED-2FD6-51CF-DC9F600515B5}"/>
              </a:ext>
            </a:extLst>
          </p:cNvPr>
          <p:cNvSpPr txBox="1"/>
          <p:nvPr/>
        </p:nvSpPr>
        <p:spPr>
          <a:xfrm>
            <a:off x="3124200" y="381000"/>
            <a:ext cx="7848600" cy="646331"/>
          </a:xfrm>
          <a:prstGeom prst="rect">
            <a:avLst/>
          </a:prstGeom>
          <a:noFill/>
        </p:spPr>
        <p:txBody>
          <a:bodyPr wrap="square" rtlCol="0">
            <a:spAutoFit/>
          </a:bodyPr>
          <a:lstStyle/>
          <a:p>
            <a:r>
              <a:rPr lang="en-US" sz="3600" dirty="0">
                <a:solidFill>
                  <a:schemeClr val="accent1"/>
                </a:solidFill>
              </a:rPr>
              <a:t>POSITIVE WORD’S CLOUD</a:t>
            </a:r>
            <a:endParaRPr lang="en-GB" sz="3600" dirty="0">
              <a:solidFill>
                <a:schemeClr val="accent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0CD24D5-E397-765C-3953-E7F085E200BE}"/>
              </a:ext>
            </a:extLst>
          </p:cNvPr>
          <p:cNvPicPr>
            <a:picLocks noChangeAspect="1"/>
          </p:cNvPicPr>
          <p:nvPr/>
        </p:nvPicPr>
        <p:blipFill>
          <a:blip r:embed="rId2"/>
          <a:stretch>
            <a:fillRect/>
          </a:stretch>
        </p:blipFill>
        <p:spPr>
          <a:xfrm>
            <a:off x="1828800" y="1125081"/>
            <a:ext cx="8721542" cy="5504319"/>
          </a:xfrm>
          <a:prstGeom prst="rect">
            <a:avLst/>
          </a:prstGeom>
        </p:spPr>
      </p:pic>
      <p:sp>
        <p:nvSpPr>
          <p:cNvPr id="6" name="TextBox 5">
            <a:extLst>
              <a:ext uri="{FF2B5EF4-FFF2-40B4-BE49-F238E27FC236}">
                <a16:creationId xmlns:a16="http://schemas.microsoft.com/office/drawing/2014/main" id="{6D36266D-7BE5-9A3D-EC65-5EC3C64ED59B}"/>
              </a:ext>
            </a:extLst>
          </p:cNvPr>
          <p:cNvSpPr txBox="1"/>
          <p:nvPr/>
        </p:nvSpPr>
        <p:spPr>
          <a:xfrm>
            <a:off x="3124200" y="228600"/>
            <a:ext cx="8153400" cy="707886"/>
          </a:xfrm>
          <a:prstGeom prst="rect">
            <a:avLst/>
          </a:prstGeom>
          <a:noFill/>
        </p:spPr>
        <p:txBody>
          <a:bodyPr wrap="square" rtlCol="0">
            <a:spAutoFit/>
          </a:bodyPr>
          <a:lstStyle/>
          <a:p>
            <a:r>
              <a:rPr lang="en-US" sz="4000" dirty="0">
                <a:solidFill>
                  <a:schemeClr val="accent1"/>
                </a:solidFill>
              </a:rPr>
              <a:t>NEGATIVE WORD’S CLOUD</a:t>
            </a:r>
            <a:endParaRPr lang="en-GB" sz="4000" dirty="0">
              <a:solidFill>
                <a:schemeClr val="accent1"/>
              </a:solidFill>
            </a:endParaRPr>
          </a:p>
        </p:txBody>
      </p:sp>
    </p:spTree>
    <p:extLst>
      <p:ext uri="{BB962C8B-B14F-4D97-AF65-F5344CB8AC3E}">
        <p14:creationId xmlns:p14="http://schemas.microsoft.com/office/powerpoint/2010/main" val="42525112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35AD716-B4D5-448C-DE0E-1F1AFE2D92A6}"/>
              </a:ext>
            </a:extLst>
          </p:cNvPr>
          <p:cNvPicPr>
            <a:picLocks noChangeAspect="1"/>
          </p:cNvPicPr>
          <p:nvPr/>
        </p:nvPicPr>
        <p:blipFill>
          <a:blip r:embed="rId2"/>
          <a:stretch>
            <a:fillRect/>
          </a:stretch>
        </p:blipFill>
        <p:spPr>
          <a:xfrm>
            <a:off x="4495800" y="533400"/>
            <a:ext cx="3033023" cy="2027096"/>
          </a:xfrm>
          <a:prstGeom prst="rect">
            <a:avLst/>
          </a:prstGeom>
        </p:spPr>
      </p:pic>
      <p:pic>
        <p:nvPicPr>
          <p:cNvPr id="6" name="Picture 5">
            <a:extLst>
              <a:ext uri="{FF2B5EF4-FFF2-40B4-BE49-F238E27FC236}">
                <a16:creationId xmlns:a16="http://schemas.microsoft.com/office/drawing/2014/main" id="{463B9A9A-1DF3-C69B-639E-56C87EAC4C8E}"/>
              </a:ext>
            </a:extLst>
          </p:cNvPr>
          <p:cNvPicPr>
            <a:picLocks noChangeAspect="1"/>
          </p:cNvPicPr>
          <p:nvPr/>
        </p:nvPicPr>
        <p:blipFill>
          <a:blip r:embed="rId3"/>
          <a:stretch>
            <a:fillRect/>
          </a:stretch>
        </p:blipFill>
        <p:spPr>
          <a:xfrm>
            <a:off x="2590800" y="2667000"/>
            <a:ext cx="6934200" cy="4040329"/>
          </a:xfrm>
          <a:prstGeom prst="rect">
            <a:avLst/>
          </a:prstGeom>
        </p:spPr>
      </p:pic>
    </p:spTree>
    <p:extLst>
      <p:ext uri="{BB962C8B-B14F-4D97-AF65-F5344CB8AC3E}">
        <p14:creationId xmlns:p14="http://schemas.microsoft.com/office/powerpoint/2010/main" val="38821262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5E53994-A2F6-5F55-8E07-CE0388D2EE89}"/>
              </a:ext>
            </a:extLst>
          </p:cNvPr>
          <p:cNvPicPr>
            <a:picLocks noChangeAspect="1"/>
          </p:cNvPicPr>
          <p:nvPr/>
        </p:nvPicPr>
        <p:blipFill>
          <a:blip r:embed="rId2"/>
          <a:stretch>
            <a:fillRect/>
          </a:stretch>
        </p:blipFill>
        <p:spPr>
          <a:xfrm>
            <a:off x="4629023" y="533400"/>
            <a:ext cx="2933954" cy="2118544"/>
          </a:xfrm>
          <a:prstGeom prst="rect">
            <a:avLst/>
          </a:prstGeom>
        </p:spPr>
      </p:pic>
      <p:pic>
        <p:nvPicPr>
          <p:cNvPr id="6" name="Picture 5">
            <a:extLst>
              <a:ext uri="{FF2B5EF4-FFF2-40B4-BE49-F238E27FC236}">
                <a16:creationId xmlns:a16="http://schemas.microsoft.com/office/drawing/2014/main" id="{47156FB0-FC7C-3702-CC56-519E719A81BB}"/>
              </a:ext>
            </a:extLst>
          </p:cNvPr>
          <p:cNvPicPr>
            <a:picLocks noChangeAspect="1"/>
          </p:cNvPicPr>
          <p:nvPr/>
        </p:nvPicPr>
        <p:blipFill>
          <a:blip r:embed="rId3"/>
          <a:stretch>
            <a:fillRect/>
          </a:stretch>
        </p:blipFill>
        <p:spPr>
          <a:xfrm>
            <a:off x="2819400" y="2825162"/>
            <a:ext cx="6705600" cy="3828585"/>
          </a:xfrm>
          <a:prstGeom prst="rect">
            <a:avLst/>
          </a:prstGeom>
        </p:spPr>
      </p:pic>
    </p:spTree>
    <p:extLst>
      <p:ext uri="{BB962C8B-B14F-4D97-AF65-F5344CB8AC3E}">
        <p14:creationId xmlns:p14="http://schemas.microsoft.com/office/powerpoint/2010/main" val="33283297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CC4B3AE2-165C-5022-A475-E98ACA92746E}"/>
              </a:ext>
            </a:extLst>
          </p:cNvPr>
          <p:cNvGraphicFramePr>
            <a:graphicFrameLocks noGrp="1"/>
          </p:cNvGraphicFramePr>
          <p:nvPr>
            <p:extLst>
              <p:ext uri="{D42A27DB-BD31-4B8C-83A1-F6EECF244321}">
                <p14:modId xmlns:p14="http://schemas.microsoft.com/office/powerpoint/2010/main" val="998649767"/>
              </p:ext>
            </p:extLst>
          </p:nvPr>
        </p:nvGraphicFramePr>
        <p:xfrm>
          <a:off x="381000" y="1600200"/>
          <a:ext cx="6172200" cy="4314612"/>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1011284928"/>
                    </a:ext>
                  </a:extLst>
                </a:gridCol>
                <a:gridCol w="2057400">
                  <a:extLst>
                    <a:ext uri="{9D8B030D-6E8A-4147-A177-3AD203B41FA5}">
                      <a16:colId xmlns:a16="http://schemas.microsoft.com/office/drawing/2014/main" val="4227476155"/>
                    </a:ext>
                  </a:extLst>
                </a:gridCol>
                <a:gridCol w="2057400">
                  <a:extLst>
                    <a:ext uri="{9D8B030D-6E8A-4147-A177-3AD203B41FA5}">
                      <a16:colId xmlns:a16="http://schemas.microsoft.com/office/drawing/2014/main" val="3600215143"/>
                    </a:ext>
                  </a:extLst>
                </a:gridCol>
              </a:tblGrid>
              <a:tr h="1078653">
                <a:tc>
                  <a:txBody>
                    <a:bodyPr/>
                    <a:lstStyle/>
                    <a:p>
                      <a:r>
                        <a:rPr lang="en-US" dirty="0"/>
                        <a:t> </a:t>
                      </a:r>
                    </a:p>
                    <a:p>
                      <a:r>
                        <a:rPr lang="en-US" dirty="0"/>
                        <a:t>           model</a:t>
                      </a:r>
                      <a:endParaRPr lang="en-GB" dirty="0"/>
                    </a:p>
                  </a:txBody>
                  <a:tcPr/>
                </a:tc>
                <a:tc>
                  <a:txBody>
                    <a:bodyPr/>
                    <a:lstStyle/>
                    <a:p>
                      <a:endParaRPr lang="en-US" dirty="0"/>
                    </a:p>
                    <a:p>
                      <a:r>
                        <a:rPr lang="en-US" dirty="0"/>
                        <a:t>      Accuracy score</a:t>
                      </a:r>
                      <a:endParaRPr lang="en-GB" dirty="0"/>
                    </a:p>
                  </a:txBody>
                  <a:tcPr/>
                </a:tc>
                <a:tc>
                  <a:txBody>
                    <a:bodyPr/>
                    <a:lstStyle/>
                    <a:p>
                      <a:r>
                        <a:rPr lang="en-US" dirty="0"/>
                        <a:t>  </a:t>
                      </a:r>
                    </a:p>
                    <a:p>
                      <a:r>
                        <a:rPr lang="en-US" dirty="0"/>
                        <a:t>          F1-score</a:t>
                      </a:r>
                      <a:endParaRPr lang="en-GB" dirty="0"/>
                    </a:p>
                  </a:txBody>
                  <a:tcPr/>
                </a:tc>
                <a:extLst>
                  <a:ext uri="{0D108BD9-81ED-4DB2-BD59-A6C34878D82A}">
                    <a16:rowId xmlns:a16="http://schemas.microsoft.com/office/drawing/2014/main" val="523633305"/>
                  </a:ext>
                </a:extLst>
              </a:tr>
              <a:tr h="1078653">
                <a:tc>
                  <a:txBody>
                    <a:bodyPr/>
                    <a:lstStyle/>
                    <a:p>
                      <a:endParaRPr lang="en-US" dirty="0"/>
                    </a:p>
                    <a:p>
                      <a:r>
                        <a:rPr lang="en-US" dirty="0"/>
                        <a:t>   Logistic         Regression</a:t>
                      </a:r>
                      <a:endParaRPr lang="en-GB" dirty="0"/>
                    </a:p>
                  </a:txBody>
                  <a:tcPr/>
                </a:tc>
                <a:tc>
                  <a:txBody>
                    <a:bodyPr/>
                    <a:lstStyle/>
                    <a:p>
                      <a:endParaRPr lang="en-US" dirty="0"/>
                    </a:p>
                    <a:p>
                      <a:r>
                        <a:rPr lang="en-GB" dirty="0"/>
                        <a:t>0.9433112251282693</a:t>
                      </a:r>
                    </a:p>
                  </a:txBody>
                  <a:tcPr/>
                </a:tc>
                <a:tc>
                  <a:txBody>
                    <a:bodyPr/>
                    <a:lstStyle/>
                    <a:p>
                      <a:endParaRPr lang="en-US" dirty="0"/>
                    </a:p>
                    <a:p>
                      <a:r>
                        <a:rPr lang="en-GB" dirty="0"/>
                        <a:t>0.5545722713864307</a:t>
                      </a:r>
                    </a:p>
                  </a:txBody>
                  <a:tcPr/>
                </a:tc>
                <a:extLst>
                  <a:ext uri="{0D108BD9-81ED-4DB2-BD59-A6C34878D82A}">
                    <a16:rowId xmlns:a16="http://schemas.microsoft.com/office/drawing/2014/main" val="3089639135"/>
                  </a:ext>
                </a:extLst>
              </a:tr>
              <a:tr h="1078653">
                <a:tc>
                  <a:txBody>
                    <a:bodyPr/>
                    <a:lstStyle/>
                    <a:p>
                      <a:endParaRPr lang="en-US" dirty="0"/>
                    </a:p>
                    <a:p>
                      <a:r>
                        <a:rPr lang="en-GB" dirty="0"/>
                        <a:t>   Naïve bayes</a:t>
                      </a:r>
                    </a:p>
                  </a:txBody>
                  <a:tcPr/>
                </a:tc>
                <a:tc>
                  <a:txBody>
                    <a:bodyPr/>
                    <a:lstStyle/>
                    <a:p>
                      <a:endParaRPr lang="en-US" dirty="0"/>
                    </a:p>
                    <a:p>
                      <a:r>
                        <a:rPr lang="en-GB" sz="1800" b="0" i="0" kern="1200" dirty="0">
                          <a:solidFill>
                            <a:schemeClr val="dk1"/>
                          </a:solidFill>
                          <a:effectLst/>
                          <a:latin typeface="+mn-lt"/>
                          <a:ea typeface="+mn-ea"/>
                          <a:cs typeface="+mn-cs"/>
                        </a:rPr>
                        <a:t>0.9356776373420098</a:t>
                      </a:r>
                      <a:endParaRPr lang="en-GB" dirty="0"/>
                    </a:p>
                  </a:txBody>
                  <a:tcPr/>
                </a:tc>
                <a:tc>
                  <a:txBody>
                    <a:bodyPr/>
                    <a:lstStyle/>
                    <a:p>
                      <a:endParaRPr lang="en-US" dirty="0"/>
                    </a:p>
                    <a:p>
                      <a:r>
                        <a:rPr lang="en-GB" sz="1800" b="0" i="0" kern="1200" dirty="0">
                          <a:solidFill>
                            <a:schemeClr val="dk1"/>
                          </a:solidFill>
                          <a:effectLst/>
                          <a:latin typeface="+mn-lt"/>
                          <a:ea typeface="+mn-ea"/>
                          <a:cs typeface="+mn-cs"/>
                        </a:rPr>
                        <a:t>0.5344202898550724</a:t>
                      </a:r>
                      <a:endParaRPr lang="en-GB" dirty="0"/>
                    </a:p>
                  </a:txBody>
                  <a:tcPr/>
                </a:tc>
                <a:extLst>
                  <a:ext uri="{0D108BD9-81ED-4DB2-BD59-A6C34878D82A}">
                    <a16:rowId xmlns:a16="http://schemas.microsoft.com/office/drawing/2014/main" val="1366594300"/>
                  </a:ext>
                </a:extLst>
              </a:tr>
              <a:tr h="1078653">
                <a:tc>
                  <a:txBody>
                    <a:bodyPr/>
                    <a:lstStyle/>
                    <a:p>
                      <a:endParaRPr lang="en-US" dirty="0"/>
                    </a:p>
                    <a:p>
                      <a:r>
                        <a:rPr lang="en-GB" dirty="0"/>
                        <a:t>  Random Forest</a:t>
                      </a:r>
                    </a:p>
                  </a:txBody>
                  <a:tcPr/>
                </a:tc>
                <a:tc>
                  <a:txBody>
                    <a:bodyPr/>
                    <a:lstStyle/>
                    <a:p>
                      <a:endParaRPr lang="en-US" dirty="0"/>
                    </a:p>
                    <a:p>
                      <a:r>
                        <a:rPr lang="en-GB" sz="1800" b="0" i="0" kern="1200" dirty="0">
                          <a:solidFill>
                            <a:schemeClr val="dk1"/>
                          </a:solidFill>
                          <a:effectLst/>
                          <a:latin typeface="+mn-lt"/>
                          <a:ea typeface="+mn-ea"/>
                          <a:cs typeface="+mn-cs"/>
                        </a:rPr>
                        <a:t>0.9426855212113627</a:t>
                      </a:r>
                      <a:endParaRPr lang="en-GB" dirty="0"/>
                    </a:p>
                  </a:txBody>
                  <a:tcPr/>
                </a:tc>
                <a:tc>
                  <a:txBody>
                    <a:bodyPr/>
                    <a:lstStyle/>
                    <a:p>
                      <a:endParaRPr lang="en-US" dirty="0"/>
                    </a:p>
                    <a:p>
                      <a:r>
                        <a:rPr lang="en-GB" sz="1800" b="0" i="0" kern="1200" dirty="0">
                          <a:solidFill>
                            <a:schemeClr val="dk1"/>
                          </a:solidFill>
                          <a:effectLst/>
                          <a:latin typeface="+mn-lt"/>
                          <a:ea typeface="+mn-ea"/>
                          <a:cs typeface="+mn-cs"/>
                        </a:rPr>
                        <a:t>0.573556797020484</a:t>
                      </a:r>
                      <a:endParaRPr lang="en-GB" dirty="0"/>
                    </a:p>
                  </a:txBody>
                  <a:tcPr/>
                </a:tc>
                <a:extLst>
                  <a:ext uri="{0D108BD9-81ED-4DB2-BD59-A6C34878D82A}">
                    <a16:rowId xmlns:a16="http://schemas.microsoft.com/office/drawing/2014/main" val="1780818739"/>
                  </a:ext>
                </a:extLst>
              </a:tr>
            </a:tbl>
          </a:graphicData>
        </a:graphic>
      </p:graphicFrame>
      <p:sp>
        <p:nvSpPr>
          <p:cNvPr id="5" name="TextBox 4">
            <a:extLst>
              <a:ext uri="{FF2B5EF4-FFF2-40B4-BE49-F238E27FC236}">
                <a16:creationId xmlns:a16="http://schemas.microsoft.com/office/drawing/2014/main" id="{7F34B1FE-A315-02DE-7B84-94E99418E4CF}"/>
              </a:ext>
            </a:extLst>
          </p:cNvPr>
          <p:cNvSpPr txBox="1"/>
          <p:nvPr/>
        </p:nvSpPr>
        <p:spPr>
          <a:xfrm>
            <a:off x="2667000" y="476905"/>
            <a:ext cx="7772400" cy="523220"/>
          </a:xfrm>
          <a:prstGeom prst="rect">
            <a:avLst/>
          </a:prstGeom>
          <a:noFill/>
        </p:spPr>
        <p:txBody>
          <a:bodyPr wrap="square" rtlCol="0">
            <a:spAutoFit/>
          </a:bodyPr>
          <a:lstStyle/>
          <a:p>
            <a:r>
              <a:rPr lang="en-US" sz="2800" dirty="0">
                <a:solidFill>
                  <a:schemeClr val="accent1"/>
                </a:solidFill>
              </a:rPr>
              <a:t>COMAPARING THE TRAINING MODELS</a:t>
            </a:r>
            <a:endParaRPr lang="en-GB" sz="2800" dirty="0">
              <a:solidFill>
                <a:schemeClr val="accent1"/>
              </a:solidFill>
            </a:endParaRPr>
          </a:p>
        </p:txBody>
      </p:sp>
      <p:graphicFrame>
        <p:nvGraphicFramePr>
          <p:cNvPr id="6" name="Chart 5">
            <a:extLst>
              <a:ext uri="{FF2B5EF4-FFF2-40B4-BE49-F238E27FC236}">
                <a16:creationId xmlns:a16="http://schemas.microsoft.com/office/drawing/2014/main" id="{A8E7B9CC-4275-47F4-77D9-B24E9AF254E8}"/>
              </a:ext>
            </a:extLst>
          </p:cNvPr>
          <p:cNvGraphicFramePr/>
          <p:nvPr>
            <p:extLst>
              <p:ext uri="{D42A27DB-BD31-4B8C-83A1-F6EECF244321}">
                <p14:modId xmlns:p14="http://schemas.microsoft.com/office/powerpoint/2010/main" val="2599956588"/>
              </p:ext>
            </p:extLst>
          </p:nvPr>
        </p:nvGraphicFramePr>
        <p:xfrm>
          <a:off x="6792407" y="1600201"/>
          <a:ext cx="5247193" cy="431461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9936699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182574" y="609600"/>
            <a:ext cx="8911687" cy="1280890"/>
          </a:xfrm>
          <a:prstGeom prst="rect">
            <a:avLst/>
          </a:prstGeom>
        </p:spPr>
        <p:txBody>
          <a:bodyPr vert="horz" wrap="square" lIns="0" tIns="12700" rIns="0" bIns="0" rtlCol="0">
            <a:spAutoFit/>
          </a:bodyPr>
          <a:lstStyle/>
          <a:p>
            <a:pPr marL="1780539">
              <a:lnSpc>
                <a:spcPct val="100000"/>
              </a:lnSpc>
              <a:spcBef>
                <a:spcPts val="100"/>
              </a:spcBef>
            </a:pPr>
            <a:r>
              <a:rPr lang="en-IN" b="1" spc="-10" dirty="0">
                <a:latin typeface="Times New Roman" panose="02020603050405020304" pitchFamily="18" charset="0"/>
                <a:cs typeface="Times New Roman" panose="02020603050405020304" pitchFamily="18" charset="0"/>
              </a:rPr>
              <a:t>CONCLUSION</a:t>
            </a:r>
          </a:p>
        </p:txBody>
      </p:sp>
      <p:sp>
        <p:nvSpPr>
          <p:cNvPr id="4" name="object 4"/>
          <p:cNvSpPr txBox="1">
            <a:spLocks noGrp="1"/>
          </p:cNvSpPr>
          <p:nvPr>
            <p:ph idx="1"/>
          </p:nvPr>
        </p:nvSpPr>
        <p:spPr>
          <a:xfrm>
            <a:off x="990600" y="1676400"/>
            <a:ext cx="9295637" cy="4641912"/>
          </a:xfrm>
          <a:prstGeom prst="rect">
            <a:avLst/>
          </a:prstGeom>
        </p:spPr>
        <p:txBody>
          <a:bodyPr vert="horz" wrap="square" lIns="0" tIns="150495" rIns="0" bIns="0" rtlCol="0">
            <a:spAutoFit/>
          </a:bodyPr>
          <a:lstStyle/>
          <a:p>
            <a:pPr marL="298450" indent="-285750" algn="just">
              <a:lnSpc>
                <a:spcPct val="150000"/>
              </a:lnSpc>
              <a:spcBef>
                <a:spcPts val="1185"/>
              </a:spcBef>
              <a:buFont typeface="Wingdings" panose="05000000000000000000" pitchFamily="2" charset="2"/>
              <a:buChar char="Ø"/>
              <a:tabLst>
                <a:tab pos="298450" algn="l"/>
              </a:tabLst>
            </a:pPr>
            <a:r>
              <a:rPr spc="-185" dirty="0">
                <a:latin typeface="Times New Roman" panose="02020603050405020304" pitchFamily="18" charset="0"/>
                <a:cs typeface="Times New Roman" panose="02020603050405020304" pitchFamily="18" charset="0"/>
              </a:rPr>
              <a:t>This</a:t>
            </a:r>
            <a:r>
              <a:rPr spc="2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was </a:t>
            </a:r>
            <a:r>
              <a:rPr spc="150" dirty="0">
                <a:latin typeface="Times New Roman" panose="02020603050405020304" pitchFamily="18" charset="0"/>
                <a:cs typeface="Times New Roman" panose="02020603050405020304" pitchFamily="18" charset="0"/>
              </a:rPr>
              <a:t>a</a:t>
            </a:r>
            <a:r>
              <a:rPr spc="5" dirty="0">
                <a:latin typeface="Times New Roman" panose="02020603050405020304" pitchFamily="18" charset="0"/>
                <a:cs typeface="Times New Roman" panose="02020603050405020304" pitchFamily="18" charset="0"/>
              </a:rPr>
              <a:t> </a:t>
            </a:r>
            <a:r>
              <a:rPr spc="-20" dirty="0">
                <a:latin typeface="Times New Roman" panose="02020603050405020304" pitchFamily="18" charset="0"/>
                <a:cs typeface="Times New Roman" panose="02020603050405020304" pitchFamily="18" charset="0"/>
              </a:rPr>
              <a:t>brief</a:t>
            </a:r>
            <a:r>
              <a:rPr spc="15" dirty="0">
                <a:latin typeface="Times New Roman" panose="02020603050405020304" pitchFamily="18" charset="0"/>
                <a:cs typeface="Times New Roman" panose="02020603050405020304" pitchFamily="18" charset="0"/>
              </a:rPr>
              <a:t> </a:t>
            </a:r>
            <a:r>
              <a:rPr spc="-25" dirty="0">
                <a:latin typeface="Times New Roman" panose="02020603050405020304" pitchFamily="18" charset="0"/>
                <a:cs typeface="Times New Roman" panose="02020603050405020304" pitchFamily="18" charset="0"/>
              </a:rPr>
              <a:t>presentation</a:t>
            </a:r>
            <a:r>
              <a:rPr spc="1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about</a:t>
            </a:r>
            <a:r>
              <a:rPr spc="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my</a:t>
            </a:r>
            <a:r>
              <a:rPr spc="-5" dirty="0">
                <a:latin typeface="Times New Roman" panose="02020603050405020304" pitchFamily="18" charset="0"/>
                <a:cs typeface="Times New Roman" panose="02020603050405020304" pitchFamily="18" charset="0"/>
              </a:rPr>
              <a:t> </a:t>
            </a:r>
            <a:r>
              <a:rPr spc="-95" dirty="0">
                <a:latin typeface="Times New Roman" panose="02020603050405020304" pitchFamily="18" charset="0"/>
                <a:cs typeface="Times New Roman" panose="02020603050405020304" pitchFamily="18" charset="0"/>
              </a:rPr>
              <a:t>Internship</a:t>
            </a:r>
            <a:r>
              <a:rPr dirty="0">
                <a:latin typeface="Times New Roman" panose="02020603050405020304" pitchFamily="18" charset="0"/>
                <a:cs typeface="Times New Roman" panose="02020603050405020304" pitchFamily="18" charset="0"/>
              </a:rPr>
              <a:t> at</a:t>
            </a:r>
            <a:r>
              <a:rPr spc="5" dirty="0">
                <a:latin typeface="Times New Roman" panose="02020603050405020304" pitchFamily="18" charset="0"/>
                <a:cs typeface="Times New Roman" panose="02020603050405020304" pitchFamily="18" charset="0"/>
              </a:rPr>
              <a:t> </a:t>
            </a:r>
            <a:r>
              <a:rPr lang="en-IN" spc="5" dirty="0" err="1">
                <a:latin typeface="Times New Roman" panose="02020603050405020304" pitchFamily="18" charset="0"/>
                <a:cs typeface="Times New Roman" panose="02020603050405020304" pitchFamily="18" charset="0"/>
              </a:rPr>
              <a:t>Alnitak</a:t>
            </a:r>
            <a:r>
              <a:rPr lang="en-IN" spc="5" dirty="0">
                <a:latin typeface="Times New Roman" panose="02020603050405020304" pitchFamily="18" charset="0"/>
                <a:cs typeface="Times New Roman" panose="02020603050405020304" pitchFamily="18" charset="0"/>
              </a:rPr>
              <a:t> solutions private Limited.</a:t>
            </a:r>
            <a:endParaRPr spc="-10" dirty="0">
              <a:latin typeface="Times New Roman" panose="02020603050405020304" pitchFamily="18" charset="0"/>
              <a:cs typeface="Times New Roman" panose="02020603050405020304" pitchFamily="18" charset="0"/>
            </a:endParaRPr>
          </a:p>
          <a:p>
            <a:pPr marL="299085" marR="8255" indent="-287020" algn="just">
              <a:lnSpc>
                <a:spcPct val="150000"/>
              </a:lnSpc>
              <a:buFont typeface="Wingdings" panose="05000000000000000000" pitchFamily="2" charset="2"/>
              <a:buChar char="Ø"/>
              <a:tabLst>
                <a:tab pos="299085" algn="l"/>
              </a:tabLst>
            </a:pPr>
            <a:r>
              <a:rPr lang="en-US" spc="-10" dirty="0">
                <a:latin typeface="Times New Roman" panose="02020603050405020304" pitchFamily="18" charset="0"/>
                <a:cs typeface="Times New Roman" panose="02020603050405020304" pitchFamily="18" charset="0"/>
              </a:rPr>
              <a:t>In this project, we successfully implemented an end-to-end pipeline for sentiment classification of Twitter data into positive or negative tweets based on textual content.</a:t>
            </a:r>
          </a:p>
          <a:p>
            <a:pPr marL="299085" marR="8255" indent="-287020" algn="just">
              <a:lnSpc>
                <a:spcPct val="150000"/>
              </a:lnSpc>
              <a:buFont typeface="Wingdings" panose="05000000000000000000" pitchFamily="2" charset="2"/>
              <a:buChar char="Ø"/>
              <a:tabLst>
                <a:tab pos="299085" algn="l"/>
              </a:tabLst>
            </a:pPr>
            <a:r>
              <a:rPr lang="en-US" spc="-10" dirty="0">
                <a:latin typeface="Times New Roman" panose="02020603050405020304" pitchFamily="18" charset="0"/>
                <a:cs typeface="Times New Roman" panose="02020603050405020304" pitchFamily="18" charset="0"/>
              </a:rPr>
              <a:t>The key steps included data collection, text preprocessing tasks like cleaning tweets, handling contractions, tokenizing words, removing stop words, lemmatization, </a:t>
            </a:r>
            <a:r>
              <a:rPr lang="en-US" spc="-10" dirty="0" err="1">
                <a:latin typeface="Times New Roman" panose="02020603050405020304" pitchFamily="18" charset="0"/>
                <a:cs typeface="Times New Roman" panose="02020603050405020304" pitchFamily="18" charset="0"/>
              </a:rPr>
              <a:t>etc</a:t>
            </a:r>
            <a:r>
              <a:rPr lang="en-US" spc="-10" dirty="0">
                <a:latin typeface="Times New Roman" panose="02020603050405020304" pitchFamily="18" charset="0"/>
                <a:cs typeface="Times New Roman" panose="02020603050405020304" pitchFamily="18" charset="0"/>
              </a:rPr>
              <a:t> to prepare the raw tweets data for model building. Vectorized bag-of-words representation was created from the cleaned tokens as model input features using </a:t>
            </a:r>
            <a:r>
              <a:rPr lang="en-US" spc="-10" dirty="0" err="1">
                <a:latin typeface="Times New Roman" panose="02020603050405020304" pitchFamily="18" charset="0"/>
                <a:cs typeface="Times New Roman" panose="02020603050405020304" pitchFamily="18" charset="0"/>
              </a:rPr>
              <a:t>CountVectorizer</a:t>
            </a:r>
            <a:endParaRPr lang="en-US" spc="-10" dirty="0">
              <a:latin typeface="Times New Roman" panose="02020603050405020304" pitchFamily="18" charset="0"/>
              <a:cs typeface="Times New Roman" panose="02020603050405020304" pitchFamily="18" charset="0"/>
            </a:endParaRPr>
          </a:p>
          <a:p>
            <a:pPr marL="299085" marR="8255" indent="-287020" algn="just">
              <a:lnSpc>
                <a:spcPct val="150000"/>
              </a:lnSpc>
              <a:buFont typeface="Wingdings" panose="05000000000000000000" pitchFamily="2" charset="2"/>
              <a:buChar char="Ø"/>
              <a:tabLst>
                <a:tab pos="299085" algn="l"/>
              </a:tabLst>
            </a:pPr>
            <a:r>
              <a:rPr lang="en-US" spc="-10" dirty="0">
                <a:latin typeface="Times New Roman" panose="02020603050405020304" pitchFamily="18" charset="0"/>
                <a:cs typeface="Times New Roman" panose="02020603050405020304" pitchFamily="18" charset="0"/>
              </a:rPr>
              <a:t>Overall, through this project we successfully demonstrated core concepts of applying text mining and predictive modeling techniques to analyze unstructured textual content for gaining sentiment insights on social conversations.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143000" y="609600"/>
            <a:ext cx="8911687" cy="1280890"/>
          </a:xfrm>
          <a:prstGeom prst="rect">
            <a:avLst/>
          </a:prstGeom>
        </p:spPr>
        <p:txBody>
          <a:bodyPr vert="horz" wrap="square" lIns="0" tIns="12700" rIns="0" bIns="0" rtlCol="0">
            <a:spAutoFit/>
          </a:bodyPr>
          <a:lstStyle/>
          <a:p>
            <a:pPr marL="1780539">
              <a:lnSpc>
                <a:spcPct val="100000"/>
              </a:lnSpc>
              <a:spcBef>
                <a:spcPts val="100"/>
              </a:spcBef>
            </a:pPr>
            <a:r>
              <a:rPr b="1" spc="-295" dirty="0">
                <a:latin typeface="Times New Roman" panose="02020603050405020304" pitchFamily="18" charset="0"/>
                <a:cs typeface="Times New Roman" panose="02020603050405020304" pitchFamily="18" charset="0"/>
              </a:rPr>
              <a:t>REFERENCES</a:t>
            </a:r>
          </a:p>
        </p:txBody>
      </p:sp>
      <p:sp>
        <p:nvSpPr>
          <p:cNvPr id="4" name="object 4"/>
          <p:cNvSpPr txBox="1"/>
          <p:nvPr/>
        </p:nvSpPr>
        <p:spPr>
          <a:xfrm>
            <a:off x="1524000" y="1637522"/>
            <a:ext cx="7261099" cy="4610878"/>
          </a:xfrm>
          <a:prstGeom prst="rect">
            <a:avLst/>
          </a:prstGeom>
        </p:spPr>
        <p:txBody>
          <a:bodyPr vert="horz" wrap="square" lIns="0" tIns="139065" rIns="0" bIns="0" rtlCol="0">
            <a:spAutoFit/>
          </a:bodyPr>
          <a:lstStyle/>
          <a:p>
            <a:pPr marL="298450" indent="-285750">
              <a:lnSpc>
                <a:spcPct val="100000"/>
              </a:lnSpc>
              <a:spcBef>
                <a:spcPts val="1095"/>
              </a:spcBef>
              <a:buFont typeface="Wingdings" panose="05000000000000000000" pitchFamily="2" charset="2"/>
              <a:buChar char="Ø"/>
              <a:tabLst>
                <a:tab pos="354965" algn="l"/>
              </a:tabLst>
            </a:pPr>
            <a:r>
              <a:rPr lang="en-IN" sz="1600" dirty="0">
                <a:solidFill>
                  <a:srgbClr val="00B0F0"/>
                </a:solidFill>
                <a:latin typeface="Verdana"/>
                <a:cs typeface="Verdana"/>
                <a:hlinkClick r:id="rId2">
                  <a:extLst>
                    <a:ext uri="{A12FA001-AC4F-418D-AE19-62706E023703}">
                      <ahyp:hlinkClr xmlns:ahyp="http://schemas.microsoft.com/office/drawing/2018/hyperlinkcolor" val="tx"/>
                    </a:ext>
                  </a:extLst>
                </a:hlinkClick>
              </a:rPr>
              <a:t>https://www.geeksforgeeks.org/project-idea-ai-therapist/amp/</a:t>
            </a:r>
            <a:endParaRPr lang="en-IN" sz="1600" dirty="0">
              <a:solidFill>
                <a:srgbClr val="00B0F0"/>
              </a:solidFill>
              <a:latin typeface="Verdana"/>
              <a:cs typeface="Verdana"/>
            </a:endParaRPr>
          </a:p>
          <a:p>
            <a:pPr marL="298450" indent="-285750">
              <a:spcBef>
                <a:spcPts val="1095"/>
              </a:spcBef>
              <a:buFont typeface="Wingdings" panose="05000000000000000000" pitchFamily="2" charset="2"/>
              <a:buChar char="Ø"/>
              <a:tabLst>
                <a:tab pos="354965" algn="l"/>
              </a:tabLst>
            </a:pPr>
            <a:r>
              <a:rPr lang="en-GB" sz="1600" b="0" i="0" dirty="0">
                <a:solidFill>
                  <a:srgbClr val="1C1917"/>
                </a:solidFill>
                <a:effectLst/>
                <a:latin typeface="Times New Roman" panose="02020603050405020304" pitchFamily="18" charset="0"/>
                <a:cs typeface="Times New Roman" panose="02020603050405020304" pitchFamily="18" charset="0"/>
              </a:rPr>
              <a:t>Liu, B. (2012). Sentiment analysis and opinion mining. Synthesis lectures on human language technologies, 5(1), 1-167.</a:t>
            </a:r>
            <a:endParaRPr lang="de-DE" sz="1600" dirty="0">
              <a:solidFill>
                <a:srgbClr val="00B0F0"/>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endParaRPr>
          </a:p>
          <a:p>
            <a:pPr marL="298450" indent="-285750">
              <a:lnSpc>
                <a:spcPct val="100000"/>
              </a:lnSpc>
              <a:spcBef>
                <a:spcPts val="1095"/>
              </a:spcBef>
              <a:buFont typeface="Wingdings" panose="05000000000000000000" pitchFamily="2" charset="2"/>
              <a:buChar char="Ø"/>
              <a:tabLst>
                <a:tab pos="354965" algn="l"/>
              </a:tabLst>
            </a:pPr>
            <a:r>
              <a:rPr lang="de-DE" sz="1600" dirty="0">
                <a:solidFill>
                  <a:srgbClr val="00B0F0"/>
                </a:solidFill>
                <a:latin typeface="Verdana"/>
                <a:cs typeface="Verdana"/>
                <a:hlinkClick r:id="rId4">
                  <a:extLst>
                    <a:ext uri="{A12FA001-AC4F-418D-AE19-62706E023703}">
                      <ahyp:hlinkClr xmlns:ahyp="http://schemas.microsoft.com/office/drawing/2018/hyperlinkcolor" val="tx"/>
                    </a:ext>
                  </a:extLst>
                </a:hlinkClick>
              </a:rPr>
              <a:t>https://youtu.be/4YGkfAd2iXM?si=1vbSSHpUhFD003s-</a:t>
            </a:r>
          </a:p>
          <a:p>
            <a:pPr marL="298450" indent="-285750">
              <a:lnSpc>
                <a:spcPct val="100000"/>
              </a:lnSpc>
              <a:spcBef>
                <a:spcPts val="1095"/>
              </a:spcBef>
              <a:buFont typeface="Wingdings" panose="05000000000000000000" pitchFamily="2" charset="2"/>
              <a:buChar char="Ø"/>
              <a:tabLst>
                <a:tab pos="354965" algn="l"/>
              </a:tabLst>
            </a:pPr>
            <a:r>
              <a:rPr lang="de-DE" sz="1600" dirty="0">
                <a:solidFill>
                  <a:srgbClr val="00B0F0"/>
                </a:solidFill>
                <a:latin typeface="Verdana"/>
                <a:cs typeface="Verdana"/>
              </a:rPr>
              <a:t>https://youtu.be/RLfUyn3HoaE?si=zqiB7qFGn-kR_77f</a:t>
            </a:r>
          </a:p>
          <a:p>
            <a:pPr marL="298450" indent="-285750">
              <a:spcBef>
                <a:spcPts val="1095"/>
              </a:spcBef>
              <a:buFont typeface="Wingdings" panose="05000000000000000000" pitchFamily="2" charset="2"/>
              <a:buChar char="Ø"/>
              <a:tabLst>
                <a:tab pos="354965" algn="l"/>
              </a:tabLst>
            </a:pPr>
            <a:r>
              <a:rPr lang="en-US" sz="1600" b="0" i="0" dirty="0">
                <a:solidFill>
                  <a:srgbClr val="1C1917"/>
                </a:solidFill>
                <a:effectLst/>
                <a:latin typeface="-apple-system"/>
              </a:rPr>
              <a:t>Medhat, W., Hassan, A., &amp; </a:t>
            </a:r>
            <a:r>
              <a:rPr lang="en-US" sz="1600" b="0" i="0" dirty="0" err="1">
                <a:solidFill>
                  <a:srgbClr val="1C1917"/>
                </a:solidFill>
                <a:effectLst/>
                <a:latin typeface="-apple-system"/>
              </a:rPr>
              <a:t>Korashy</a:t>
            </a:r>
            <a:r>
              <a:rPr lang="en-US" sz="1600" b="0" i="0" dirty="0">
                <a:solidFill>
                  <a:srgbClr val="1C1917"/>
                </a:solidFill>
                <a:effectLst/>
                <a:latin typeface="-apple-system"/>
              </a:rPr>
              <a:t>, H. (2014). Sentiment analysis algorithms and applications: A survey. Ain Shams Engineering Journal, 5(4), 1093-1113.</a:t>
            </a:r>
          </a:p>
          <a:p>
            <a:pPr marL="298450" indent="-285750">
              <a:spcBef>
                <a:spcPts val="1095"/>
              </a:spcBef>
              <a:buFont typeface="Wingdings" panose="05000000000000000000" pitchFamily="2" charset="2"/>
              <a:buChar char="Ø"/>
              <a:tabLst>
                <a:tab pos="354965" algn="l"/>
              </a:tabLst>
            </a:pPr>
            <a:r>
              <a:rPr lang="en-US" sz="1600" b="0" i="0" dirty="0">
                <a:solidFill>
                  <a:srgbClr val="1C1917"/>
                </a:solidFill>
                <a:effectLst/>
                <a:latin typeface="-apple-system"/>
              </a:rPr>
              <a:t>Medhat, W., Hassan, A., &amp; </a:t>
            </a:r>
            <a:r>
              <a:rPr lang="en-US" sz="1600" b="0" i="0" dirty="0" err="1">
                <a:solidFill>
                  <a:srgbClr val="1C1917"/>
                </a:solidFill>
                <a:effectLst/>
                <a:latin typeface="-apple-system"/>
              </a:rPr>
              <a:t>Korashy</a:t>
            </a:r>
            <a:r>
              <a:rPr lang="en-US" sz="1600" b="0" i="0" dirty="0">
                <a:solidFill>
                  <a:srgbClr val="1C1917"/>
                </a:solidFill>
                <a:effectLst/>
                <a:latin typeface="-apple-system"/>
              </a:rPr>
              <a:t>, H. (2014). Sentiment analysis algorithms and applications: A survey. Ain Shams Engineering Journal, 5(4), 1093-1113.</a:t>
            </a:r>
          </a:p>
          <a:p>
            <a:pPr marL="298450" indent="-285750">
              <a:lnSpc>
                <a:spcPct val="100000"/>
              </a:lnSpc>
              <a:spcBef>
                <a:spcPts val="1095"/>
              </a:spcBef>
              <a:buFont typeface="Wingdings" panose="05000000000000000000" pitchFamily="2" charset="2"/>
              <a:buChar char="Ø"/>
              <a:tabLst>
                <a:tab pos="354965" algn="l"/>
              </a:tabLst>
            </a:pPr>
            <a:endParaRPr lang="de-DE" sz="1600" dirty="0">
              <a:solidFill>
                <a:srgbClr val="00B0F0"/>
              </a:solidFill>
              <a:latin typeface="Verdana"/>
              <a:cs typeface="Verdana"/>
            </a:endParaRPr>
          </a:p>
          <a:p>
            <a:pPr marL="12700">
              <a:lnSpc>
                <a:spcPct val="100000"/>
              </a:lnSpc>
              <a:spcBef>
                <a:spcPts val="1095"/>
              </a:spcBef>
              <a:tabLst>
                <a:tab pos="354965" algn="l"/>
              </a:tabLst>
            </a:pPr>
            <a:endParaRPr lang="de-DE" sz="1600" dirty="0">
              <a:solidFill>
                <a:srgbClr val="00B0F0"/>
              </a:solidFill>
              <a:latin typeface="Verdana"/>
              <a:cs typeface="Verdana"/>
            </a:endParaRPr>
          </a:p>
          <a:p>
            <a:pPr marL="298450" indent="-285750">
              <a:lnSpc>
                <a:spcPct val="100000"/>
              </a:lnSpc>
              <a:spcBef>
                <a:spcPts val="1095"/>
              </a:spcBef>
              <a:buFont typeface="Wingdings" panose="05000000000000000000" pitchFamily="2" charset="2"/>
              <a:buChar char="Ø"/>
              <a:tabLst>
                <a:tab pos="354965" algn="l"/>
              </a:tabLst>
            </a:pPr>
            <a:endParaRPr lang="en-IN" sz="1600" dirty="0">
              <a:solidFill>
                <a:srgbClr val="00B0F0"/>
              </a:solidFill>
              <a:latin typeface="Verdana"/>
              <a:cs typeface="Verdana"/>
            </a:endParaRPr>
          </a:p>
          <a:p>
            <a:pPr marL="298450" indent="-285750">
              <a:lnSpc>
                <a:spcPct val="100000"/>
              </a:lnSpc>
              <a:spcBef>
                <a:spcPts val="1095"/>
              </a:spcBef>
              <a:buFont typeface="Wingdings" panose="05000000000000000000" pitchFamily="2" charset="2"/>
              <a:buChar char="Ø"/>
              <a:tabLst>
                <a:tab pos="354965" algn="l"/>
              </a:tabLst>
            </a:pPr>
            <a:endParaRPr sz="1600" dirty="0">
              <a:solidFill>
                <a:srgbClr val="00B0F0"/>
              </a:solidFill>
              <a:latin typeface="Verdana"/>
              <a:cs typeface="Verdan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60C8805-2DF6-EBA1-E8B5-93D9D4F8895B}"/>
              </a:ext>
            </a:extLst>
          </p:cNvPr>
          <p:cNvSpPr txBox="1"/>
          <p:nvPr/>
        </p:nvSpPr>
        <p:spPr>
          <a:xfrm>
            <a:off x="3048000" y="2644170"/>
            <a:ext cx="7010400" cy="1569660"/>
          </a:xfrm>
          <a:prstGeom prst="rect">
            <a:avLst/>
          </a:prstGeom>
          <a:noFill/>
        </p:spPr>
        <p:txBody>
          <a:bodyPr wrap="square" rtlCol="0">
            <a:spAutoFit/>
          </a:bodyPr>
          <a:lstStyle/>
          <a:p>
            <a:r>
              <a:rPr lang="en-US" sz="9600" dirty="0">
                <a:solidFill>
                  <a:schemeClr val="accent1"/>
                </a:solidFill>
                <a:latin typeface="Algerian" panose="04020705040A02060702" pitchFamily="82" charset="0"/>
              </a:rPr>
              <a:t>THANK YOU</a:t>
            </a:r>
            <a:endParaRPr lang="en-GB" sz="9600" dirty="0">
              <a:solidFill>
                <a:schemeClr val="accent1"/>
              </a:solidFill>
              <a:latin typeface="Algerian" panose="04020705040A02060702" pitchFamily="82" charset="0"/>
            </a:endParaRPr>
          </a:p>
        </p:txBody>
      </p:sp>
    </p:spTree>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396</TotalTime>
  <Words>1679</Words>
  <Application>Microsoft Office PowerPoint</Application>
  <PresentationFormat>Widescreen</PresentationFormat>
  <Paragraphs>156</Paragraphs>
  <Slides>23</Slides>
  <Notes>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23</vt:i4>
      </vt:variant>
    </vt:vector>
  </HeadingPairs>
  <TitlesOfParts>
    <vt:vector size="34" baseType="lpstr">
      <vt:lpstr>Algerian</vt:lpstr>
      <vt:lpstr>-apple-system</vt:lpstr>
      <vt:lpstr>Arial</vt:lpstr>
      <vt:lpstr>Calibri</vt:lpstr>
      <vt:lpstr>Century Gothic</vt:lpstr>
      <vt:lpstr>Noto Sans Symbols2</vt:lpstr>
      <vt:lpstr>Times New Roman</vt:lpstr>
      <vt:lpstr>Verdana</vt:lpstr>
      <vt:lpstr>Wingdings</vt:lpstr>
      <vt:lpstr>Wingdings 3</vt:lpstr>
      <vt:lpstr>Wisp</vt:lpstr>
      <vt:lpstr>Sapthagiri College Of Engineering</vt:lpstr>
      <vt:lpstr>CONTENTS</vt:lpstr>
      <vt:lpstr>ABSTRACT</vt:lpstr>
      <vt:lpstr>INTRODUCTION</vt:lpstr>
      <vt:lpstr>      INTERNSHIP  DOMAIN         </vt:lpstr>
      <vt:lpstr>    PROJECT  INTRODUCTION</vt:lpstr>
      <vt:lpstr>COURSE OUTCOMES</vt:lpstr>
      <vt:lpstr>                               GOOGLE COLAB </vt:lpstr>
      <vt:lpstr>                              PYTHON</vt:lpstr>
      <vt:lpstr>PowerPoint Presentation</vt:lpstr>
      <vt:lpstr>MODULE SPECIFICATION</vt:lpstr>
      <vt:lpstr>PowerPoint Presentation</vt:lpstr>
      <vt:lpstr>RESULT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On “Application of Machine Learning Techniques for Hate Speech Detection in Mobile Applications”</dc:title>
  <dc:creator>Sohan Vemu</dc:creator>
  <cp:lastModifiedBy>Shravan L _SG20CS100</cp:lastModifiedBy>
  <cp:revision>28</cp:revision>
  <dcterms:created xsi:type="dcterms:W3CDTF">2024-01-12T03:42:14Z</dcterms:created>
  <dcterms:modified xsi:type="dcterms:W3CDTF">2024-01-26T10:45:22Z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2021-05-26T00:00:00Z</vt:filetime>
  </property>
  <property fmtid="{D5CDD505-2E9C-101B-9397-08002B2CF9AE}" pid="3" name="Creator">
    <vt:lpwstr>Microsoft PowerPoint v16</vt:lpwstr>
  </property>
  <property fmtid="{D5CDD505-2E9C-101B-9397-08002B2CF9AE}" pid="4" name="LastSaved">
    <vt:filetime>2024-01-12T00:00:00Z</vt:filetime>
  </property>
  <property fmtid="{D5CDD505-2E9C-101B-9397-08002B2CF9AE}" pid="5" name="Producer">
    <vt:lpwstr>3-Heights(TM) PDF Security Shell 4.8.25.2 (http://www.pdf-tools.com)</vt:lpwstr>
  </property>
</Properties>
</file>
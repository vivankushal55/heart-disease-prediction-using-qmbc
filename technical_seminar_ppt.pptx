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51" r:id="rId4"/>
  </p:sldMasterIdLst>
  <p:notesMasterIdLst>
    <p:notesMasterId r:id="rId28"/>
  </p:notesMasterIdLst>
  <p:handoutMasterIdLst>
    <p:handoutMasterId r:id="rId29"/>
  </p:handoutMasterIdLst>
  <p:sldIdLst>
    <p:sldId id="256" r:id="rId5"/>
    <p:sldId id="274" r:id="rId6"/>
    <p:sldId id="273" r:id="rId7"/>
    <p:sldId id="275" r:id="rId8"/>
    <p:sldId id="276" r:id="rId9"/>
    <p:sldId id="277" r:id="rId10"/>
    <p:sldId id="294" r:id="rId11"/>
    <p:sldId id="295" r:id="rId12"/>
    <p:sldId id="278" r:id="rId13"/>
    <p:sldId id="296" r:id="rId14"/>
    <p:sldId id="297" r:id="rId15"/>
    <p:sldId id="298" r:id="rId16"/>
    <p:sldId id="279" r:id="rId17"/>
    <p:sldId id="281" r:id="rId18"/>
    <p:sldId id="299" r:id="rId19"/>
    <p:sldId id="300" r:id="rId20"/>
    <p:sldId id="301" r:id="rId21"/>
    <p:sldId id="286" r:id="rId22"/>
    <p:sldId id="287" r:id="rId23"/>
    <p:sldId id="290" r:id="rId24"/>
    <p:sldId id="291" r:id="rId25"/>
    <p:sldId id="292" r:id="rId26"/>
    <p:sldId id="29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varScale="1">
        <p:scale>
          <a:sx n="85" d="100"/>
          <a:sy n="85" d="100"/>
        </p:scale>
        <p:origin x="547" y="6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59BEA-82BC-4476-91F2-380E77DBAD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9DE9C3-2AB8-44E5-BCFE-5DD42DFC56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D7858F-6309-4F09-BEA0-6CBF97E55806}" type="datetimeFigureOut">
              <a:rPr lang="en-US" smtClean="0"/>
              <a:t>3/25/2024</a:t>
            </a:fld>
            <a:endParaRPr lang="en-US" dirty="0"/>
          </a:p>
        </p:txBody>
      </p:sp>
      <p:sp>
        <p:nvSpPr>
          <p:cNvPr id="4" name="Footer Placeholder 3">
            <a:extLst>
              <a:ext uri="{FF2B5EF4-FFF2-40B4-BE49-F238E27FC236}">
                <a16:creationId xmlns:a16="http://schemas.microsoft.com/office/drawing/2014/main" id="{5E1B971B-9BC3-41DB-91DC-F03F5C808D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4A0720E-F4E2-435B-A885-9194BA3026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F8AE00-5498-4F06-8655-F21703489BCA}" type="slidenum">
              <a:rPr lang="en-US" smtClean="0"/>
              <a:t>‹#›</a:t>
            </a:fld>
            <a:endParaRPr lang="en-US" dirty="0"/>
          </a:p>
        </p:txBody>
      </p:sp>
    </p:spTree>
    <p:extLst>
      <p:ext uri="{BB962C8B-B14F-4D97-AF65-F5344CB8AC3E}">
        <p14:creationId xmlns:p14="http://schemas.microsoft.com/office/powerpoint/2010/main" val="377342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53C5D-CD12-6D4C-A980-0612968271E2}" type="datetimeFigureOut">
              <a:rPr lang="en-US" smtClean="0"/>
              <a:t>3/25/2024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167F0-0840-1348-BFE4-C6298BBC0698}" type="slidenum">
              <a:rPr lang="en-US" smtClean="0"/>
              <a:t>‹#›</a:t>
            </a:fld>
            <a:endParaRPr lang="en-US" dirty="0"/>
          </a:p>
        </p:txBody>
      </p:sp>
    </p:spTree>
    <p:extLst>
      <p:ext uri="{BB962C8B-B14F-4D97-AF65-F5344CB8AC3E}">
        <p14:creationId xmlns:p14="http://schemas.microsoft.com/office/powerpoint/2010/main" val="148990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noProof="0"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06772981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D41EE2-1449-2741-9D08-61623EFC2A0E}"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29492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AF7560-49B8-714F-A7F1-D946D3E64C23}"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701238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B17C1C-DA5E-F743-826B-CB70C940D4E6}" type="datetime1">
              <a:rPr lang="en-US" noProof="0" smtClean="0"/>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86075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F10E4C-E478-1D40-94DF-17D7429B053A}" type="datetime1">
              <a:rPr lang="en-US" noProof="0" smtClean="0"/>
              <a:t>3/25/2024</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337179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1A9061-1D22-724D-9508-7BAEAF287353}" type="datetime1">
              <a:rPr lang="en-US" noProof="0" smtClean="0"/>
              <a:t>3/25/2024</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585795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05E0F-8980-D24A-B2F9-0C7A13C6A6DE}" type="datetime1">
              <a:rPr lang="en-US" noProof="0" smtClean="0"/>
              <a:t>3/25/2024</a:t>
            </a:fld>
            <a:endParaRPr lang="en-US" noProof="0" dirty="0"/>
          </a:p>
        </p:txBody>
      </p:sp>
      <p:sp>
        <p:nvSpPr>
          <p:cNvPr id="3" name="Footer Placeholder 2"/>
          <p:cNvSpPr>
            <a:spLocks noGrp="1"/>
          </p:cNvSpPr>
          <p:nvPr>
            <p:ph type="ftr" sz="quarter" idx="11"/>
          </p:nvPr>
        </p:nvSpPr>
        <p:spPr/>
        <p:txBody>
          <a:bodyPr/>
          <a:lstStyle/>
          <a:p>
            <a:endParaRPr lang="en-US" noProof="0"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035171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141225505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983021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18022097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41007634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82781750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67378236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07392880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6ACA6CA-E140-824D-8E8B-5CC5036BDBAE}" type="datetime1">
              <a:rPr lang="en-US" noProof="0" smtClean="0"/>
              <a:pPr/>
              <a:t>3/25/2024</a:t>
            </a:fld>
            <a:endParaRPr lang="en-US" noProof="0" dirty="0"/>
          </a:p>
        </p:txBody>
      </p:sp>
      <p:sp>
        <p:nvSpPr>
          <p:cNvPr id="8" name="Footer Placeholder 7"/>
          <p:cNvSpPr>
            <a:spLocks noGrp="1"/>
          </p:cNvSpPr>
          <p:nvPr>
            <p:ph type="ftr" sz="quarter" idx="11"/>
          </p:nvPr>
        </p:nvSpPr>
        <p:spPr>
          <a:xfrm>
            <a:off x="561111" y="6391838"/>
            <a:ext cx="3644282" cy="304801"/>
          </a:xfrm>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98363499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57499061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65250877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Only - left">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7DD9237C-03C9-D843-906B-96D98C6B2D61}"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579578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ullets as Icons 5X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B480622-FB8F-493B-9965-971B07D752E2}"/>
              </a:ext>
            </a:extLst>
          </p:cNvPr>
          <p:cNvSpPr>
            <a:spLocks noGrp="1"/>
          </p:cNvSpPr>
          <p:nvPr>
            <p:ph type="body" sz="quarter" idx="13" hasCustomPrompt="1"/>
          </p:nvPr>
        </p:nvSpPr>
        <p:spPr>
          <a:xfrm>
            <a:off x="6792913" y="1748812"/>
            <a:ext cx="3852000" cy="720000"/>
          </a:xfrm>
          <a:prstGeom prst="roundRect">
            <a:avLst/>
          </a:prstGeom>
          <a:solidFill>
            <a:schemeClr val="bg1">
              <a:lumMod val="95000"/>
            </a:schemeClr>
          </a:solidFill>
          <a:ln w="31750">
            <a:solidFill>
              <a:schemeClr val="accent1"/>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6" name="Text Placeholder 9">
            <a:extLst>
              <a:ext uri="{FF2B5EF4-FFF2-40B4-BE49-F238E27FC236}">
                <a16:creationId xmlns:a16="http://schemas.microsoft.com/office/drawing/2014/main" id="{2C5BC223-8B87-4685-A901-71B07847E41C}"/>
              </a:ext>
            </a:extLst>
          </p:cNvPr>
          <p:cNvSpPr>
            <a:spLocks noGrp="1"/>
          </p:cNvSpPr>
          <p:nvPr>
            <p:ph type="body" sz="quarter" idx="14" hasCustomPrompt="1"/>
          </p:nvPr>
        </p:nvSpPr>
        <p:spPr>
          <a:xfrm>
            <a:off x="6792913" y="2561156"/>
            <a:ext cx="3852000" cy="720000"/>
          </a:xfrm>
          <a:prstGeom prst="roundRect">
            <a:avLst/>
          </a:prstGeom>
          <a:solidFill>
            <a:schemeClr val="bg1">
              <a:lumMod val="95000"/>
            </a:schemeClr>
          </a:solidFill>
          <a:ln w="31750">
            <a:solidFill>
              <a:schemeClr val="accent2"/>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7" name="Text Placeholder 9">
            <a:extLst>
              <a:ext uri="{FF2B5EF4-FFF2-40B4-BE49-F238E27FC236}">
                <a16:creationId xmlns:a16="http://schemas.microsoft.com/office/drawing/2014/main" id="{1AE3DDF2-FC22-4381-9763-408FEF9648BD}"/>
              </a:ext>
            </a:extLst>
          </p:cNvPr>
          <p:cNvSpPr>
            <a:spLocks noGrp="1"/>
          </p:cNvSpPr>
          <p:nvPr>
            <p:ph type="body" sz="quarter" idx="15" hasCustomPrompt="1"/>
          </p:nvPr>
        </p:nvSpPr>
        <p:spPr>
          <a:xfrm>
            <a:off x="6792913" y="3373501"/>
            <a:ext cx="3852000" cy="720000"/>
          </a:xfrm>
          <a:prstGeom prst="roundRect">
            <a:avLst/>
          </a:prstGeom>
          <a:solidFill>
            <a:schemeClr val="bg1">
              <a:lumMod val="95000"/>
            </a:schemeClr>
          </a:solidFill>
          <a:ln w="31750">
            <a:solidFill>
              <a:schemeClr val="accent3"/>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8" name="Text Placeholder 9">
            <a:extLst>
              <a:ext uri="{FF2B5EF4-FFF2-40B4-BE49-F238E27FC236}">
                <a16:creationId xmlns:a16="http://schemas.microsoft.com/office/drawing/2014/main" id="{6170A2BF-28BF-4B27-B92D-B1423601B767}"/>
              </a:ext>
            </a:extLst>
          </p:cNvPr>
          <p:cNvSpPr>
            <a:spLocks noGrp="1"/>
          </p:cNvSpPr>
          <p:nvPr>
            <p:ph type="body" sz="quarter" idx="16" hasCustomPrompt="1"/>
          </p:nvPr>
        </p:nvSpPr>
        <p:spPr>
          <a:xfrm>
            <a:off x="6792913" y="4185846"/>
            <a:ext cx="3852000" cy="720000"/>
          </a:xfrm>
          <a:prstGeom prst="roundRect">
            <a:avLst/>
          </a:prstGeom>
          <a:solidFill>
            <a:schemeClr val="bg1">
              <a:lumMod val="95000"/>
            </a:schemeClr>
          </a:solidFill>
          <a:ln w="31750">
            <a:solidFill>
              <a:schemeClr val="accent4"/>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9" name="Text Placeholder 9">
            <a:extLst>
              <a:ext uri="{FF2B5EF4-FFF2-40B4-BE49-F238E27FC236}">
                <a16:creationId xmlns:a16="http://schemas.microsoft.com/office/drawing/2014/main" id="{2DB1D08C-9D26-4EC5-B935-D6A265A2A672}"/>
              </a:ext>
            </a:extLst>
          </p:cNvPr>
          <p:cNvSpPr>
            <a:spLocks noGrp="1"/>
          </p:cNvSpPr>
          <p:nvPr>
            <p:ph type="body" sz="quarter" idx="17" hasCustomPrompt="1"/>
          </p:nvPr>
        </p:nvSpPr>
        <p:spPr>
          <a:xfrm>
            <a:off x="6792913" y="4998190"/>
            <a:ext cx="3852000" cy="720000"/>
          </a:xfrm>
          <a:prstGeom prst="roundRect">
            <a:avLst/>
          </a:prstGeom>
          <a:solidFill>
            <a:schemeClr val="bg1">
              <a:lumMod val="95000"/>
            </a:schemeClr>
          </a:solidFill>
          <a:ln w="31750">
            <a:solidFill>
              <a:schemeClr val="accent6"/>
            </a:solidFill>
          </a:ln>
        </p:spPr>
        <p:txBody>
          <a:bodyPr anchor="ctr">
            <a:normAutofit/>
          </a:bodyPr>
          <a:lstStyle>
            <a:lvl1pPr marL="0" indent="0">
              <a:buNone/>
              <a:defRPr sz="2100">
                <a:solidFill>
                  <a:schemeClr val="tx1"/>
                </a:solidFill>
              </a:defRPr>
            </a:lvl1pPr>
          </a:lstStyle>
          <a:p>
            <a:pPr lvl="0"/>
            <a:r>
              <a:rPr lang="en-US" noProof="0"/>
              <a:t>Text Item</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397BD2BD-1F35-9841-A6BF-76BE540EE01F}"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Picture Placeholder 13">
            <a:extLst>
              <a:ext uri="{FF2B5EF4-FFF2-40B4-BE49-F238E27FC236}">
                <a16:creationId xmlns:a16="http://schemas.microsoft.com/office/drawing/2014/main" id="{9DDAF6ED-5E16-4D29-98B7-FB80DB3AAFEC}"/>
              </a:ext>
            </a:extLst>
          </p:cNvPr>
          <p:cNvSpPr>
            <a:spLocks noGrp="1"/>
          </p:cNvSpPr>
          <p:nvPr>
            <p:ph type="pic" sz="quarter" idx="18" hasCustomPrompt="1"/>
          </p:nvPr>
        </p:nvSpPr>
        <p:spPr>
          <a:xfrm>
            <a:off x="5870575" y="1840504"/>
            <a:ext cx="536616" cy="536616"/>
          </a:xfrm>
        </p:spPr>
        <p:txBody>
          <a:bodyPr lIns="0" tIns="0" rIns="0" bIns="0" anchor="ctr">
            <a:normAutofit/>
          </a:bodyPr>
          <a:lstStyle>
            <a:lvl1pPr marL="0" indent="0" algn="ctr">
              <a:buNone/>
              <a:defRPr sz="1100" i="1"/>
            </a:lvl1pPr>
          </a:lstStyle>
          <a:p>
            <a:r>
              <a:rPr lang="en-US" noProof="0" dirty="0"/>
              <a:t>Icon</a:t>
            </a:r>
          </a:p>
        </p:txBody>
      </p:sp>
      <p:sp>
        <p:nvSpPr>
          <p:cNvPr id="21" name="Picture Placeholder 13">
            <a:extLst>
              <a:ext uri="{FF2B5EF4-FFF2-40B4-BE49-F238E27FC236}">
                <a16:creationId xmlns:a16="http://schemas.microsoft.com/office/drawing/2014/main" id="{8C305CB7-F303-430E-951A-7FC6F97062AA}"/>
              </a:ext>
            </a:extLst>
          </p:cNvPr>
          <p:cNvSpPr>
            <a:spLocks noGrp="1"/>
          </p:cNvSpPr>
          <p:nvPr>
            <p:ph type="pic" sz="quarter" idx="19" hasCustomPrompt="1"/>
          </p:nvPr>
        </p:nvSpPr>
        <p:spPr>
          <a:xfrm>
            <a:off x="5870575" y="2652849"/>
            <a:ext cx="536616" cy="536616"/>
          </a:xfrm>
        </p:spPr>
        <p:txBody>
          <a:bodyPr lIns="0" tIns="0" rIns="0" bIns="0" anchor="ctr">
            <a:normAutofit/>
          </a:bodyPr>
          <a:lstStyle>
            <a:lvl1pPr marL="0" indent="0" algn="ctr">
              <a:buNone/>
              <a:defRPr sz="1100" i="1"/>
            </a:lvl1pPr>
          </a:lstStyle>
          <a:p>
            <a:r>
              <a:rPr lang="en-US" noProof="0" dirty="0"/>
              <a:t>Icon</a:t>
            </a:r>
          </a:p>
        </p:txBody>
      </p:sp>
      <p:sp>
        <p:nvSpPr>
          <p:cNvPr id="22" name="Picture Placeholder 13">
            <a:extLst>
              <a:ext uri="{FF2B5EF4-FFF2-40B4-BE49-F238E27FC236}">
                <a16:creationId xmlns:a16="http://schemas.microsoft.com/office/drawing/2014/main" id="{84D427E5-ED69-4A46-A9B7-F4DC4466F320}"/>
              </a:ext>
            </a:extLst>
          </p:cNvPr>
          <p:cNvSpPr>
            <a:spLocks noGrp="1"/>
          </p:cNvSpPr>
          <p:nvPr>
            <p:ph type="pic" sz="quarter" idx="20" hasCustomPrompt="1"/>
          </p:nvPr>
        </p:nvSpPr>
        <p:spPr>
          <a:xfrm>
            <a:off x="5870575" y="3465194"/>
            <a:ext cx="536616" cy="536616"/>
          </a:xfrm>
        </p:spPr>
        <p:txBody>
          <a:bodyPr lIns="0" tIns="0" rIns="0" bIns="0" anchor="ctr">
            <a:normAutofit/>
          </a:bodyPr>
          <a:lstStyle>
            <a:lvl1pPr marL="0" indent="0" algn="ctr">
              <a:buNone/>
              <a:defRPr sz="1100" i="1"/>
            </a:lvl1pPr>
          </a:lstStyle>
          <a:p>
            <a:r>
              <a:rPr lang="en-US" noProof="0" dirty="0"/>
              <a:t>Icon</a:t>
            </a:r>
          </a:p>
        </p:txBody>
      </p:sp>
      <p:sp>
        <p:nvSpPr>
          <p:cNvPr id="24" name="Picture Placeholder 13">
            <a:extLst>
              <a:ext uri="{FF2B5EF4-FFF2-40B4-BE49-F238E27FC236}">
                <a16:creationId xmlns:a16="http://schemas.microsoft.com/office/drawing/2014/main" id="{3DDA902F-61D6-4F1C-86C6-D1F5584AE8B3}"/>
              </a:ext>
            </a:extLst>
          </p:cNvPr>
          <p:cNvSpPr>
            <a:spLocks noGrp="1"/>
          </p:cNvSpPr>
          <p:nvPr>
            <p:ph type="pic" sz="quarter" idx="21" hasCustomPrompt="1"/>
          </p:nvPr>
        </p:nvSpPr>
        <p:spPr>
          <a:xfrm>
            <a:off x="5870575" y="4277539"/>
            <a:ext cx="536616" cy="536616"/>
          </a:xfrm>
        </p:spPr>
        <p:txBody>
          <a:bodyPr lIns="0" tIns="0" rIns="0" bIns="0" anchor="ctr">
            <a:normAutofit/>
          </a:bodyPr>
          <a:lstStyle>
            <a:lvl1pPr marL="0" indent="0" algn="ctr">
              <a:buNone/>
              <a:defRPr sz="1100" i="1"/>
            </a:lvl1pPr>
          </a:lstStyle>
          <a:p>
            <a:r>
              <a:rPr lang="en-US" noProof="0" dirty="0"/>
              <a:t>Icon</a:t>
            </a:r>
          </a:p>
        </p:txBody>
      </p:sp>
      <p:sp>
        <p:nvSpPr>
          <p:cNvPr id="26" name="Picture Placeholder 13">
            <a:extLst>
              <a:ext uri="{FF2B5EF4-FFF2-40B4-BE49-F238E27FC236}">
                <a16:creationId xmlns:a16="http://schemas.microsoft.com/office/drawing/2014/main" id="{D8B6871A-9C69-4437-A5AD-A0400BAF2C6D}"/>
              </a:ext>
            </a:extLst>
          </p:cNvPr>
          <p:cNvSpPr>
            <a:spLocks noGrp="1"/>
          </p:cNvSpPr>
          <p:nvPr>
            <p:ph type="pic" sz="quarter" idx="23" hasCustomPrompt="1"/>
          </p:nvPr>
        </p:nvSpPr>
        <p:spPr>
          <a:xfrm>
            <a:off x="5870575" y="5089882"/>
            <a:ext cx="536616" cy="536616"/>
          </a:xfrm>
        </p:spPr>
        <p:txBody>
          <a:bodyPr lIns="0" tIns="0" rIns="0" bIns="0" anchor="ctr">
            <a:normAutofit/>
          </a:bodyPr>
          <a:lstStyle>
            <a:lvl1pPr marL="0" indent="0" algn="ctr">
              <a:buNone/>
              <a:defRPr sz="1100" i="1"/>
            </a:lvl1pPr>
          </a:lstStyle>
          <a:p>
            <a:r>
              <a:rPr lang="en-US" noProof="0" dirty="0"/>
              <a:t>Icon</a:t>
            </a:r>
          </a:p>
        </p:txBody>
      </p:sp>
    </p:spTree>
    <p:extLst>
      <p:ext uri="{BB962C8B-B14F-4D97-AF65-F5344CB8AC3E}">
        <p14:creationId xmlns:p14="http://schemas.microsoft.com/office/powerpoint/2010/main" val="3296259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Light">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B8ACAEC3-8D8C-3848-8630-7A0DFF3F6116}"/>
              </a:ext>
            </a:extLst>
          </p:cNvPr>
          <p:cNvSpPr>
            <a:spLocks noChangeAspect="1"/>
          </p:cNvSpPr>
          <p:nvPr userDrawn="1"/>
        </p:nvSpPr>
        <p:spPr>
          <a:xfrm>
            <a:off x="8699143" y="3702940"/>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Picture Placeholder 9">
            <a:extLst>
              <a:ext uri="{FF2B5EF4-FFF2-40B4-BE49-F238E27FC236}">
                <a16:creationId xmlns:a16="http://schemas.microsoft.com/office/drawing/2014/main" id="{CC12BEA0-F502-0646-A370-7ECF194608D0}"/>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D58C6160-632A-B540-A7E5-81F40CEC1FE7}"/>
              </a:ext>
            </a:extLst>
          </p:cNvPr>
          <p:cNvSpPr>
            <a:spLocks noChangeAspect="1"/>
          </p:cNvSpPr>
          <p:nvPr userDrawn="1"/>
        </p:nvSpPr>
        <p:spPr>
          <a:xfrm>
            <a:off x="6287247" y="370677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B2FEBB6-C1E0-0D47-8CCC-05EE2F756590}"/>
              </a:ext>
            </a:extLst>
          </p:cNvPr>
          <p:cNvSpPr>
            <a:spLocks noGrp="1"/>
          </p:cNvSpPr>
          <p:nvPr>
            <p:ph type="pic" sz="quarter" idx="23" hasCustomPrompt="1"/>
          </p:nvPr>
        </p:nvSpPr>
        <p:spPr>
          <a:xfrm>
            <a:off x="6452271"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7215E544-9553-AC42-B5C3-F7AE9AD6D815}"/>
              </a:ext>
            </a:extLst>
          </p:cNvPr>
          <p:cNvSpPr>
            <a:spLocks noChangeAspect="1"/>
          </p:cNvSpPr>
          <p:nvPr userDrawn="1"/>
        </p:nvSpPr>
        <p:spPr>
          <a:xfrm>
            <a:off x="8699143"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F76E934A-C634-DF4D-992A-6E01917693AD}"/>
              </a:ext>
            </a:extLst>
          </p:cNvPr>
          <p:cNvSpPr>
            <a:spLocks noChangeAspect="1"/>
          </p:cNvSpPr>
          <p:nvPr userDrawn="1"/>
        </p:nvSpPr>
        <p:spPr>
          <a:xfrm>
            <a:off x="6289119"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6E94F40A-5592-5744-BFD7-61B04D70BFE7}"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
        <p:nvSpPr>
          <p:cNvPr id="20" name="Picture Placeholder 9">
            <a:extLst>
              <a:ext uri="{FF2B5EF4-FFF2-40B4-BE49-F238E27FC236}">
                <a16:creationId xmlns:a16="http://schemas.microsoft.com/office/drawing/2014/main" id="{8E97E18E-0E31-B542-9578-D6E4DCD84680}"/>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4" name="Picture Placeholder 9">
            <a:extLst>
              <a:ext uri="{FF2B5EF4-FFF2-40B4-BE49-F238E27FC236}">
                <a16:creationId xmlns:a16="http://schemas.microsoft.com/office/drawing/2014/main" id="{7602DDF7-46BD-6045-BDB0-45F47B0B6A9C}"/>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1820464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86F73ED6-3B3B-5A45-912C-FCFD7D53593C}"/>
              </a:ext>
            </a:extLst>
          </p:cNvPr>
          <p:cNvSpPr>
            <a:spLocks noChangeAspect="1"/>
          </p:cNvSpPr>
          <p:nvPr userDrawn="1"/>
        </p:nvSpPr>
        <p:spPr>
          <a:xfrm>
            <a:off x="8699143" y="3702940"/>
            <a:ext cx="1261872" cy="12618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B5971407-B12A-EE45-895D-769807DFC767}"/>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36215321-76D7-AD41-B779-DE347C617DB3}"/>
              </a:ext>
            </a:extLst>
          </p:cNvPr>
          <p:cNvSpPr>
            <a:spLocks noChangeAspect="1"/>
          </p:cNvSpPr>
          <p:nvPr userDrawn="1"/>
        </p:nvSpPr>
        <p:spPr>
          <a:xfrm>
            <a:off x="6288183" y="3706777"/>
            <a:ext cx="1261872" cy="12618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61684B2-1403-BD44-80B1-6A5C0D0A3C67}"/>
              </a:ext>
            </a:extLst>
          </p:cNvPr>
          <p:cNvSpPr>
            <a:spLocks noGrp="1"/>
          </p:cNvSpPr>
          <p:nvPr>
            <p:ph type="pic" sz="quarter" idx="23" hasCustomPrompt="1"/>
          </p:nvPr>
        </p:nvSpPr>
        <p:spPr>
          <a:xfrm>
            <a:off x="6454143"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799317"/>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799317"/>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A177F711-7020-994E-A797-D04033A0CF12}"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3254131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 Icon Bullets Vertical">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2234226"/>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2234226"/>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2401122"/>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240018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A177F711-7020-994E-A797-D04033A0CF12}"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3785996"/>
            <a:ext cx="2325688" cy="1503455"/>
          </a:xfrm>
        </p:spPr>
        <p:txBody>
          <a:bodyPr>
            <a:no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3785996"/>
            <a:ext cx="2325688" cy="1503455"/>
          </a:xfrm>
        </p:spPr>
        <p:txBody>
          <a:bodyPr>
            <a:no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24650614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 Icon Bullets Horizontal">
    <p:spTree>
      <p:nvGrpSpPr>
        <p:cNvPr id="1" name=""/>
        <p:cNvGrpSpPr/>
        <p:nvPr/>
      </p:nvGrpSpPr>
      <p:grpSpPr>
        <a:xfrm>
          <a:off x="0" y="0"/>
          <a:ext cx="0" cy="0"/>
          <a:chOff x="0" y="0"/>
          <a:chExt cx="0" cy="0"/>
        </a:xfrm>
      </p:grpSpPr>
      <p:sp>
        <p:nvSpPr>
          <p:cNvPr id="32" name="Oval 31">
            <a:extLst>
              <a:ext uri="{FF2B5EF4-FFF2-40B4-BE49-F238E27FC236}">
                <a16:creationId xmlns:a16="http://schemas.microsoft.com/office/drawing/2014/main" id="{F625DE42-6A2A-D745-B1F8-2AF2793533BE}"/>
              </a:ext>
            </a:extLst>
          </p:cNvPr>
          <p:cNvSpPr>
            <a:spLocks noChangeAspect="1"/>
          </p:cNvSpPr>
          <p:nvPr userDrawn="1"/>
        </p:nvSpPr>
        <p:spPr>
          <a:xfrm>
            <a:off x="8404601" y="3981394"/>
            <a:ext cx="1042415" cy="104241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9">
            <a:extLst>
              <a:ext uri="{FF2B5EF4-FFF2-40B4-BE49-F238E27FC236}">
                <a16:creationId xmlns:a16="http://schemas.microsoft.com/office/drawing/2014/main" id="{A87D37E3-62A9-1F44-8520-EBED16BF1C0F}"/>
              </a:ext>
            </a:extLst>
          </p:cNvPr>
          <p:cNvSpPr>
            <a:spLocks noGrp="1"/>
          </p:cNvSpPr>
          <p:nvPr>
            <p:ph type="pic" sz="quarter" idx="24" hasCustomPrompt="1"/>
          </p:nvPr>
        </p:nvSpPr>
        <p:spPr>
          <a:xfrm>
            <a:off x="8535100"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75F8797D-AFBD-534A-AC82-DE2B7BAECE83}"/>
              </a:ext>
            </a:extLst>
          </p:cNvPr>
          <p:cNvSpPr>
            <a:spLocks noChangeAspect="1"/>
          </p:cNvSpPr>
          <p:nvPr userDrawn="1"/>
        </p:nvSpPr>
        <p:spPr>
          <a:xfrm>
            <a:off x="8404601" y="1932281"/>
            <a:ext cx="1042415" cy="104241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FE809D2-16A3-B143-BC10-FEC397E62C62}"/>
              </a:ext>
            </a:extLst>
          </p:cNvPr>
          <p:cNvSpPr>
            <a:spLocks noGrp="1"/>
          </p:cNvSpPr>
          <p:nvPr>
            <p:ph type="pic" sz="quarter" idx="23" hasCustomPrompt="1"/>
          </p:nvPr>
        </p:nvSpPr>
        <p:spPr>
          <a:xfrm>
            <a:off x="8535100"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GB" noProof="0"/>
              <a:t>Click to edit Master title style</a:t>
            </a:r>
            <a:endParaRPr lang="en-US" noProof="0"/>
          </a:p>
        </p:txBody>
      </p:sp>
      <p:sp>
        <p:nvSpPr>
          <p:cNvPr id="4" name="Date Placeholder 3"/>
          <p:cNvSpPr>
            <a:spLocks noGrp="1"/>
          </p:cNvSpPr>
          <p:nvPr>
            <p:ph type="dt" sz="half" idx="10"/>
          </p:nvPr>
        </p:nvSpPr>
        <p:spPr/>
        <p:txBody>
          <a:bodyPr/>
          <a:lstStyle/>
          <a:p>
            <a:fld id="{8C369370-372E-0846-B090-5E6EF97A3B62}" type="datetime1">
              <a:rPr lang="en-US" noProof="0" smtClean="0"/>
              <a:t>3/25/2024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6189670" y="1840992"/>
            <a:ext cx="2095046" cy="1225056"/>
          </a:xfrm>
        </p:spPr>
        <p:txBody>
          <a:bodyPr anchor="ctr">
            <a:noAutofit/>
          </a:bodyPr>
          <a:lstStyle>
            <a:lvl1pPr marL="0" indent="0" algn="l">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9519533" y="1840992"/>
            <a:ext cx="2095046" cy="1225056"/>
          </a:xfrm>
        </p:spPr>
        <p:txBody>
          <a:bodyPr anchor="ctr">
            <a:noAutofit/>
          </a:bodyPr>
          <a:lstStyle>
            <a:lvl1pPr marL="0" indent="0" algn="l">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6189670"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9519533"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0" name="Oval 19">
            <a:extLst>
              <a:ext uri="{FF2B5EF4-FFF2-40B4-BE49-F238E27FC236}">
                <a16:creationId xmlns:a16="http://schemas.microsoft.com/office/drawing/2014/main" id="{73963115-25B3-494B-9A13-AC92EFE94C09}"/>
              </a:ext>
            </a:extLst>
          </p:cNvPr>
          <p:cNvSpPr>
            <a:spLocks noChangeAspect="1"/>
          </p:cNvSpPr>
          <p:nvPr userDrawn="1"/>
        </p:nvSpPr>
        <p:spPr>
          <a:xfrm>
            <a:off x="5070995" y="1932281"/>
            <a:ext cx="1042415" cy="1042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3C759269-D6E6-2B41-8BEE-8B5AFB809B6A}"/>
              </a:ext>
            </a:extLst>
          </p:cNvPr>
          <p:cNvSpPr>
            <a:spLocks noGrp="1"/>
          </p:cNvSpPr>
          <p:nvPr>
            <p:ph type="pic" sz="quarter" idx="21" hasCustomPrompt="1"/>
          </p:nvPr>
        </p:nvSpPr>
        <p:spPr>
          <a:xfrm>
            <a:off x="5201494"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43E569D5-DC38-7C46-95CD-ACFBFBF591A2}"/>
              </a:ext>
            </a:extLst>
          </p:cNvPr>
          <p:cNvSpPr>
            <a:spLocks noChangeAspect="1"/>
          </p:cNvSpPr>
          <p:nvPr userDrawn="1"/>
        </p:nvSpPr>
        <p:spPr>
          <a:xfrm>
            <a:off x="5070995" y="3981394"/>
            <a:ext cx="1042415" cy="104241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8396DFD-D667-2648-9BE4-6237690F7999}"/>
              </a:ext>
            </a:extLst>
          </p:cNvPr>
          <p:cNvSpPr>
            <a:spLocks noGrp="1"/>
          </p:cNvSpPr>
          <p:nvPr>
            <p:ph type="pic" sz="quarter" idx="22" hasCustomPrompt="1"/>
          </p:nvPr>
        </p:nvSpPr>
        <p:spPr>
          <a:xfrm>
            <a:off x="5201494"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29299010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GB" noProof="0"/>
              <a:t>Click to edit Master title style</a:t>
            </a:r>
            <a:endParaRPr lang="en-US" noProof="0"/>
          </a:p>
        </p:txBody>
      </p:sp>
      <p:sp>
        <p:nvSpPr>
          <p:cNvPr id="22" name="Picture Placeholder 21">
            <a:extLst>
              <a:ext uri="{FF2B5EF4-FFF2-40B4-BE49-F238E27FC236}">
                <a16:creationId xmlns:a16="http://schemas.microsoft.com/office/drawing/2014/main" id="{215A5A73-8E13-4E38-8362-0A09BA944115}"/>
              </a:ext>
            </a:extLst>
          </p:cNvPr>
          <p:cNvSpPr>
            <a:spLocks noGrp="1"/>
          </p:cNvSpPr>
          <p:nvPr>
            <p:ph type="pic" idx="1"/>
          </p:nvPr>
        </p:nvSpPr>
        <p:spPr>
          <a:xfrm>
            <a:off x="6058861" y="478881"/>
            <a:ext cx="5582675" cy="5908526"/>
          </a:xfrm>
          <a:custGeom>
            <a:avLst/>
            <a:gdLst>
              <a:gd name="connsiteX0" fmla="*/ 10816 w 5582675"/>
              <a:gd name="connsiteY0" fmla="*/ 0 h 5908526"/>
              <a:gd name="connsiteX1" fmla="*/ 5582675 w 5582675"/>
              <a:gd name="connsiteY1" fmla="*/ 0 h 5908526"/>
              <a:gd name="connsiteX2" fmla="*/ 5582675 w 5582675"/>
              <a:gd name="connsiteY2" fmla="*/ 5908526 h 5908526"/>
              <a:gd name="connsiteX3" fmla="*/ 0 w 5582675"/>
              <a:gd name="connsiteY3" fmla="*/ 5908526 h 5908526"/>
              <a:gd name="connsiteX4" fmla="*/ 30693 w 5582675"/>
              <a:gd name="connsiteY4" fmla="*/ 5722836 h 5908526"/>
              <a:gd name="connsiteX5" fmla="*/ 223682 w 5582675"/>
              <a:gd name="connsiteY5" fmla="*/ 2921544 h 5908526"/>
              <a:gd name="connsiteX6" fmla="*/ 30693 w 5582675"/>
              <a:gd name="connsiteY6" fmla="*/ 120253 h 590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2675" h="5908526">
                <a:moveTo>
                  <a:pt x="10816" y="0"/>
                </a:moveTo>
                <a:lnTo>
                  <a:pt x="5582675" y="0"/>
                </a:lnTo>
                <a:lnTo>
                  <a:pt x="5582675" y="5908526"/>
                </a:lnTo>
                <a:lnTo>
                  <a:pt x="0" y="5908526"/>
                </a:lnTo>
                <a:lnTo>
                  <a:pt x="30693" y="5722836"/>
                </a:lnTo>
                <a:cubicBezTo>
                  <a:pt x="153771" y="4890115"/>
                  <a:pt x="223682" y="3935837"/>
                  <a:pt x="223682" y="2921544"/>
                </a:cubicBezTo>
                <a:cubicBezTo>
                  <a:pt x="223682" y="1907252"/>
                  <a:pt x="153771" y="952973"/>
                  <a:pt x="30693" y="120253"/>
                </a:cubicBezTo>
                <a:close/>
              </a:path>
            </a:pathLst>
          </a:custGeom>
          <a:effectLst/>
        </p:spPr>
        <p:txBody>
          <a:bodyPr wrap="square" anchor="ctr">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noProof="0"/>
              <a:t>Click icon to add picture</a:t>
            </a:r>
            <a:endParaRPr lang="en-US" noProof="0"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183431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Content Placeholder 10">
            <a:extLst>
              <a:ext uri="{FF2B5EF4-FFF2-40B4-BE49-F238E27FC236}">
                <a16:creationId xmlns:a16="http://schemas.microsoft.com/office/drawing/2014/main" id="{B50BDD93-02DA-4B21-9556-FA8B9894F903}"/>
              </a:ext>
            </a:extLst>
          </p:cNvPr>
          <p:cNvSpPr>
            <a:spLocks noGrp="1"/>
          </p:cNvSpPr>
          <p:nvPr>
            <p:ph sz="quarter" idx="13"/>
          </p:nvPr>
        </p:nvSpPr>
        <p:spPr>
          <a:xfrm>
            <a:off x="6058861" y="478880"/>
            <a:ext cx="5582675" cy="5900239"/>
          </a:xfrm>
          <a:custGeom>
            <a:avLst/>
            <a:gdLst>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0 w 5582675"/>
              <a:gd name="connsiteY4" fmla="*/ 0 h 5900239"/>
              <a:gd name="connsiteX0" fmla="*/ 3501 w 5586176"/>
              <a:gd name="connsiteY0" fmla="*/ 0 h 5900239"/>
              <a:gd name="connsiteX1" fmla="*/ 5586176 w 5586176"/>
              <a:gd name="connsiteY1" fmla="*/ 0 h 5900239"/>
              <a:gd name="connsiteX2" fmla="*/ 5586176 w 5586176"/>
              <a:gd name="connsiteY2" fmla="*/ 5900239 h 5900239"/>
              <a:gd name="connsiteX3" fmla="*/ 3501 w 5586176"/>
              <a:gd name="connsiteY3" fmla="*/ 5900239 h 5900239"/>
              <a:gd name="connsiteX4" fmla="*/ 0 w 5586176"/>
              <a:gd name="connsiteY4" fmla="*/ 3615600 h 5900239"/>
              <a:gd name="connsiteX5" fmla="*/ 3501 w 5586176"/>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0 w 5582675"/>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47299 w 5582675"/>
              <a:gd name="connsiteY5" fmla="*/ 24756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1173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5237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2675" h="5900239">
                <a:moveTo>
                  <a:pt x="0" y="0"/>
                </a:moveTo>
                <a:lnTo>
                  <a:pt x="5582675" y="0"/>
                </a:lnTo>
                <a:lnTo>
                  <a:pt x="5582675" y="5900239"/>
                </a:lnTo>
                <a:lnTo>
                  <a:pt x="0" y="5900239"/>
                </a:lnTo>
                <a:cubicBezTo>
                  <a:pt x="14285" y="5817931"/>
                  <a:pt x="34284" y="5741338"/>
                  <a:pt x="42854" y="5653315"/>
                </a:cubicBezTo>
                <a:cubicBezTo>
                  <a:pt x="145724" y="4908883"/>
                  <a:pt x="181919" y="4332092"/>
                  <a:pt x="220019" y="3442880"/>
                </a:cubicBezTo>
                <a:cubicBezTo>
                  <a:pt x="221712" y="2333747"/>
                  <a:pt x="182766" y="1285573"/>
                  <a:pt x="47299" y="247560"/>
                </a:cubicBezTo>
                <a:lnTo>
                  <a:pt x="0" y="0"/>
                </a:lnTo>
                <a:close/>
              </a:path>
            </a:pathLst>
          </a:cu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GB" noProof="0"/>
              <a:t>Click to edit Master title style</a:t>
            </a:r>
            <a:endParaRPr lang="en-US" noProof="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3/25/2024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3977307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a:t>Click to edit Master title style</a:t>
            </a:r>
            <a:endParaRPr lang="en-US" noProof="0"/>
          </a:p>
        </p:txBody>
      </p:sp>
      <p:sp>
        <p:nvSpPr>
          <p:cNvPr id="3" name="Date Placeholder 2"/>
          <p:cNvSpPr>
            <a:spLocks noGrp="1"/>
          </p:cNvSpPr>
          <p:nvPr>
            <p:ph type="dt" sz="half" idx="10"/>
          </p:nvPr>
        </p:nvSpPr>
        <p:spPr/>
        <p:txBody>
          <a:bodyPr/>
          <a:lstStyle/>
          <a:p>
            <a:fld id="{AC1A9061-1D22-724D-9508-7BAEAF287353}" type="datetime1">
              <a:rPr lang="en-US" noProof="0" smtClean="0"/>
              <a:t>3/25/2024</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7" name="Text Placeholder 6">
            <a:extLst>
              <a:ext uri="{FF2B5EF4-FFF2-40B4-BE49-F238E27FC236}">
                <a16:creationId xmlns:a16="http://schemas.microsoft.com/office/drawing/2014/main" id="{575C1B7F-CD73-441E-89FC-46AA9E8B519B}"/>
              </a:ext>
            </a:extLst>
          </p:cNvPr>
          <p:cNvSpPr>
            <a:spLocks noGrp="1"/>
          </p:cNvSpPr>
          <p:nvPr>
            <p:ph type="body" sz="quarter" idx="13"/>
          </p:nvPr>
        </p:nvSpPr>
        <p:spPr>
          <a:xfrm>
            <a:off x="1764150" y="2406650"/>
            <a:ext cx="8663700" cy="3477682"/>
          </a:xfrm>
        </p:spPr>
        <p:txBody>
          <a:bodyPr anchor="ctr">
            <a:normAutofit/>
          </a:bodyPr>
          <a:lstStyle>
            <a:lvl1pPr marL="0" indent="0" algn="ctr">
              <a:buNone/>
              <a:defRPr sz="6000"/>
            </a:lvl1pPr>
            <a:lvl2pPr marL="457200" indent="0">
              <a:buNone/>
              <a:defRPr/>
            </a:lvl2pPr>
          </a:lstStyle>
          <a:p>
            <a:pPr lvl="0"/>
            <a:r>
              <a:rPr lang="en-GB" noProof="0"/>
              <a:t>Click to edit Master text styles</a:t>
            </a:r>
          </a:p>
        </p:txBody>
      </p:sp>
    </p:spTree>
    <p:extLst>
      <p:ext uri="{BB962C8B-B14F-4D97-AF65-F5344CB8AC3E}">
        <p14:creationId xmlns:p14="http://schemas.microsoft.com/office/powerpoint/2010/main" val="3752974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8">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6ACA6CA-E140-824D-8E8B-5CC5036BDBAE}" type="datetime1">
              <a:rPr lang="en-US" noProof="0" smtClean="0"/>
              <a:pPr/>
              <a:t>3/25/2024</a:t>
            </a:fld>
            <a:endParaRPr lang="en-US" noProof="0"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noProof="0"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827742154"/>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 id="2147483964" r:id="rId13"/>
    <p:sldLayoutId id="2147483965" r:id="rId14"/>
    <p:sldLayoutId id="2147483966" r:id="rId15"/>
    <p:sldLayoutId id="2147483967" r:id="rId16"/>
    <p:sldLayoutId id="2147483968" r:id="rId17"/>
    <p:sldLayoutId id="2147483859" r:id="rId18"/>
    <p:sldLayoutId id="2147483860" r:id="rId19"/>
    <p:sldLayoutId id="2147483861" r:id="rId20"/>
    <p:sldLayoutId id="2147483862" r:id="rId21"/>
    <p:sldLayoutId id="2147483864" r:id="rId22"/>
    <p:sldLayoutId id="2147483863" r:id="rId23"/>
    <p:sldLayoutId id="2147483858" r:id="rId24"/>
    <p:sldLayoutId id="2147483865" r:id="rId25"/>
    <p:sldLayoutId id="2147483866" r:id="rId26"/>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208613C-BC82-84E0-1926-99C171DC975D}"/>
              </a:ext>
            </a:extLst>
          </p:cNvPr>
          <p:cNvSpPr txBox="1"/>
          <p:nvPr/>
        </p:nvSpPr>
        <p:spPr>
          <a:xfrm>
            <a:off x="874889" y="620889"/>
            <a:ext cx="10442222" cy="1569660"/>
          </a:xfrm>
          <a:prstGeom prst="rect">
            <a:avLst/>
          </a:prstGeom>
          <a:noFill/>
        </p:spPr>
        <p:txBody>
          <a:bodyPr wrap="square" rtlCol="0">
            <a:spAutoFit/>
          </a:bodyPr>
          <a:lstStyle/>
          <a:p>
            <a:pPr algn="ctr"/>
            <a:r>
              <a:rPr lang="en-US" sz="2800" b="1" dirty="0">
                <a:solidFill>
                  <a:schemeClr val="bg1"/>
                </a:solidFill>
                <a:latin typeface="Times New Roman" pitchFamily="18" charset="0"/>
                <a:cs typeface="Times New Roman" pitchFamily="18" charset="0"/>
              </a:rPr>
              <a:t>SAPTHAGIRI COLLEGE OF ENGINEERING</a:t>
            </a:r>
            <a:br>
              <a:rPr lang="en-US" sz="2000" dirty="0">
                <a:solidFill>
                  <a:schemeClr val="bg1"/>
                </a:solidFill>
                <a:latin typeface="Times New Roman" pitchFamily="18" charset="0"/>
                <a:cs typeface="Times New Roman" pitchFamily="18" charset="0"/>
              </a:rPr>
            </a:br>
            <a:r>
              <a:rPr lang="en-US" sz="2800" dirty="0">
                <a:solidFill>
                  <a:schemeClr val="bg1"/>
                </a:solidFill>
                <a:latin typeface="Times New Roman" pitchFamily="18" charset="0"/>
                <a:cs typeface="Times New Roman" pitchFamily="18" charset="0"/>
              </a:rPr>
              <a:t>     </a:t>
            </a:r>
            <a:r>
              <a:rPr lang="en-US" sz="2000" b="0" dirty="0">
                <a:solidFill>
                  <a:schemeClr val="bg1"/>
                </a:solidFill>
                <a:latin typeface="Times New Roman" pitchFamily="18" charset="0"/>
                <a:cs typeface="Times New Roman" pitchFamily="18" charset="0"/>
              </a:rPr>
              <a:t>(Affiliated to Visvesvaraya Technological University, Belagavi</a:t>
            </a:r>
          </a:p>
          <a:p>
            <a:pPr algn="ctr"/>
            <a:r>
              <a:rPr lang="en-US" sz="2000" b="0" dirty="0">
                <a:solidFill>
                  <a:schemeClr val="bg1"/>
                </a:solidFill>
                <a:latin typeface="Times New Roman" pitchFamily="18" charset="0"/>
                <a:cs typeface="Times New Roman" pitchFamily="18" charset="0"/>
              </a:rPr>
              <a:t>&amp; Approved by AICTE, New Delhi)</a:t>
            </a:r>
            <a:br>
              <a:rPr lang="en-US" b="0" dirty="0">
                <a:solidFill>
                  <a:schemeClr val="bg1"/>
                </a:solidFill>
                <a:latin typeface="Times New Roman" pitchFamily="18" charset="0"/>
                <a:cs typeface="Times New Roman" pitchFamily="18" charset="0"/>
              </a:rPr>
            </a:br>
            <a:endParaRPr lang="en-US" dirty="0">
              <a:solidFill>
                <a:schemeClr val="bg1"/>
              </a:solidFill>
            </a:endParaRPr>
          </a:p>
        </p:txBody>
      </p:sp>
      <p:sp>
        <p:nvSpPr>
          <p:cNvPr id="7" name="TextBox 6">
            <a:extLst>
              <a:ext uri="{FF2B5EF4-FFF2-40B4-BE49-F238E27FC236}">
                <a16:creationId xmlns:a16="http://schemas.microsoft.com/office/drawing/2014/main" id="{13BEFB1D-8EFD-7E55-2D0D-C4DDD92A3583}"/>
              </a:ext>
            </a:extLst>
          </p:cNvPr>
          <p:cNvSpPr txBox="1"/>
          <p:nvPr/>
        </p:nvSpPr>
        <p:spPr>
          <a:xfrm>
            <a:off x="2801054" y="1885401"/>
            <a:ext cx="6589889" cy="1538883"/>
          </a:xfrm>
          <a:prstGeom prst="rect">
            <a:avLst/>
          </a:prstGeom>
          <a:noFill/>
        </p:spPr>
        <p:txBody>
          <a:bodyPr wrap="square" rtlCol="0">
            <a:spAutoFit/>
          </a:bodyPr>
          <a:lstStyle/>
          <a:p>
            <a:pPr algn="ctr"/>
            <a:r>
              <a:rPr lang="en-US" sz="2000" dirty="0">
                <a:solidFill>
                  <a:schemeClr val="bg1"/>
                </a:solidFill>
                <a:latin typeface="Times New Roman" pitchFamily="18" charset="0"/>
                <a:cs typeface="Times New Roman" pitchFamily="18" charset="0"/>
              </a:rPr>
              <a:t>Department of Computer Science &amp; Engineering</a:t>
            </a:r>
          </a:p>
          <a:p>
            <a:pPr algn="ctr"/>
            <a:r>
              <a:rPr lang="en-US" sz="2000" dirty="0">
                <a:solidFill>
                  <a:schemeClr val="bg1"/>
                </a:solidFill>
                <a:latin typeface="Times New Roman" pitchFamily="18" charset="0"/>
                <a:cs typeface="Times New Roman" pitchFamily="18" charset="0"/>
              </a:rPr>
              <a:t>Technical Seminar </a:t>
            </a:r>
            <a:br>
              <a:rPr lang="en-US" sz="1600" dirty="0">
                <a:solidFill>
                  <a:schemeClr val="bg1"/>
                </a:solidFill>
                <a:latin typeface="Times New Roman" pitchFamily="18" charset="0"/>
                <a:cs typeface="Times New Roman" pitchFamily="18" charset="0"/>
              </a:rPr>
            </a:br>
            <a:r>
              <a:rPr lang="en-US" dirty="0">
                <a:solidFill>
                  <a:schemeClr val="bg1"/>
                </a:solidFill>
                <a:latin typeface="Times New Roman" pitchFamily="18" charset="0"/>
                <a:cs typeface="Times New Roman" pitchFamily="18" charset="0"/>
              </a:rPr>
              <a:t>Presentation</a:t>
            </a:r>
            <a:br>
              <a:rPr lang="en-US" dirty="0">
                <a:solidFill>
                  <a:schemeClr val="bg1"/>
                </a:solidFill>
                <a:latin typeface="Times New Roman" pitchFamily="18" charset="0"/>
                <a:cs typeface="Times New Roman" pitchFamily="18" charset="0"/>
              </a:rPr>
            </a:br>
            <a:r>
              <a:rPr lang="en-US" dirty="0">
                <a:solidFill>
                  <a:schemeClr val="bg1"/>
                </a:solidFill>
                <a:latin typeface="Times New Roman" pitchFamily="18" charset="0"/>
                <a:cs typeface="Times New Roman" pitchFamily="18" charset="0"/>
              </a:rPr>
              <a:t>  on   </a:t>
            </a:r>
            <a:br>
              <a:rPr lang="en-US" sz="1600" dirty="0">
                <a:solidFill>
                  <a:schemeClr val="bg1"/>
                </a:solidFill>
                <a:latin typeface="Times New Roman" pitchFamily="18" charset="0"/>
                <a:cs typeface="Times New Roman" pitchFamily="18" charset="0"/>
              </a:rPr>
            </a:br>
            <a:endParaRPr lang="en-US" dirty="0">
              <a:solidFill>
                <a:schemeClr val="bg1"/>
              </a:solidFill>
            </a:endParaRPr>
          </a:p>
        </p:txBody>
      </p:sp>
      <p:sp>
        <p:nvSpPr>
          <p:cNvPr id="8" name="TextBox 7">
            <a:extLst>
              <a:ext uri="{FF2B5EF4-FFF2-40B4-BE49-F238E27FC236}">
                <a16:creationId xmlns:a16="http://schemas.microsoft.com/office/drawing/2014/main" id="{EDD6EE2B-65FB-5546-E207-34E96930E900}"/>
              </a:ext>
            </a:extLst>
          </p:cNvPr>
          <p:cNvSpPr txBox="1"/>
          <p:nvPr/>
        </p:nvSpPr>
        <p:spPr>
          <a:xfrm>
            <a:off x="1930400" y="2991573"/>
            <a:ext cx="8556977" cy="1107996"/>
          </a:xfrm>
          <a:prstGeom prst="rect">
            <a:avLst/>
          </a:prstGeom>
          <a:noFill/>
        </p:spPr>
        <p:txBody>
          <a:bodyPr wrap="square" rtlCol="0">
            <a:spAutoFit/>
          </a:bodyPr>
          <a:lstStyle/>
          <a:p>
            <a:pPr algn="ctr"/>
            <a:r>
              <a:rPr lang="en-US" sz="2400" b="1" dirty="0">
                <a:solidFill>
                  <a:schemeClr val="bg1"/>
                </a:solidFill>
                <a:effectLst/>
                <a:latin typeface="Times New Roman" panose="02020603050405020304" pitchFamily="18" charset="0"/>
                <a:cs typeface="Times New Roman" panose="02020603050405020304" pitchFamily="18" charset="0"/>
              </a:rPr>
              <a:t>“</a:t>
            </a:r>
            <a:r>
              <a:rPr lang="en-US" sz="2400" b="1" dirty="0">
                <a:solidFill>
                  <a:schemeClr val="bg1"/>
                </a:solidFill>
              </a:rPr>
              <a:t>Practical Algorithm Substitution Attacks on Real-World Public-Key Cryptosystems</a:t>
            </a:r>
            <a:r>
              <a:rPr lang="en-IN" sz="2400" b="1" dirty="0">
                <a:solidFill>
                  <a:schemeClr val="bg1"/>
                </a:solidFill>
                <a:effectLst/>
                <a:latin typeface="Times New Roman" panose="02020603050405020304" pitchFamily="18" charset="0"/>
                <a:cs typeface="Times New Roman" panose="02020603050405020304" pitchFamily="18" charset="0"/>
              </a:rPr>
              <a:t>” </a:t>
            </a:r>
            <a:endParaRPr lang="en-IN" sz="2800" b="1" dirty="0">
              <a:solidFill>
                <a:schemeClr val="bg1"/>
              </a:solidFill>
              <a:latin typeface="Times New Roman" panose="02020603050405020304" pitchFamily="18" charset="0"/>
              <a:cs typeface="Times New Roman" panose="02020603050405020304" pitchFamily="18" charset="0"/>
            </a:endParaRPr>
          </a:p>
          <a:p>
            <a:endParaRPr lang="en-US" dirty="0"/>
          </a:p>
        </p:txBody>
      </p:sp>
      <p:sp>
        <p:nvSpPr>
          <p:cNvPr id="9" name="TextBox 8">
            <a:extLst>
              <a:ext uri="{FF2B5EF4-FFF2-40B4-BE49-F238E27FC236}">
                <a16:creationId xmlns:a16="http://schemas.microsoft.com/office/drawing/2014/main" id="{FE68AD10-511B-725C-EAC7-99957B80346F}"/>
              </a:ext>
            </a:extLst>
          </p:cNvPr>
          <p:cNvSpPr txBox="1"/>
          <p:nvPr/>
        </p:nvSpPr>
        <p:spPr>
          <a:xfrm>
            <a:off x="4628444" y="3840587"/>
            <a:ext cx="3160888" cy="646331"/>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PRESENTED BY:</a:t>
            </a:r>
          </a:p>
          <a:p>
            <a:pPr algn="ctr"/>
            <a:r>
              <a:rPr lang="en-US" dirty="0">
                <a:solidFill>
                  <a:schemeClr val="bg1"/>
                </a:solidFill>
                <a:latin typeface="Times New Roman" panose="02020603050405020304" pitchFamily="18" charset="0"/>
                <a:cs typeface="Times New Roman" panose="02020603050405020304" pitchFamily="18" charset="0"/>
              </a:rPr>
              <a:t>SHRAVAN L</a:t>
            </a:r>
          </a:p>
        </p:txBody>
      </p:sp>
      <p:sp>
        <p:nvSpPr>
          <p:cNvPr id="10" name="TextBox 9">
            <a:extLst>
              <a:ext uri="{FF2B5EF4-FFF2-40B4-BE49-F238E27FC236}">
                <a16:creationId xmlns:a16="http://schemas.microsoft.com/office/drawing/2014/main" id="{3E9543D6-6220-3E5A-4D19-E91C2749F396}"/>
              </a:ext>
            </a:extLst>
          </p:cNvPr>
          <p:cNvSpPr txBox="1"/>
          <p:nvPr/>
        </p:nvSpPr>
        <p:spPr>
          <a:xfrm>
            <a:off x="4385732" y="4515872"/>
            <a:ext cx="3646311" cy="2108269"/>
          </a:xfrm>
          <a:prstGeom prst="rect">
            <a:avLst/>
          </a:prstGeom>
          <a:noFill/>
        </p:spPr>
        <p:txBody>
          <a:bodyPr wrap="square" rtlCol="0">
            <a:spAutoFit/>
          </a:bodyPr>
          <a:lstStyle/>
          <a:p>
            <a:pPr algn="ctr"/>
            <a:r>
              <a:rPr lang="en-US" sz="2000" dirty="0">
                <a:solidFill>
                  <a:schemeClr val="bg1"/>
                </a:solidFill>
                <a:latin typeface="Times New Roman" pitchFamily="18" charset="0"/>
                <a:cs typeface="Times New Roman" pitchFamily="18" charset="0"/>
              </a:rPr>
              <a:t>Under the guidance of  :  </a:t>
            </a:r>
            <a:br>
              <a:rPr lang="en-US" sz="2000" dirty="0">
                <a:solidFill>
                  <a:schemeClr val="bg1"/>
                </a:solidFill>
                <a:latin typeface="Times New Roman" pitchFamily="18" charset="0"/>
                <a:cs typeface="Times New Roman" pitchFamily="18" charset="0"/>
              </a:rPr>
            </a:br>
            <a:br>
              <a:rPr lang="en-US" sz="11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Prof. Kokila </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Assistant Professor</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Dept of CSE SCE</a:t>
            </a:r>
            <a:br>
              <a:rPr lang="en-US" sz="2000" dirty="0">
                <a:solidFill>
                  <a:schemeClr val="bg1"/>
                </a:solidFill>
                <a:latin typeface="Times New Roman" pitchFamily="18" charset="0"/>
                <a:cs typeface="Times New Roman" pitchFamily="18" charset="0"/>
              </a:rPr>
            </a:br>
            <a:r>
              <a:rPr lang="en-US" sz="2000" dirty="0">
                <a:solidFill>
                  <a:schemeClr val="bg1"/>
                </a:solidFill>
                <a:latin typeface="Times New Roman" pitchFamily="18" charset="0"/>
                <a:cs typeface="Times New Roman" pitchFamily="18" charset="0"/>
              </a:rPr>
              <a:t>2023-2024</a:t>
            </a:r>
            <a:br>
              <a:rPr lang="en-US" sz="2000" dirty="0">
                <a:solidFill>
                  <a:schemeClr val="bg1"/>
                </a:solidFill>
                <a:latin typeface="Times New Roman" pitchFamily="18" charset="0"/>
                <a:cs typeface="Times New Roman" pitchFamily="18" charset="0"/>
              </a:rPr>
            </a:br>
            <a:endParaRPr lang="en-US" sz="2000" dirty="0">
              <a:solidFill>
                <a:schemeClr val="bg1"/>
              </a:solidFill>
              <a:latin typeface="Times New Roman" pitchFamily="18" charset="0"/>
              <a:cs typeface="Times New Roman" pitchFamily="18" charset="0"/>
            </a:endParaRPr>
          </a:p>
        </p:txBody>
      </p:sp>
      <p:pic>
        <p:nvPicPr>
          <p:cNvPr id="11" name="image1.jpeg">
            <a:extLst>
              <a:ext uri="{FF2B5EF4-FFF2-40B4-BE49-F238E27FC236}">
                <a16:creationId xmlns:a16="http://schemas.microsoft.com/office/drawing/2014/main" id="{8FF2FF01-9867-CDD2-5A63-10EBACCE0260}"/>
              </a:ext>
            </a:extLst>
          </p:cNvPr>
          <p:cNvPicPr>
            <a:picLocks noChangeAspect="1"/>
          </p:cNvPicPr>
          <p:nvPr/>
        </p:nvPicPr>
        <p:blipFill>
          <a:blip r:embed="rId2" cstate="print"/>
          <a:stretch>
            <a:fillRect/>
          </a:stretch>
        </p:blipFill>
        <p:spPr>
          <a:xfrm>
            <a:off x="9936267" y="565897"/>
            <a:ext cx="1009650" cy="1064642"/>
          </a:xfrm>
          <a:prstGeom prst="rect">
            <a:avLst/>
          </a:prstGeom>
        </p:spPr>
      </p:pic>
      <p:pic>
        <p:nvPicPr>
          <p:cNvPr id="12" name="image2.jpeg">
            <a:extLst>
              <a:ext uri="{FF2B5EF4-FFF2-40B4-BE49-F238E27FC236}">
                <a16:creationId xmlns:a16="http://schemas.microsoft.com/office/drawing/2014/main" id="{C3972A6E-FB4F-9E5F-F1A7-E70C4CA4ACEC}"/>
              </a:ext>
            </a:extLst>
          </p:cNvPr>
          <p:cNvPicPr>
            <a:picLocks noChangeAspect="1"/>
          </p:cNvPicPr>
          <p:nvPr/>
        </p:nvPicPr>
        <p:blipFill>
          <a:blip r:embed="rId3" cstate="print"/>
          <a:stretch>
            <a:fillRect/>
          </a:stretch>
        </p:blipFill>
        <p:spPr>
          <a:xfrm>
            <a:off x="1244954" y="620889"/>
            <a:ext cx="1009650" cy="1009650"/>
          </a:xfrm>
          <a:prstGeom prst="rect">
            <a:avLst/>
          </a:prstGeom>
        </p:spPr>
      </p:pic>
    </p:spTree>
    <p:extLst>
      <p:ext uri="{BB962C8B-B14F-4D97-AF65-F5344CB8AC3E}">
        <p14:creationId xmlns:p14="http://schemas.microsoft.com/office/powerpoint/2010/main" val="306700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A86DF-F519-A6FC-492C-E564B794FBB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CONTENTS</a:t>
            </a:r>
            <a:endParaRPr lang="en-US" dirty="0"/>
          </a:p>
        </p:txBody>
      </p:sp>
      <p:sp>
        <p:nvSpPr>
          <p:cNvPr id="3" name="Content Placeholder 2">
            <a:extLst>
              <a:ext uri="{FF2B5EF4-FFF2-40B4-BE49-F238E27FC236}">
                <a16:creationId xmlns:a16="http://schemas.microsoft.com/office/drawing/2014/main" id="{2E625A79-680B-8B4F-4AED-071F3C2828C9}"/>
              </a:ext>
            </a:extLst>
          </p:cNvPr>
          <p:cNvSpPr>
            <a:spLocks noGrp="1"/>
          </p:cNvSpPr>
          <p:nvPr>
            <p:ph idx="1"/>
          </p:nvPr>
        </p:nvSpPr>
        <p:spPr>
          <a:xfrm>
            <a:off x="485422" y="2276123"/>
            <a:ext cx="11198578" cy="3416300"/>
          </a:xfrm>
        </p:spPr>
        <p:txBody>
          <a:bodyPr>
            <a:normAutofit/>
          </a:bodyPr>
          <a:lstStyle/>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Introduction</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Literature Survey</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Methodologies</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Conclusion and Future Enhancements</a:t>
            </a:r>
          </a:p>
          <a:p>
            <a:pPr>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986512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C6659-4EFF-F2D5-6394-CEAC45C1173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DFF8889-C97F-8D46-9C22-6016BA653A1D}"/>
              </a:ext>
            </a:extLst>
          </p:cNvPr>
          <p:cNvSpPr>
            <a:spLocks noGrp="1"/>
          </p:cNvSpPr>
          <p:nvPr>
            <p:ph idx="1"/>
          </p:nvPr>
        </p:nvSpPr>
        <p:spPr>
          <a:xfrm>
            <a:off x="519290" y="2366432"/>
            <a:ext cx="11164710" cy="4384324"/>
          </a:xfrm>
        </p:spPr>
        <p:txBody>
          <a:bodyPr>
            <a:normAutofit/>
          </a:bodyPr>
          <a:lstStyle/>
          <a:p>
            <a:pPr algn="just">
              <a:lnSpc>
                <a:spcPct val="150000"/>
              </a:lnSpc>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Substitution attacks are a type of cryptanalytic attack where an attacker tries to recover the plaintext or the secret key by systematically substituting different values (such as the public key, ciphertext, or other parameters) and analyzing the output.</a:t>
            </a:r>
            <a:r>
              <a:rPr lang="en-GB"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a:lnSpc>
                <a:spcPct val="150000"/>
              </a:lnSpc>
            </a:pPr>
            <a:r>
              <a:rPr 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In the context of public-key cryptosystems, substitution attacks can be practical in certain scenarios, particularly when the underlying cryptosystem or its implementation has vulnerabilities or weaknesses.</a:t>
            </a:r>
            <a:endParaRPr lang="en-IN"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020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15E77-C754-C304-D17E-95ED2A0D7EC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SIGNIFICANCE OF THE TOPIC</a:t>
            </a:r>
            <a:endParaRPr lang="en-US" dirty="0"/>
          </a:p>
        </p:txBody>
      </p:sp>
      <p:sp>
        <p:nvSpPr>
          <p:cNvPr id="3" name="Content Placeholder 2">
            <a:extLst>
              <a:ext uri="{FF2B5EF4-FFF2-40B4-BE49-F238E27FC236}">
                <a16:creationId xmlns:a16="http://schemas.microsoft.com/office/drawing/2014/main" id="{8BB406EE-DA11-4938-02E2-00C21648B34D}"/>
              </a:ext>
            </a:extLst>
          </p:cNvPr>
          <p:cNvSpPr>
            <a:spLocks noGrp="1"/>
          </p:cNvSpPr>
          <p:nvPr>
            <p:ph idx="1"/>
          </p:nvPr>
        </p:nvSpPr>
        <p:spPr>
          <a:xfrm>
            <a:off x="519289" y="2287411"/>
            <a:ext cx="11164711" cy="3416300"/>
          </a:xfrm>
        </p:spPr>
        <p:txBody>
          <a:bodyPr>
            <a:normAutofit/>
          </a:bodyPr>
          <a:lstStyle/>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They expose vulnerabilities and weaknesses in the implementation or design of widely-used cryptographic algorithms, potentially compromising the security of critical systems and data.</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924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9DCC-5A5B-063B-BF30-E17F20184BA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SCOPE OF THE TOPIC</a:t>
            </a:r>
            <a:endParaRPr lang="en-US" dirty="0"/>
          </a:p>
        </p:txBody>
      </p:sp>
      <p:sp>
        <p:nvSpPr>
          <p:cNvPr id="3" name="Content Placeholder 2">
            <a:extLst>
              <a:ext uri="{FF2B5EF4-FFF2-40B4-BE49-F238E27FC236}">
                <a16:creationId xmlns:a16="http://schemas.microsoft.com/office/drawing/2014/main" id="{D2AFFAC7-D40B-5347-9600-9BFAA5E0F0C4}"/>
              </a:ext>
            </a:extLst>
          </p:cNvPr>
          <p:cNvSpPr>
            <a:spLocks noGrp="1"/>
          </p:cNvSpPr>
          <p:nvPr>
            <p:ph idx="1"/>
          </p:nvPr>
        </p:nvSpPr>
        <p:spPr>
          <a:xfrm>
            <a:off x="507999" y="2276123"/>
            <a:ext cx="11209867" cy="3416300"/>
          </a:xfrm>
        </p:spPr>
        <p:txBody>
          <a:bodyPr>
            <a:normAutofit/>
          </a:bodyPr>
          <a:lstStyle/>
          <a:p>
            <a:pPr algn="just">
              <a:lnSpc>
                <a:spcPct val="150000"/>
              </a:lnSpc>
            </a:pPr>
            <a:r>
              <a:rPr lang="en-US" sz="2000" b="0" i="0" dirty="0">
                <a:solidFill>
                  <a:schemeClr val="tx1"/>
                </a:solidFill>
                <a:effectLst/>
                <a:latin typeface="Times New Roman" panose="02020603050405020304" pitchFamily="18" charset="0"/>
                <a:cs typeface="Times New Roman" panose="02020603050405020304" pitchFamily="18" charset="0"/>
              </a:rPr>
              <a:t>The scope of the topic, "Practical Algorithm Substitution Attacks on Real-World Public-Key Cryptosystems," encompasses a comprehensive examination of algorithm substitution attacks within the context of real-world public-key cryptosystems.</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62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5B243-786F-FD13-4714-F21C37114F8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US" dirty="0"/>
          </a:p>
        </p:txBody>
      </p:sp>
      <p:graphicFrame>
        <p:nvGraphicFramePr>
          <p:cNvPr id="5" name="Content Placeholder 4">
            <a:extLst>
              <a:ext uri="{FF2B5EF4-FFF2-40B4-BE49-F238E27FC236}">
                <a16:creationId xmlns:a16="http://schemas.microsoft.com/office/drawing/2014/main" id="{BD56E2C6-AB4C-238E-1438-4C46441DCB5D}"/>
              </a:ext>
            </a:extLst>
          </p:cNvPr>
          <p:cNvGraphicFramePr>
            <a:graphicFrameLocks noGrp="1"/>
          </p:cNvGraphicFramePr>
          <p:nvPr>
            <p:ph idx="1"/>
            <p:extLst>
              <p:ext uri="{D42A27DB-BD31-4B8C-83A1-F6EECF244321}">
                <p14:modId xmlns:p14="http://schemas.microsoft.com/office/powerpoint/2010/main" val="4164901424"/>
              </p:ext>
            </p:extLst>
          </p:nvPr>
        </p:nvGraphicFramePr>
        <p:xfrm>
          <a:off x="496711" y="2291644"/>
          <a:ext cx="11209867" cy="4297416"/>
        </p:xfrm>
        <a:graphic>
          <a:graphicData uri="http://schemas.openxmlformats.org/drawingml/2006/table">
            <a:tbl>
              <a:tblPr firstRow="1" bandRow="1">
                <a:tableStyleId>{74C1A8A3-306A-4EB7-A6B1-4F7E0EB9C5D6}</a:tableStyleId>
              </a:tblPr>
              <a:tblGrid>
                <a:gridCol w="793520">
                  <a:extLst>
                    <a:ext uri="{9D8B030D-6E8A-4147-A177-3AD203B41FA5}">
                      <a16:colId xmlns:a16="http://schemas.microsoft.com/office/drawing/2014/main" val="1770334614"/>
                    </a:ext>
                  </a:extLst>
                </a:gridCol>
                <a:gridCol w="2509087">
                  <a:extLst>
                    <a:ext uri="{9D8B030D-6E8A-4147-A177-3AD203B41FA5}">
                      <a16:colId xmlns:a16="http://schemas.microsoft.com/office/drawing/2014/main" val="1920332719"/>
                    </a:ext>
                  </a:extLst>
                </a:gridCol>
                <a:gridCol w="1760275">
                  <a:extLst>
                    <a:ext uri="{9D8B030D-6E8A-4147-A177-3AD203B41FA5}">
                      <a16:colId xmlns:a16="http://schemas.microsoft.com/office/drawing/2014/main" val="1547151560"/>
                    </a:ext>
                  </a:extLst>
                </a:gridCol>
                <a:gridCol w="687344">
                  <a:extLst>
                    <a:ext uri="{9D8B030D-6E8A-4147-A177-3AD203B41FA5}">
                      <a16:colId xmlns:a16="http://schemas.microsoft.com/office/drawing/2014/main" val="4162612658"/>
                    </a:ext>
                  </a:extLst>
                </a:gridCol>
                <a:gridCol w="5459641">
                  <a:extLst>
                    <a:ext uri="{9D8B030D-6E8A-4147-A177-3AD203B41FA5}">
                      <a16:colId xmlns:a16="http://schemas.microsoft.com/office/drawing/2014/main" val="3316247688"/>
                    </a:ext>
                  </a:extLst>
                </a:gridCol>
              </a:tblGrid>
              <a:tr h="489413">
                <a:tc>
                  <a:txBody>
                    <a:bodyPr/>
                    <a:lstStyle/>
                    <a:p>
                      <a:pPr algn="ctr"/>
                      <a:r>
                        <a:rPr lang="en-US" sz="1600" b="1" dirty="0" err="1">
                          <a:latin typeface="Times New Roman" panose="02020603050405020304" pitchFamily="18" charset="0"/>
                          <a:cs typeface="Times New Roman" panose="02020603050405020304" pitchFamily="18" charset="0"/>
                        </a:rPr>
                        <a:t>Sl</a:t>
                      </a:r>
                      <a:r>
                        <a:rPr lang="en-US" sz="1600" b="1" dirty="0">
                          <a:latin typeface="Times New Roman" panose="02020603050405020304" pitchFamily="18" charset="0"/>
                          <a:cs typeface="Times New Roman" panose="02020603050405020304" pitchFamily="18" charset="0"/>
                        </a:rPr>
                        <a:t> No</a:t>
                      </a:r>
                    </a:p>
                  </a:txBody>
                  <a:tcPr/>
                </a:tc>
                <a:tc>
                  <a:txBody>
                    <a:bodyPr/>
                    <a:lstStyle/>
                    <a:p>
                      <a:pPr algn="ctr"/>
                      <a:r>
                        <a:rPr lang="en-US" sz="1600" b="1" dirty="0">
                          <a:latin typeface="Times New Roman" panose="02020603050405020304" pitchFamily="18" charset="0"/>
                          <a:cs typeface="Times New Roman" panose="02020603050405020304" pitchFamily="18" charset="0"/>
                        </a:rPr>
                        <a:t>Title</a:t>
                      </a:r>
                    </a:p>
                  </a:txBody>
                  <a:tcPr/>
                </a:tc>
                <a:tc>
                  <a:txBody>
                    <a:bodyPr/>
                    <a:lstStyle/>
                    <a:p>
                      <a:pPr algn="ctr"/>
                      <a:r>
                        <a:rPr lang="en-US" sz="1600" b="1" dirty="0">
                          <a:latin typeface="Times New Roman" panose="02020603050405020304" pitchFamily="18" charset="0"/>
                          <a:cs typeface="Times New Roman" panose="02020603050405020304" pitchFamily="18" charset="0"/>
                        </a:rPr>
                        <a:t>Author</a:t>
                      </a:r>
                    </a:p>
                  </a:txBody>
                  <a:tcPr/>
                </a:tc>
                <a:tc>
                  <a:txBody>
                    <a:bodyPr/>
                    <a:lstStyle/>
                    <a:p>
                      <a:pPr algn="ctr"/>
                      <a:r>
                        <a:rPr lang="en-US" sz="1600" b="1" dirty="0">
                          <a:latin typeface="Times New Roman" panose="02020603050405020304" pitchFamily="18" charset="0"/>
                          <a:cs typeface="Times New Roman" panose="02020603050405020304" pitchFamily="18" charset="0"/>
                        </a:rPr>
                        <a:t>Year</a:t>
                      </a:r>
                    </a:p>
                  </a:txBody>
                  <a:tcPr/>
                </a:tc>
                <a:tc>
                  <a:txBody>
                    <a:bodyPr/>
                    <a:lstStyle/>
                    <a:p>
                      <a:pPr algn="ctr"/>
                      <a:r>
                        <a:rPr lang="en-US" sz="1600" b="1" dirty="0">
                          <a:latin typeface="Times New Roman" panose="02020603050405020304" pitchFamily="18" charset="0"/>
                          <a:cs typeface="Times New Roman" panose="02020603050405020304" pitchFamily="18" charset="0"/>
                        </a:rPr>
                        <a:t>Contributions and drawbacks.</a:t>
                      </a:r>
                    </a:p>
                  </a:txBody>
                  <a:tcPr/>
                </a:tc>
                <a:extLst>
                  <a:ext uri="{0D108BD9-81ED-4DB2-BD59-A6C34878D82A}">
                    <a16:rowId xmlns:a16="http://schemas.microsoft.com/office/drawing/2014/main" val="1102383924"/>
                  </a:ext>
                </a:extLst>
              </a:tr>
              <a:tr h="1698967">
                <a:tc>
                  <a:txBody>
                    <a:bodyPr/>
                    <a:lstStyle/>
                    <a:p>
                      <a:pPr algn="ctr"/>
                      <a:r>
                        <a:rPr lang="en-US" sz="1400" dirty="0">
                          <a:latin typeface="Times New Roman" panose="02020603050405020304" pitchFamily="18" charset="0"/>
                          <a:cs typeface="Times New Roman" panose="02020603050405020304" pitchFamily="18" charset="0"/>
                        </a:rPr>
                        <a:t>1.</a:t>
                      </a:r>
                    </a:p>
                  </a:txBody>
                  <a:tcPr/>
                </a:tc>
                <a:tc>
                  <a:txBody>
                    <a:bodyPr/>
                    <a:lstStyle/>
                    <a:p>
                      <a:r>
                        <a:rPr lang="en-GB" sz="1400" kern="1200" dirty="0">
                          <a:solidFill>
                            <a:schemeClr val="dk1"/>
                          </a:solidFill>
                          <a:effectLst/>
                          <a:latin typeface="Times New Roman" panose="02020603050405020304" pitchFamily="18" charset="0"/>
                          <a:ea typeface="+mn-ea"/>
                          <a:cs typeface="Times New Roman" panose="02020603050405020304" pitchFamily="18" charset="0"/>
                        </a:rPr>
                        <a:t>Homomorphic Encryption-Based Secure Data Sharing and Processing in Mobile Cloud Computing</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GB" sz="1400" kern="1200" dirty="0">
                          <a:solidFill>
                            <a:schemeClr val="dk1"/>
                          </a:solidFill>
                          <a:effectLst/>
                          <a:latin typeface="Times New Roman" panose="02020603050405020304" pitchFamily="18" charset="0"/>
                          <a:ea typeface="+mn-ea"/>
                          <a:cs typeface="Times New Roman" panose="02020603050405020304" pitchFamily="18" charset="0"/>
                        </a:rPr>
                        <a:t>H. Zhang et al.</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2016</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GB" sz="1400" kern="1200" dirty="0">
                          <a:solidFill>
                            <a:schemeClr val="dk1"/>
                          </a:solidFill>
                          <a:effectLst/>
                          <a:latin typeface="Times New Roman" panose="02020603050405020304" pitchFamily="18" charset="0"/>
                          <a:ea typeface="+mn-ea"/>
                          <a:cs typeface="Times New Roman" panose="02020603050405020304" pitchFamily="18" charset="0"/>
                        </a:rPr>
                        <a:t>By leveraging homomorphic encryption, the proposed approach allows computations to be performed directly on encrypted data, thus preserving privacy.</a:t>
                      </a:r>
                    </a:p>
                    <a:p>
                      <a:pPr algn="just"/>
                      <a:r>
                        <a:rPr lang="en-GB" sz="14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400" b="1" u="none" strike="noStrike" kern="1200" dirty="0">
                          <a:solidFill>
                            <a:schemeClr val="dk1"/>
                          </a:solidFill>
                          <a:effectLst/>
                          <a:latin typeface="Times New Roman" panose="02020603050405020304" pitchFamily="18" charset="0"/>
                          <a:cs typeface="Times New Roman" panose="02020603050405020304" pitchFamily="18" charset="0"/>
                        </a:rPr>
                        <a:t>Drawbacks: </a:t>
                      </a: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Scalability issues , computational overhead , key management.</a:t>
                      </a: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47881"/>
                  </a:ext>
                </a:extLst>
              </a:tr>
              <a:tr h="2109036">
                <a:tc>
                  <a:txBody>
                    <a:bodyPr/>
                    <a:lstStyle/>
                    <a:p>
                      <a:pPr algn="ctr"/>
                      <a:r>
                        <a:rPr lang="en-US" sz="14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kern="1200" dirty="0">
                          <a:solidFill>
                            <a:schemeClr val="dk1"/>
                          </a:solidFill>
                          <a:effectLst/>
                          <a:latin typeface="Times New Roman" panose="02020603050405020304" pitchFamily="18" charset="0"/>
                          <a:ea typeface="+mn-ea"/>
                          <a:cs typeface="Times New Roman" panose="02020603050405020304" pitchFamily="18" charset="0"/>
                        </a:rPr>
                        <a:t>Attribute-Based Encryption for Secure Data Sharing in Mobile Cloud Computing</a:t>
                      </a:r>
                      <a:r>
                        <a:rPr lang="en-IN" sz="1400" b="0" kern="1200" dirty="0">
                          <a:solidFill>
                            <a:schemeClr val="dk1"/>
                          </a:solidFill>
                          <a:effectLst/>
                          <a:latin typeface="Times New Roman" panose="02020603050405020304" pitchFamily="18" charset="0"/>
                          <a:cs typeface="Times New Roman" panose="02020603050405020304" pitchFamily="18" charset="0"/>
                        </a:rPr>
                        <a:t>. </a:t>
                      </a:r>
                      <a:endParaRPr lang="en-IN" sz="1400" b="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kern="1200" dirty="0">
                          <a:solidFill>
                            <a:schemeClr val="dk1"/>
                          </a:solidFill>
                          <a:effectLst/>
                          <a:latin typeface="Times New Roman" panose="02020603050405020304" pitchFamily="18" charset="0"/>
                          <a:ea typeface="+mn-ea"/>
                          <a:cs typeface="Times New Roman" panose="02020603050405020304" pitchFamily="18" charset="0"/>
                        </a:rPr>
                        <a:t>J. Wang et al</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2017</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GB" sz="1400" kern="1200" dirty="0">
                          <a:solidFill>
                            <a:schemeClr val="dk1"/>
                          </a:solidFill>
                          <a:effectLst/>
                          <a:latin typeface="Times New Roman" panose="02020603050405020304" pitchFamily="18" charset="0"/>
                          <a:ea typeface="+mn-ea"/>
                          <a:cs typeface="Times New Roman" panose="02020603050405020304" pitchFamily="18" charset="0"/>
                        </a:rPr>
                        <a:t>Secure Enclaves Implementation: The paper contributes to the field by implementing secure enclaves for privacy-preserving data encryption in mobile cloud computing environments.</a:t>
                      </a:r>
                      <a:endParaRPr lang="en-IN" sz="1400" kern="1200" dirty="0">
                        <a:solidFill>
                          <a:schemeClr val="dk1"/>
                        </a:solidFill>
                        <a:effectLst/>
                        <a:latin typeface="Times New Roman" panose="02020603050405020304" pitchFamily="18" charset="0"/>
                        <a:cs typeface="Times New Roman" panose="02020603050405020304" pitchFamily="18" charset="0"/>
                      </a:endParaRPr>
                    </a:p>
                    <a:p>
                      <a:pPr algn="just"/>
                      <a:r>
                        <a:rPr lang="en-IN" sz="1400" b="1" u="none" strike="noStrike" kern="1200" dirty="0">
                          <a:solidFill>
                            <a:schemeClr val="dk1"/>
                          </a:solidFill>
                          <a:effectLst/>
                          <a:latin typeface="Times New Roman" panose="02020603050405020304" pitchFamily="18" charset="0"/>
                          <a:cs typeface="Times New Roman" panose="02020603050405020304" pitchFamily="18" charset="0"/>
                        </a:rPr>
                        <a:t>Drawbacks: </a:t>
                      </a:r>
                      <a:r>
                        <a:rPr lang="en-GB" sz="1400" dirty="0">
                          <a:latin typeface="Times New Roman" panose="02020603050405020304" pitchFamily="18" charset="0"/>
                          <a:cs typeface="Times New Roman" panose="02020603050405020304" pitchFamily="18" charset="0"/>
                        </a:rPr>
                        <a:t>Complexity of Attribute Management , Key Management Overhead , Potential for Attribute Inference</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0745258"/>
                  </a:ext>
                </a:extLst>
              </a:tr>
            </a:tbl>
          </a:graphicData>
        </a:graphic>
      </p:graphicFrame>
    </p:spTree>
    <p:extLst>
      <p:ext uri="{BB962C8B-B14F-4D97-AF65-F5344CB8AC3E}">
        <p14:creationId xmlns:p14="http://schemas.microsoft.com/office/powerpoint/2010/main" val="304660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610A734-1981-7EC1-5F56-EC4212277A27}"/>
              </a:ext>
            </a:extLst>
          </p:cNvPr>
          <p:cNvGraphicFramePr>
            <a:graphicFrameLocks noGrp="1"/>
          </p:cNvGraphicFramePr>
          <p:nvPr>
            <p:ph idx="1"/>
            <p:extLst>
              <p:ext uri="{D42A27DB-BD31-4B8C-83A1-F6EECF244321}">
                <p14:modId xmlns:p14="http://schemas.microsoft.com/office/powerpoint/2010/main" val="246434230"/>
              </p:ext>
            </p:extLst>
          </p:nvPr>
        </p:nvGraphicFramePr>
        <p:xfrm>
          <a:off x="474133" y="485422"/>
          <a:ext cx="11221155" cy="6220178"/>
        </p:xfrm>
        <a:graphic>
          <a:graphicData uri="http://schemas.openxmlformats.org/drawingml/2006/table">
            <a:tbl>
              <a:tblPr firstRow="1" bandRow="1">
                <a:tableStyleId>{74C1A8A3-306A-4EB7-A6B1-4F7E0EB9C5D6}</a:tableStyleId>
              </a:tblPr>
              <a:tblGrid>
                <a:gridCol w="654756">
                  <a:extLst>
                    <a:ext uri="{9D8B030D-6E8A-4147-A177-3AD203B41FA5}">
                      <a16:colId xmlns:a16="http://schemas.microsoft.com/office/drawing/2014/main" val="2197632412"/>
                    </a:ext>
                  </a:extLst>
                </a:gridCol>
                <a:gridCol w="2483555">
                  <a:extLst>
                    <a:ext uri="{9D8B030D-6E8A-4147-A177-3AD203B41FA5}">
                      <a16:colId xmlns:a16="http://schemas.microsoft.com/office/drawing/2014/main" val="3370429391"/>
                    </a:ext>
                  </a:extLst>
                </a:gridCol>
                <a:gridCol w="1851378">
                  <a:extLst>
                    <a:ext uri="{9D8B030D-6E8A-4147-A177-3AD203B41FA5}">
                      <a16:colId xmlns:a16="http://schemas.microsoft.com/office/drawing/2014/main" val="1062420099"/>
                    </a:ext>
                  </a:extLst>
                </a:gridCol>
                <a:gridCol w="903111">
                  <a:extLst>
                    <a:ext uri="{9D8B030D-6E8A-4147-A177-3AD203B41FA5}">
                      <a16:colId xmlns:a16="http://schemas.microsoft.com/office/drawing/2014/main" val="2919764484"/>
                    </a:ext>
                  </a:extLst>
                </a:gridCol>
                <a:gridCol w="5328355">
                  <a:extLst>
                    <a:ext uri="{9D8B030D-6E8A-4147-A177-3AD203B41FA5}">
                      <a16:colId xmlns:a16="http://schemas.microsoft.com/office/drawing/2014/main" val="731843891"/>
                    </a:ext>
                  </a:extLst>
                </a:gridCol>
              </a:tblGrid>
              <a:tr h="642614">
                <a:tc>
                  <a:txBody>
                    <a:bodyPr/>
                    <a:lstStyle/>
                    <a:p>
                      <a:pPr algn="ctr"/>
                      <a:r>
                        <a:rPr lang="en-US" sz="1600" b="1" dirty="0" err="1">
                          <a:latin typeface="Times New Roman" panose="02020603050405020304" pitchFamily="18" charset="0"/>
                          <a:cs typeface="Times New Roman" panose="02020603050405020304" pitchFamily="18" charset="0"/>
                        </a:rPr>
                        <a:t>Sl</a:t>
                      </a:r>
                      <a:r>
                        <a:rPr lang="en-US" sz="1600" b="1" dirty="0">
                          <a:latin typeface="Times New Roman" panose="02020603050405020304" pitchFamily="18" charset="0"/>
                          <a:cs typeface="Times New Roman" panose="02020603050405020304" pitchFamily="18" charset="0"/>
                        </a:rPr>
                        <a:t> No</a:t>
                      </a:r>
                    </a:p>
                  </a:txBody>
                  <a:tcPr/>
                </a:tc>
                <a:tc>
                  <a:txBody>
                    <a:bodyPr/>
                    <a:lstStyle/>
                    <a:p>
                      <a:pPr algn="ctr"/>
                      <a:r>
                        <a:rPr lang="en-US" sz="1600" b="1" dirty="0">
                          <a:latin typeface="Times New Roman" panose="02020603050405020304" pitchFamily="18" charset="0"/>
                          <a:cs typeface="Times New Roman" panose="02020603050405020304" pitchFamily="18" charset="0"/>
                        </a:rPr>
                        <a:t>Title</a:t>
                      </a:r>
                    </a:p>
                  </a:txBody>
                  <a:tcPr/>
                </a:tc>
                <a:tc>
                  <a:txBody>
                    <a:bodyPr/>
                    <a:lstStyle/>
                    <a:p>
                      <a:pPr algn="ctr"/>
                      <a:r>
                        <a:rPr lang="en-US" sz="1600" b="1" dirty="0">
                          <a:latin typeface="Times New Roman" panose="02020603050405020304" pitchFamily="18" charset="0"/>
                          <a:cs typeface="Times New Roman" panose="02020603050405020304" pitchFamily="18" charset="0"/>
                        </a:rPr>
                        <a:t>Author</a:t>
                      </a:r>
                    </a:p>
                  </a:txBody>
                  <a:tcPr/>
                </a:tc>
                <a:tc>
                  <a:txBody>
                    <a:bodyPr/>
                    <a:lstStyle/>
                    <a:p>
                      <a:pPr algn="ctr"/>
                      <a:r>
                        <a:rPr lang="en-US" sz="1600" b="1" dirty="0">
                          <a:latin typeface="Times New Roman" panose="02020603050405020304" pitchFamily="18" charset="0"/>
                          <a:cs typeface="Times New Roman" panose="02020603050405020304" pitchFamily="18" charset="0"/>
                        </a:rPr>
                        <a:t>Year</a:t>
                      </a:r>
                    </a:p>
                  </a:txBody>
                  <a:tcPr/>
                </a:tc>
                <a:tc>
                  <a:txBody>
                    <a:bodyPr/>
                    <a:lstStyle/>
                    <a:p>
                      <a:pPr algn="ctr"/>
                      <a:r>
                        <a:rPr lang="en-US" sz="1600" b="1" dirty="0">
                          <a:latin typeface="Times New Roman" panose="02020603050405020304" pitchFamily="18" charset="0"/>
                          <a:cs typeface="Times New Roman" panose="02020603050405020304" pitchFamily="18" charset="0"/>
                        </a:rPr>
                        <a:t>Contributions and drawbacks.</a:t>
                      </a:r>
                    </a:p>
                  </a:txBody>
                  <a:tcPr/>
                </a:tc>
                <a:extLst>
                  <a:ext uri="{0D108BD9-81ED-4DB2-BD59-A6C34878D82A}">
                    <a16:rowId xmlns:a16="http://schemas.microsoft.com/office/drawing/2014/main" val="2910482088"/>
                  </a:ext>
                </a:extLst>
              </a:tr>
              <a:tr h="2694875">
                <a:tc>
                  <a:txBody>
                    <a:bodyPr/>
                    <a:lstStyle/>
                    <a:p>
                      <a:pPr algn="ctr"/>
                      <a:r>
                        <a:rPr lang="en-US" sz="14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Times New Roman" panose="02020603050405020304" pitchFamily="18" charset="0"/>
                          <a:ea typeface="+mn-ea"/>
                          <a:cs typeface="Times New Roman" panose="02020603050405020304" pitchFamily="18" charset="0"/>
                        </a:rPr>
                        <a:t>Privacy-Preserving Data Encryption Techniques for Big Data in Mobile Cloud Computing</a:t>
                      </a:r>
                      <a:endParaRPr lang="en-IN" sz="1400" b="0" u="none" strike="noStrike" kern="1200" dirty="0">
                        <a:solidFill>
                          <a:schemeClr val="tx1"/>
                        </a:solidFill>
                        <a:effectLst/>
                        <a:latin typeface="Times New Roman" panose="02020603050405020304" pitchFamily="18" charset="0"/>
                        <a:cs typeface="Times New Roman" panose="02020603050405020304" pitchFamily="18" charset="0"/>
                      </a:endParaRPr>
                    </a:p>
                  </a:txBody>
                  <a:tcPr/>
                </a:tc>
                <a:tc>
                  <a:txBody>
                    <a:bodyPr/>
                    <a:lstStyle/>
                    <a:p>
                      <a:pPr algn="l"/>
                      <a:r>
                        <a:rPr lang="en-US" sz="1400" kern="1200" dirty="0">
                          <a:solidFill>
                            <a:schemeClr val="dk1"/>
                          </a:solidFill>
                          <a:effectLst/>
                          <a:latin typeface="Times New Roman" panose="02020603050405020304" pitchFamily="18" charset="0"/>
                          <a:ea typeface="+mn-ea"/>
                          <a:cs typeface="Times New Roman" panose="02020603050405020304" pitchFamily="18" charset="0"/>
                        </a:rPr>
                        <a:t>X. Liu et al.</a:t>
                      </a:r>
                      <a:br>
                        <a:rPr lang="en-IN"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2018</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US" sz="1400" b="0" dirty="0">
                          <a:latin typeface="Times New Roman" panose="02020603050405020304" pitchFamily="18" charset="0"/>
                          <a:cs typeface="Times New Roman" panose="02020603050405020304" pitchFamily="18" charset="0"/>
                        </a:rPr>
                        <a:t> By covering a wide range of encryption methods, including homomorphic encryption, attribute-based encryption, proxy re-encryption, and secure multi-party computation, it offers a valuable resource for researchers and practitioners.</a:t>
                      </a:r>
                      <a:endParaRPr lang="en-IN" sz="1400" b="0" u="none" strike="noStrike" kern="1200" dirty="0">
                        <a:solidFill>
                          <a:schemeClr val="dk1"/>
                        </a:solidFill>
                        <a:effectLst/>
                        <a:latin typeface="Times New Roman" panose="02020603050405020304" pitchFamily="18" charset="0"/>
                        <a:cs typeface="Times New Roman" panose="02020603050405020304" pitchFamily="18" charset="0"/>
                      </a:endParaRPr>
                    </a:p>
                    <a:p>
                      <a:pPr algn="just"/>
                      <a:r>
                        <a:rPr lang="en-IN" sz="1400" b="1" u="none" strike="noStrike" kern="1200" dirty="0">
                          <a:solidFill>
                            <a:schemeClr val="dk1"/>
                          </a:solidFill>
                          <a:effectLst/>
                          <a:latin typeface="Times New Roman" panose="02020603050405020304" pitchFamily="18" charset="0"/>
                          <a:cs typeface="Times New Roman" panose="02020603050405020304" pitchFamily="18" charset="0"/>
                        </a:rPr>
                        <a:t>Drawbacks: </a:t>
                      </a:r>
                      <a:r>
                        <a:rPr lang="en-IN" sz="1400" b="0" u="none" strike="noStrike" kern="1200" dirty="0">
                          <a:solidFill>
                            <a:schemeClr val="dk1"/>
                          </a:solidFill>
                          <a:effectLst/>
                          <a:latin typeface="Times New Roman" panose="02020603050405020304" pitchFamily="18" charset="0"/>
                          <a:cs typeface="Times New Roman" panose="02020603050405020304" pitchFamily="18" charset="0"/>
                        </a:rPr>
                        <a:t>Limited Depth , </a:t>
                      </a:r>
                      <a:r>
                        <a:rPr lang="en-US" sz="1400" b="0" u="none" strike="noStrike" kern="1200" dirty="0">
                          <a:solidFill>
                            <a:schemeClr val="dk1"/>
                          </a:solidFill>
                          <a:effectLst/>
                          <a:latin typeface="Times New Roman" panose="02020603050405020304" pitchFamily="18" charset="0"/>
                          <a:cs typeface="Times New Roman" panose="02020603050405020304" pitchFamily="18" charset="0"/>
                        </a:rPr>
                        <a:t>Lack of Real-World Case Studies , Future Directions.</a:t>
                      </a: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7113921"/>
                  </a:ext>
                </a:extLst>
              </a:tr>
              <a:tr h="2882689">
                <a:tc>
                  <a:txBody>
                    <a:bodyPr/>
                    <a:lstStyle/>
                    <a:p>
                      <a:pPr algn="ctr"/>
                      <a:r>
                        <a:rPr lang="en-US" sz="1400" dirty="0">
                          <a:latin typeface="Times New Roman" panose="02020603050405020304" pitchFamily="18" charset="0"/>
                          <a:cs typeface="Times New Roman" panose="02020603050405020304" pitchFamily="18" charset="0"/>
                        </a:rPr>
                        <a:t>4.</a:t>
                      </a:r>
                    </a:p>
                  </a:txBody>
                  <a:tcPr/>
                </a:tc>
                <a:tc>
                  <a:txBody>
                    <a:bodyPr/>
                    <a:lstStyle/>
                    <a:p>
                      <a:r>
                        <a:rPr lang="en-US" sz="1400" kern="1200" dirty="0">
                          <a:solidFill>
                            <a:schemeClr val="dk1"/>
                          </a:solidFill>
                          <a:effectLst/>
                          <a:latin typeface="Times New Roman" panose="02020603050405020304" pitchFamily="18" charset="0"/>
                          <a:ea typeface="+mn-ea"/>
                          <a:cs typeface="Times New Roman" panose="02020603050405020304" pitchFamily="18" charset="0"/>
                        </a:rPr>
                        <a:t>A Secure and Privacy-Preserving Data Encryption Scheme for Mobile Cloud Computing"</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Times New Roman" panose="02020603050405020304" pitchFamily="18" charset="0"/>
                          <a:ea typeface="+mn-ea"/>
                          <a:cs typeface="Times New Roman" panose="02020603050405020304" pitchFamily="18" charset="0"/>
                        </a:rPr>
                        <a:t>Y. Zhang, W. Liu, and Y. Chen</a:t>
                      </a:r>
                      <a:endParaRPr lang="en-IN" sz="1400" kern="1200" dirty="0">
                        <a:solidFill>
                          <a:schemeClr val="dk1"/>
                        </a:solidFill>
                        <a:effectLst/>
                        <a:latin typeface="Times New Roman" panose="02020603050405020304" pitchFamily="18" charset="0"/>
                        <a:ea typeface="+mn-ea"/>
                        <a:cs typeface="Times New Roman" panose="02020603050405020304" pitchFamily="18" charset="0"/>
                      </a:endParaRPr>
                    </a:p>
                    <a:p>
                      <a:pPr algn="l"/>
                      <a:br>
                        <a:rPr lang="en-IN"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2018</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US" sz="1400" kern="1200" dirty="0">
                          <a:solidFill>
                            <a:schemeClr val="dk1"/>
                          </a:solidFill>
                          <a:effectLst/>
                          <a:latin typeface="Times New Roman" panose="02020603050405020304" pitchFamily="18" charset="0"/>
                          <a:ea typeface="+mn-ea"/>
                          <a:cs typeface="Times New Roman" panose="02020603050405020304" pitchFamily="18" charset="0"/>
                        </a:rPr>
                        <a:t>The proposed encryption scheme aims to provide robust security measures to protect data in mobile cloud computing environments. By employing advanced encryption algorithms and secure key management mechanisms, it addresses the security challenges associated with data transmission and processing in the cloud.</a:t>
                      </a:r>
                      <a:endParaRPr lang="en-IN" sz="1400" dirty="0">
                        <a:latin typeface="Times New Roman" panose="02020603050405020304" pitchFamily="18" charset="0"/>
                        <a:cs typeface="Times New Roman" panose="02020603050405020304" pitchFamily="18"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IN" sz="1400" b="1" u="none" strike="noStrike" kern="1200" dirty="0">
                          <a:solidFill>
                            <a:schemeClr val="dk1"/>
                          </a:solidFill>
                          <a:effectLst/>
                          <a:latin typeface="Times New Roman" panose="02020603050405020304" pitchFamily="18" charset="0"/>
                          <a:cs typeface="Times New Roman" panose="02020603050405020304" pitchFamily="18" charset="0"/>
                        </a:rPr>
                        <a:t>Drawbacks: </a:t>
                      </a:r>
                      <a:r>
                        <a:rPr lang="en-IN" sz="1400" b="0" u="none" strike="noStrike" kern="1200" dirty="0">
                          <a:solidFill>
                            <a:schemeClr val="dk1"/>
                          </a:solidFill>
                          <a:effectLst/>
                          <a:latin typeface="Times New Roman" panose="02020603050405020304" pitchFamily="18" charset="0"/>
                          <a:ea typeface="+mn-ea"/>
                          <a:cs typeface="Times New Roman" panose="02020603050405020304" pitchFamily="18" charset="0"/>
                        </a:rPr>
                        <a:t>Limited Evaluation , Complexity , Resource Overhead.</a:t>
                      </a: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55237118"/>
                  </a:ext>
                </a:extLst>
              </a:tr>
            </a:tbl>
          </a:graphicData>
        </a:graphic>
      </p:graphicFrame>
    </p:spTree>
    <p:extLst>
      <p:ext uri="{BB962C8B-B14F-4D97-AF65-F5344CB8AC3E}">
        <p14:creationId xmlns:p14="http://schemas.microsoft.com/office/powerpoint/2010/main" val="1347576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1E40231-FD80-BDDF-A8F8-85CADF813817}"/>
              </a:ext>
            </a:extLst>
          </p:cNvPr>
          <p:cNvGraphicFramePr>
            <a:graphicFrameLocks noGrp="1"/>
          </p:cNvGraphicFramePr>
          <p:nvPr>
            <p:ph idx="1"/>
            <p:extLst>
              <p:ext uri="{D42A27DB-BD31-4B8C-83A1-F6EECF244321}">
                <p14:modId xmlns:p14="http://schemas.microsoft.com/office/powerpoint/2010/main" val="2442158170"/>
              </p:ext>
            </p:extLst>
          </p:nvPr>
        </p:nvGraphicFramePr>
        <p:xfrm>
          <a:off x="485421" y="496711"/>
          <a:ext cx="11232445" cy="5678312"/>
        </p:xfrm>
        <a:graphic>
          <a:graphicData uri="http://schemas.openxmlformats.org/drawingml/2006/table">
            <a:tbl>
              <a:tblPr firstRow="1" bandRow="1">
                <a:tableStyleId>{74C1A8A3-306A-4EB7-A6B1-4F7E0EB9C5D6}</a:tableStyleId>
              </a:tblPr>
              <a:tblGrid>
                <a:gridCol w="745068">
                  <a:extLst>
                    <a:ext uri="{9D8B030D-6E8A-4147-A177-3AD203B41FA5}">
                      <a16:colId xmlns:a16="http://schemas.microsoft.com/office/drawing/2014/main" val="3825051873"/>
                    </a:ext>
                  </a:extLst>
                </a:gridCol>
                <a:gridCol w="2415822">
                  <a:extLst>
                    <a:ext uri="{9D8B030D-6E8A-4147-A177-3AD203B41FA5}">
                      <a16:colId xmlns:a16="http://schemas.microsoft.com/office/drawing/2014/main" val="2715789440"/>
                    </a:ext>
                  </a:extLst>
                </a:gridCol>
                <a:gridCol w="2122311">
                  <a:extLst>
                    <a:ext uri="{9D8B030D-6E8A-4147-A177-3AD203B41FA5}">
                      <a16:colId xmlns:a16="http://schemas.microsoft.com/office/drawing/2014/main" val="307390467"/>
                    </a:ext>
                  </a:extLst>
                </a:gridCol>
                <a:gridCol w="801511">
                  <a:extLst>
                    <a:ext uri="{9D8B030D-6E8A-4147-A177-3AD203B41FA5}">
                      <a16:colId xmlns:a16="http://schemas.microsoft.com/office/drawing/2014/main" val="531352956"/>
                    </a:ext>
                  </a:extLst>
                </a:gridCol>
                <a:gridCol w="5147733">
                  <a:extLst>
                    <a:ext uri="{9D8B030D-6E8A-4147-A177-3AD203B41FA5}">
                      <a16:colId xmlns:a16="http://schemas.microsoft.com/office/drawing/2014/main" val="3956350593"/>
                    </a:ext>
                  </a:extLst>
                </a:gridCol>
              </a:tblGrid>
              <a:tr h="796554">
                <a:tc>
                  <a:txBody>
                    <a:bodyPr/>
                    <a:lstStyle/>
                    <a:p>
                      <a:pPr algn="ctr"/>
                      <a:r>
                        <a:rPr lang="en-US" sz="1600" b="1" dirty="0" err="1">
                          <a:latin typeface="Times New Roman" panose="02020603050405020304" pitchFamily="18" charset="0"/>
                          <a:cs typeface="Times New Roman" panose="02020603050405020304" pitchFamily="18" charset="0"/>
                        </a:rPr>
                        <a:t>Sl</a:t>
                      </a:r>
                      <a:r>
                        <a:rPr lang="en-US" sz="1600" b="1" dirty="0">
                          <a:latin typeface="Times New Roman" panose="02020603050405020304" pitchFamily="18" charset="0"/>
                          <a:cs typeface="Times New Roman" panose="02020603050405020304" pitchFamily="18" charset="0"/>
                        </a:rPr>
                        <a:t> No</a:t>
                      </a:r>
                    </a:p>
                  </a:txBody>
                  <a:tcPr/>
                </a:tc>
                <a:tc>
                  <a:txBody>
                    <a:bodyPr/>
                    <a:lstStyle/>
                    <a:p>
                      <a:pPr algn="ctr"/>
                      <a:r>
                        <a:rPr lang="en-US" sz="1600" b="1" dirty="0">
                          <a:latin typeface="Times New Roman" panose="02020603050405020304" pitchFamily="18" charset="0"/>
                          <a:cs typeface="Times New Roman" panose="02020603050405020304" pitchFamily="18" charset="0"/>
                        </a:rPr>
                        <a:t>Title</a:t>
                      </a:r>
                    </a:p>
                  </a:txBody>
                  <a:tcPr/>
                </a:tc>
                <a:tc>
                  <a:txBody>
                    <a:bodyPr/>
                    <a:lstStyle/>
                    <a:p>
                      <a:pPr algn="ctr"/>
                      <a:r>
                        <a:rPr lang="en-US" sz="1600" b="1" dirty="0">
                          <a:latin typeface="Times New Roman" panose="02020603050405020304" pitchFamily="18" charset="0"/>
                          <a:cs typeface="Times New Roman" panose="02020603050405020304" pitchFamily="18" charset="0"/>
                        </a:rPr>
                        <a:t>Author</a:t>
                      </a:r>
                    </a:p>
                  </a:txBody>
                  <a:tcPr/>
                </a:tc>
                <a:tc>
                  <a:txBody>
                    <a:bodyPr/>
                    <a:lstStyle/>
                    <a:p>
                      <a:pPr algn="ctr"/>
                      <a:r>
                        <a:rPr lang="en-US" sz="1600" b="1" dirty="0">
                          <a:latin typeface="Times New Roman" panose="02020603050405020304" pitchFamily="18" charset="0"/>
                          <a:cs typeface="Times New Roman" panose="02020603050405020304" pitchFamily="18" charset="0"/>
                        </a:rPr>
                        <a:t>Year</a:t>
                      </a:r>
                    </a:p>
                  </a:txBody>
                  <a:tcPr/>
                </a:tc>
                <a:tc>
                  <a:txBody>
                    <a:bodyPr/>
                    <a:lstStyle/>
                    <a:p>
                      <a:pPr algn="ctr"/>
                      <a:r>
                        <a:rPr lang="en-US" sz="1600" b="1" dirty="0">
                          <a:latin typeface="Times New Roman" panose="02020603050405020304" pitchFamily="18" charset="0"/>
                          <a:cs typeface="Times New Roman" panose="02020603050405020304" pitchFamily="18" charset="0"/>
                        </a:rPr>
                        <a:t>Contributions and drawbacks.</a:t>
                      </a:r>
                    </a:p>
                  </a:txBody>
                  <a:tcPr/>
                </a:tc>
                <a:extLst>
                  <a:ext uri="{0D108BD9-81ED-4DB2-BD59-A6C34878D82A}">
                    <a16:rowId xmlns:a16="http://schemas.microsoft.com/office/drawing/2014/main" val="1076427933"/>
                  </a:ext>
                </a:extLst>
              </a:tr>
              <a:tr h="2302438">
                <a:tc>
                  <a:txBody>
                    <a:bodyPr/>
                    <a:lstStyle/>
                    <a:p>
                      <a:r>
                        <a:rPr lang="en-US" sz="1400" b="0" dirty="0">
                          <a:latin typeface="Times New Roman" panose="02020603050405020304" pitchFamily="18" charset="0"/>
                          <a:cs typeface="Times New Roman" panose="02020603050405020304" pitchFamily="18" charset="0"/>
                        </a:rPr>
                        <a:t>5.</a:t>
                      </a:r>
                    </a:p>
                  </a:txBody>
                  <a:tcPr/>
                </a:tc>
                <a:tc>
                  <a:txBody>
                    <a:bodyPr/>
                    <a:lstStyle/>
                    <a:p>
                      <a:r>
                        <a:rPr lang="en-US" sz="1400" dirty="0">
                          <a:latin typeface="Times New Roman" panose="02020603050405020304" pitchFamily="18" charset="0"/>
                          <a:cs typeface="Times New Roman" panose="02020603050405020304" pitchFamily="18" charset="0"/>
                        </a:rPr>
                        <a:t>Privacy-Preserving Data Encryption for Big Data in Mobile Cloud Computing using Proxy Re-Encryption and Secure Multi-Party Computation</a:t>
                      </a:r>
                      <a:endPar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Times New Roman" panose="02020603050405020304" pitchFamily="18" charset="0"/>
                          <a:ea typeface="+mn-ea"/>
                          <a:cs typeface="Times New Roman" panose="02020603050405020304" pitchFamily="18" charset="0"/>
                        </a:rPr>
                        <a:t>Y. Zhang, W. Liu, and Y. Chen</a:t>
                      </a:r>
                      <a:endParaRPr lang="en-IN" sz="1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2020</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GB" sz="1400" b="0" dirty="0">
                          <a:latin typeface="Times New Roman" panose="02020603050405020304" pitchFamily="18" charset="0"/>
                          <a:cs typeface="Times New Roman" panose="02020603050405020304" pitchFamily="18" charset="0"/>
                        </a:rPr>
                        <a:t>A</a:t>
                      </a:r>
                      <a:r>
                        <a:rPr lang="en-GB" sz="1400" dirty="0">
                          <a:latin typeface="Times New Roman" panose="02020603050405020304" pitchFamily="18" charset="0"/>
                          <a:cs typeface="Times New Roman" panose="02020603050405020304" pitchFamily="18" charset="0"/>
                        </a:rPr>
                        <a:t> novel privacy-preserving data encryption strategy for big data in mobile cloud computing by combining Proxy Re-Encryption (PRE) and Secure Multi-Party Computation (SMPC) techniques. This approach offers a unique solution to address privacy concerns in mobile cloud environments. </a:t>
                      </a:r>
                      <a:endParaRPr lang="en-IN" sz="1400" kern="1200" dirty="0">
                        <a:solidFill>
                          <a:schemeClr val="dk1"/>
                        </a:solidFill>
                        <a:effectLst/>
                        <a:latin typeface="Times New Roman" panose="02020603050405020304" pitchFamily="18" charset="0"/>
                        <a:ea typeface="+mn-ea"/>
                        <a:cs typeface="Times New Roman" panose="02020603050405020304" pitchFamily="18" charset="0"/>
                      </a:endParaRPr>
                    </a:p>
                    <a:p>
                      <a:pPr algn="just"/>
                      <a:r>
                        <a:rPr lang="en-IN" sz="1400" b="1" kern="1200" dirty="0">
                          <a:solidFill>
                            <a:schemeClr val="dk1"/>
                          </a:solidFill>
                          <a:effectLst/>
                          <a:latin typeface="Times New Roman" panose="02020603050405020304" pitchFamily="18" charset="0"/>
                          <a:ea typeface="+mn-ea"/>
                          <a:cs typeface="Times New Roman" panose="02020603050405020304" pitchFamily="18" charset="0"/>
                        </a:rPr>
                        <a:t>Drawbacks: </a:t>
                      </a:r>
                      <a:r>
                        <a:rPr lang="en-GB" sz="1400" dirty="0">
                          <a:latin typeface="Times New Roman" panose="02020603050405020304" pitchFamily="18" charset="0"/>
                          <a:cs typeface="Times New Roman" panose="02020603050405020304" pitchFamily="18" charset="0"/>
                        </a:rPr>
                        <a:t>Complexity</a:t>
                      </a: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 </a:t>
                      </a:r>
                      <a:r>
                        <a:rPr lang="en-GB" sz="1400" dirty="0">
                          <a:latin typeface="Times New Roman" panose="02020603050405020304" pitchFamily="18" charset="0"/>
                          <a:cs typeface="Times New Roman" panose="02020603050405020304" pitchFamily="18" charset="0"/>
                        </a:rPr>
                        <a:t>Implementation Challenges , Security Considerations.</a:t>
                      </a:r>
                      <a:endParaRPr lang="en-IN" sz="14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759250607"/>
                  </a:ext>
                </a:extLst>
              </a:tr>
              <a:tr h="2579320">
                <a:tc>
                  <a:txBody>
                    <a:bodyPr/>
                    <a:lstStyle/>
                    <a:p>
                      <a:r>
                        <a:rPr lang="en-US" sz="1400" b="0" dirty="0">
                          <a:latin typeface="Times New Roman" panose="02020603050405020304" pitchFamily="18" charset="0"/>
                          <a:cs typeface="Times New Roman" panose="02020603050405020304" pitchFamily="18" charset="0"/>
                        </a:rPr>
                        <a:t>6.</a:t>
                      </a:r>
                    </a:p>
                  </a:txBody>
                  <a:tcPr/>
                </a:tc>
                <a:tc>
                  <a:txBody>
                    <a:bodyPr/>
                    <a:lstStyle/>
                    <a:p>
                      <a:r>
                        <a:rPr lang="en-US" sz="1400" dirty="0">
                          <a:latin typeface="Times New Roman" panose="02020603050405020304" pitchFamily="18" charset="0"/>
                          <a:cs typeface="Times New Roman" panose="02020603050405020304" pitchFamily="18" charset="0"/>
                        </a:rPr>
                        <a:t>Privacy-Preserving Data Encryption using Secure Enclaves in Mobile Cloud Computing</a:t>
                      </a:r>
                      <a:endParaRPr lang="en-IN"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dirty="0">
                          <a:latin typeface="Times New Roman" panose="02020603050405020304" pitchFamily="18" charset="0"/>
                          <a:cs typeface="Times New Roman" panose="02020603050405020304" pitchFamily="18" charset="0"/>
                        </a:rPr>
                        <a:t>Z. Wang et al</a:t>
                      </a:r>
                      <a:endParaRPr lang="en-IN"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b="0" dirty="0">
                          <a:latin typeface="Times New Roman" panose="02020603050405020304" pitchFamily="18" charset="0"/>
                          <a:cs typeface="Times New Roman" panose="02020603050405020304" pitchFamily="18" charset="0"/>
                        </a:rPr>
                        <a:t>2021</a:t>
                      </a:r>
                    </a:p>
                  </a:txBody>
                  <a:tcPr/>
                </a:tc>
                <a:tc>
                  <a:txBody>
                    <a:bodyPr/>
                    <a:lstStyle/>
                    <a:p>
                      <a:pPr algn="just"/>
                      <a:r>
                        <a:rPr lang="en-US" sz="1400" b="1" dirty="0">
                          <a:latin typeface="Times New Roman" panose="02020603050405020304" pitchFamily="18" charset="0"/>
                          <a:cs typeface="Times New Roman" panose="02020603050405020304" pitchFamily="18" charset="0"/>
                        </a:rPr>
                        <a:t>Contributions: </a:t>
                      </a:r>
                      <a:r>
                        <a:rPr lang="en-US" sz="1400" dirty="0">
                          <a:latin typeface="Times New Roman" panose="02020603050405020304" pitchFamily="18" charset="0"/>
                          <a:cs typeface="Times New Roman" panose="02020603050405020304" pitchFamily="18" charset="0"/>
                        </a:rPr>
                        <a:t>The paper contributes to the field by implementing secure enclaves for privacy-preserving data encryption in mobile cloud computing environments. Secure enclaves offer hardware-based security mechanisms to protect sensitive computations and data. </a:t>
                      </a:r>
                      <a:endParaRPr lang="en-IN" sz="1400" kern="1200" dirty="0">
                        <a:solidFill>
                          <a:schemeClr val="dk1"/>
                        </a:solidFill>
                        <a:effectLst/>
                        <a:latin typeface="Times New Roman" panose="02020603050405020304" pitchFamily="18" charset="0"/>
                        <a:ea typeface="+mn-ea"/>
                        <a:cs typeface="Times New Roman" panose="02020603050405020304" pitchFamily="18" charset="0"/>
                      </a:endParaRPr>
                    </a:p>
                    <a:p>
                      <a:pPr algn="just"/>
                      <a:r>
                        <a:rPr lang="en-IN" sz="1400" b="1" kern="1200" dirty="0">
                          <a:solidFill>
                            <a:schemeClr val="dk1"/>
                          </a:solidFill>
                          <a:effectLst/>
                          <a:latin typeface="Times New Roman" panose="02020603050405020304" pitchFamily="18" charset="0"/>
                          <a:ea typeface="+mn-ea"/>
                          <a:cs typeface="Times New Roman" panose="02020603050405020304" pitchFamily="18" charset="0"/>
                        </a:rPr>
                        <a:t>Drawbacks: </a:t>
                      </a:r>
                      <a:r>
                        <a:rPr lang="en-GB" sz="1400" dirty="0">
                          <a:latin typeface="Times New Roman" panose="02020603050405020304" pitchFamily="18" charset="0"/>
                          <a:cs typeface="Times New Roman" panose="02020603050405020304" pitchFamily="18" charset="0"/>
                        </a:rPr>
                        <a:t>Hardware Dependency , Performance Overhead , Limited Scope.</a:t>
                      </a:r>
                      <a:endParaRPr lang="en-IN" sz="14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887945988"/>
                  </a:ext>
                </a:extLst>
              </a:tr>
            </a:tbl>
          </a:graphicData>
        </a:graphic>
      </p:graphicFrame>
    </p:spTree>
    <p:extLst>
      <p:ext uri="{BB962C8B-B14F-4D97-AF65-F5344CB8AC3E}">
        <p14:creationId xmlns:p14="http://schemas.microsoft.com/office/powerpoint/2010/main" val="500812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0E83E-0562-DDD4-C3D4-1A36AC49413E}"/>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METHODOLOGY</a:t>
            </a:r>
            <a:endParaRPr lang="en-US" dirty="0"/>
          </a:p>
        </p:txBody>
      </p:sp>
      <p:sp>
        <p:nvSpPr>
          <p:cNvPr id="3" name="Content Placeholder 2">
            <a:extLst>
              <a:ext uri="{FF2B5EF4-FFF2-40B4-BE49-F238E27FC236}">
                <a16:creationId xmlns:a16="http://schemas.microsoft.com/office/drawing/2014/main" id="{231209C0-BF71-51ED-39FA-0A1F13ED53A3}"/>
              </a:ext>
            </a:extLst>
          </p:cNvPr>
          <p:cNvSpPr>
            <a:spLocks noGrp="1"/>
          </p:cNvSpPr>
          <p:nvPr>
            <p:ph idx="1"/>
          </p:nvPr>
        </p:nvSpPr>
        <p:spPr>
          <a:xfrm>
            <a:off x="496711" y="2257778"/>
            <a:ext cx="11198578" cy="3762022"/>
          </a:xfrm>
        </p:spPr>
        <p:txBody>
          <a:bodyPr>
            <a:normAutofit/>
          </a:bodyPr>
          <a:lstStyle/>
          <a:p>
            <a:pPr algn="just">
              <a:lnSpc>
                <a:spcPct val="150000"/>
              </a:lnSpc>
            </a:pPr>
            <a:r>
              <a:rPr lang="en-IN" sz="2000" dirty="0">
                <a:solidFill>
                  <a:srgbClr val="211E1E"/>
                </a:solidFill>
                <a:effectLst/>
                <a:latin typeface="Times New Roman" panose="02020603050405020304" pitchFamily="18" charset="0"/>
                <a:cs typeface="Times New Roman" panose="02020603050405020304" pitchFamily="18" charset="0"/>
              </a:rPr>
              <a:t>Key Generation</a:t>
            </a:r>
          </a:p>
          <a:p>
            <a:pPr algn="just">
              <a:lnSpc>
                <a:spcPct val="150000"/>
              </a:lnSpc>
            </a:pPr>
            <a:r>
              <a:rPr lang="en-IN" sz="2000" dirty="0">
                <a:solidFill>
                  <a:srgbClr val="211E1E"/>
                </a:solidFill>
                <a:effectLst/>
                <a:latin typeface="Times New Roman" panose="02020603050405020304" pitchFamily="18" charset="0"/>
                <a:cs typeface="Times New Roman" panose="02020603050405020304" pitchFamily="18" charset="0"/>
              </a:rPr>
              <a:t>Encapsulation</a:t>
            </a:r>
          </a:p>
          <a:p>
            <a:pPr algn="just">
              <a:lnSpc>
                <a:spcPct val="150000"/>
              </a:lnSpc>
            </a:pPr>
            <a:r>
              <a:rPr lang="en-IN" sz="2000" dirty="0">
                <a:solidFill>
                  <a:srgbClr val="211E1E"/>
                </a:solidFill>
                <a:effectLst/>
                <a:latin typeface="Times New Roman" panose="02020603050405020304" pitchFamily="18" charset="0"/>
                <a:cs typeface="Times New Roman" panose="02020603050405020304" pitchFamily="18" charset="0"/>
              </a:rPr>
              <a:t>Encryption</a:t>
            </a:r>
          </a:p>
          <a:p>
            <a:pPr algn="just">
              <a:lnSpc>
                <a:spcPct val="150000"/>
              </a:lnSpc>
            </a:pPr>
            <a:r>
              <a:rPr lang="en-IN" sz="2000" dirty="0">
                <a:solidFill>
                  <a:srgbClr val="211E1E"/>
                </a:solidFill>
                <a:effectLst/>
                <a:latin typeface="Times New Roman" panose="02020603050405020304" pitchFamily="18" charset="0"/>
                <a:cs typeface="Times New Roman" panose="02020603050405020304" pitchFamily="18" charset="0"/>
              </a:rPr>
              <a:t>Signing </a:t>
            </a:r>
            <a:endParaRPr lang="en-IN" sz="2000" dirty="0">
              <a:latin typeface="Times New Roman" panose="02020603050405020304" pitchFamily="18" charset="0"/>
              <a:cs typeface="Times New Roman" panose="02020603050405020304" pitchFamily="18" charset="0"/>
            </a:endParaRPr>
          </a:p>
          <a:p>
            <a:pPr marL="0" indent="0">
              <a:buNone/>
            </a:pPr>
            <a:r>
              <a:rPr lang="en-IN" sz="1800" dirty="0">
                <a:solidFill>
                  <a:srgbClr val="211E1E"/>
                </a:solidFill>
                <a:effectLst/>
                <a:latin typeface="AdvP6EC5"/>
              </a:rPr>
              <a:t> </a:t>
            </a:r>
            <a:endParaRPr lang="en-IN" dirty="0"/>
          </a:p>
          <a:p>
            <a:endParaRPr lang="en-US" dirty="0"/>
          </a:p>
        </p:txBody>
      </p:sp>
      <p:pic>
        <p:nvPicPr>
          <p:cNvPr id="4" name="Picture 3">
            <a:extLst>
              <a:ext uri="{FF2B5EF4-FFF2-40B4-BE49-F238E27FC236}">
                <a16:creationId xmlns:a16="http://schemas.microsoft.com/office/drawing/2014/main" id="{D4E5788A-A501-F174-25D0-8995FA542FB4}"/>
              </a:ext>
            </a:extLst>
          </p:cNvPr>
          <p:cNvPicPr>
            <a:picLocks noChangeAspect="1"/>
          </p:cNvPicPr>
          <p:nvPr/>
        </p:nvPicPr>
        <p:blipFill>
          <a:blip r:embed="rId2"/>
          <a:stretch>
            <a:fillRect/>
          </a:stretch>
        </p:blipFill>
        <p:spPr>
          <a:xfrm>
            <a:off x="4470250" y="2353908"/>
            <a:ext cx="5044440" cy="3817620"/>
          </a:xfrm>
          <a:prstGeom prst="rect">
            <a:avLst/>
          </a:prstGeom>
        </p:spPr>
      </p:pic>
    </p:spTree>
    <p:extLst>
      <p:ext uri="{BB962C8B-B14F-4D97-AF65-F5344CB8AC3E}">
        <p14:creationId xmlns:p14="http://schemas.microsoft.com/office/powerpoint/2010/main" val="2406405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2B61-6E13-E21B-6B8F-1489A6DA98B2}"/>
              </a:ext>
            </a:extLst>
          </p:cNvPr>
          <p:cNvSpPr>
            <a:spLocks noGrp="1"/>
          </p:cNvSpPr>
          <p:nvPr>
            <p:ph type="title"/>
          </p:nvPr>
        </p:nvSpPr>
        <p:spPr>
          <a:xfrm>
            <a:off x="1154954" y="762000"/>
            <a:ext cx="8761413" cy="918632"/>
          </a:xfrm>
        </p:spPr>
        <p:txBody>
          <a:bodyPr/>
          <a:lstStyle/>
          <a:p>
            <a:br>
              <a:rPr lang="en-IN" sz="3600" dirty="0">
                <a:solidFill>
                  <a:srgbClr val="211E1E"/>
                </a:solidFill>
                <a:effectLst/>
                <a:latin typeface="Times New Roman" panose="02020603050405020304" pitchFamily="18" charset="0"/>
                <a:cs typeface="Times New Roman" panose="02020603050405020304" pitchFamily="18" charset="0"/>
              </a:rPr>
            </a:br>
            <a:endParaRPr lang="en-GB" dirty="0"/>
          </a:p>
        </p:txBody>
      </p:sp>
      <p:sp>
        <p:nvSpPr>
          <p:cNvPr id="3" name="Slide Number Placeholder 2">
            <a:extLst>
              <a:ext uri="{FF2B5EF4-FFF2-40B4-BE49-F238E27FC236}">
                <a16:creationId xmlns:a16="http://schemas.microsoft.com/office/drawing/2014/main" id="{7BBB6A74-0F91-F527-3FB8-E4925EA0BE16}"/>
              </a:ext>
            </a:extLst>
          </p:cNvPr>
          <p:cNvSpPr>
            <a:spLocks noGrp="1"/>
          </p:cNvSpPr>
          <p:nvPr>
            <p:ph type="sldNum" sz="quarter" idx="12"/>
          </p:nvPr>
        </p:nvSpPr>
        <p:spPr/>
        <p:txBody>
          <a:bodyPr/>
          <a:lstStyle/>
          <a:p>
            <a:fld id="{9FF96B15-8338-45D5-A943-561235072D66}" type="slidenum">
              <a:rPr lang="en-US" noProof="0" smtClean="0"/>
              <a:t>10</a:t>
            </a:fld>
            <a:endParaRPr lang="en-US" noProof="0" dirty="0"/>
          </a:p>
        </p:txBody>
      </p:sp>
      <p:sp>
        <p:nvSpPr>
          <p:cNvPr id="5" name="TextBox 4">
            <a:extLst>
              <a:ext uri="{FF2B5EF4-FFF2-40B4-BE49-F238E27FC236}">
                <a16:creationId xmlns:a16="http://schemas.microsoft.com/office/drawing/2014/main" id="{79AC313A-21BF-4D9A-E72D-8AABE516C6F3}"/>
              </a:ext>
            </a:extLst>
          </p:cNvPr>
          <p:cNvSpPr txBox="1"/>
          <p:nvPr/>
        </p:nvSpPr>
        <p:spPr>
          <a:xfrm>
            <a:off x="3650877" y="770965"/>
            <a:ext cx="9238675" cy="865301"/>
          </a:xfrm>
          <a:prstGeom prst="rect">
            <a:avLst/>
          </a:prstGeom>
          <a:noFill/>
        </p:spPr>
        <p:txBody>
          <a:bodyPr wrap="square">
            <a:spAutoFit/>
          </a:bodyPr>
          <a:lstStyle/>
          <a:p>
            <a:pPr algn="just">
              <a:lnSpc>
                <a:spcPct val="160000"/>
              </a:lnSpc>
            </a:pPr>
            <a:r>
              <a:rPr lang="en-IN" sz="3600" dirty="0">
                <a:solidFill>
                  <a:schemeClr val="bg1"/>
                </a:solidFill>
                <a:effectLst/>
                <a:latin typeface="Times New Roman" panose="02020603050405020304" pitchFamily="18" charset="0"/>
                <a:cs typeface="Times New Roman" panose="02020603050405020304" pitchFamily="18" charset="0"/>
              </a:rPr>
              <a:t>KEY GENERATION </a:t>
            </a:r>
          </a:p>
        </p:txBody>
      </p:sp>
      <p:sp>
        <p:nvSpPr>
          <p:cNvPr id="6" name="TextBox 5">
            <a:extLst>
              <a:ext uri="{FF2B5EF4-FFF2-40B4-BE49-F238E27FC236}">
                <a16:creationId xmlns:a16="http://schemas.microsoft.com/office/drawing/2014/main" id="{A84D6B3A-3B1A-B22C-922B-CB88FA7A25B0}"/>
              </a:ext>
            </a:extLst>
          </p:cNvPr>
          <p:cNvSpPr txBox="1"/>
          <p:nvPr/>
        </p:nvSpPr>
        <p:spPr>
          <a:xfrm>
            <a:off x="806824" y="2312894"/>
            <a:ext cx="10865223" cy="1418786"/>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Key generation method involves utilizing cryptographic algorithms to generate random or pseudorandom values of specific lengths, adhering to established cryptographic standards and ensuring sufficient entropy for robust security.</a:t>
            </a:r>
          </a:p>
        </p:txBody>
      </p:sp>
    </p:spTree>
    <p:extLst>
      <p:ext uri="{BB962C8B-B14F-4D97-AF65-F5344CB8AC3E}">
        <p14:creationId xmlns:p14="http://schemas.microsoft.com/office/powerpoint/2010/main" val="252060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B5BD-0FAA-8A0B-AF3B-570972883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B28A-F20C-86F4-F858-EB905BF5C817}"/>
              </a:ext>
            </a:extLst>
          </p:cNvPr>
          <p:cNvSpPr>
            <a:spLocks noGrp="1"/>
          </p:cNvSpPr>
          <p:nvPr>
            <p:ph type="title"/>
          </p:nvPr>
        </p:nvSpPr>
        <p:spPr>
          <a:xfrm>
            <a:off x="1154954" y="762000"/>
            <a:ext cx="8761413" cy="918632"/>
          </a:xfrm>
        </p:spPr>
        <p:txBody>
          <a:bodyPr/>
          <a:lstStyle/>
          <a:p>
            <a:br>
              <a:rPr lang="en-IN" sz="3600" dirty="0">
                <a:solidFill>
                  <a:srgbClr val="211E1E"/>
                </a:solidFill>
                <a:effectLst/>
                <a:latin typeface="Times New Roman" panose="02020603050405020304" pitchFamily="18" charset="0"/>
                <a:cs typeface="Times New Roman" panose="02020603050405020304" pitchFamily="18" charset="0"/>
              </a:rPr>
            </a:br>
            <a:endParaRPr lang="en-GB" dirty="0"/>
          </a:p>
        </p:txBody>
      </p:sp>
      <p:sp>
        <p:nvSpPr>
          <p:cNvPr id="3" name="Slide Number Placeholder 2">
            <a:extLst>
              <a:ext uri="{FF2B5EF4-FFF2-40B4-BE49-F238E27FC236}">
                <a16:creationId xmlns:a16="http://schemas.microsoft.com/office/drawing/2014/main" id="{F4C14899-4B2C-F23F-38E2-EC816F913A17}"/>
              </a:ext>
            </a:extLst>
          </p:cNvPr>
          <p:cNvSpPr>
            <a:spLocks noGrp="1"/>
          </p:cNvSpPr>
          <p:nvPr>
            <p:ph type="sldNum" sz="quarter" idx="12"/>
          </p:nvPr>
        </p:nvSpPr>
        <p:spPr/>
        <p:txBody>
          <a:bodyPr/>
          <a:lstStyle/>
          <a:p>
            <a:fld id="{9FF96B15-8338-45D5-A943-561235072D66}" type="slidenum">
              <a:rPr lang="en-US" noProof="0" smtClean="0"/>
              <a:t>11</a:t>
            </a:fld>
            <a:endParaRPr lang="en-US" noProof="0" dirty="0"/>
          </a:p>
        </p:txBody>
      </p:sp>
      <p:sp>
        <p:nvSpPr>
          <p:cNvPr id="5" name="TextBox 4">
            <a:extLst>
              <a:ext uri="{FF2B5EF4-FFF2-40B4-BE49-F238E27FC236}">
                <a16:creationId xmlns:a16="http://schemas.microsoft.com/office/drawing/2014/main" id="{B788CC1A-4138-9342-E63F-C4B75CF5012C}"/>
              </a:ext>
            </a:extLst>
          </p:cNvPr>
          <p:cNvSpPr txBox="1"/>
          <p:nvPr/>
        </p:nvSpPr>
        <p:spPr>
          <a:xfrm>
            <a:off x="3650877" y="770965"/>
            <a:ext cx="9238675" cy="865301"/>
          </a:xfrm>
          <a:prstGeom prst="rect">
            <a:avLst/>
          </a:prstGeom>
          <a:noFill/>
        </p:spPr>
        <p:txBody>
          <a:bodyPr wrap="square">
            <a:spAutoFit/>
          </a:bodyPr>
          <a:lstStyle/>
          <a:p>
            <a:pPr algn="just">
              <a:lnSpc>
                <a:spcPct val="160000"/>
              </a:lnSpc>
            </a:pPr>
            <a:r>
              <a:rPr lang="en-IN" sz="3600" dirty="0">
                <a:solidFill>
                  <a:schemeClr val="bg1"/>
                </a:solidFill>
                <a:latin typeface="Times New Roman" panose="02020603050405020304" pitchFamily="18" charset="0"/>
                <a:cs typeface="Times New Roman" panose="02020603050405020304" pitchFamily="18" charset="0"/>
              </a:rPr>
              <a:t>ENCAPSULATION</a:t>
            </a:r>
            <a:r>
              <a:rPr lang="en-IN" sz="3600" dirty="0">
                <a:solidFill>
                  <a:schemeClr val="bg1"/>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1EEB5955-EE5F-D448-FFC3-9A510FD57299}"/>
              </a:ext>
            </a:extLst>
          </p:cNvPr>
          <p:cNvSpPr txBox="1"/>
          <p:nvPr/>
        </p:nvSpPr>
        <p:spPr>
          <a:xfrm>
            <a:off x="806824" y="2312894"/>
            <a:ext cx="10865223" cy="1418786"/>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Encapsulation in cryptographic algorithms involves combining plaintext data with a cryptographic key through an encryption process to produce ciphertext, ensuring confidentiality and integrity of the information while protecting against unauthorized access or tampering.</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11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8FA1B-5246-CE1B-001B-088762919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23803-D662-90F7-FC97-BB930A5621EA}"/>
              </a:ext>
            </a:extLst>
          </p:cNvPr>
          <p:cNvSpPr>
            <a:spLocks noGrp="1"/>
          </p:cNvSpPr>
          <p:nvPr>
            <p:ph type="title"/>
          </p:nvPr>
        </p:nvSpPr>
        <p:spPr>
          <a:xfrm>
            <a:off x="1154954" y="762000"/>
            <a:ext cx="8761413" cy="918632"/>
          </a:xfrm>
        </p:spPr>
        <p:txBody>
          <a:bodyPr/>
          <a:lstStyle/>
          <a:p>
            <a:br>
              <a:rPr lang="en-IN" sz="3600" dirty="0">
                <a:solidFill>
                  <a:srgbClr val="211E1E"/>
                </a:solidFill>
                <a:effectLst/>
                <a:latin typeface="Times New Roman" panose="02020603050405020304" pitchFamily="18" charset="0"/>
                <a:cs typeface="Times New Roman" panose="02020603050405020304" pitchFamily="18" charset="0"/>
              </a:rPr>
            </a:br>
            <a:endParaRPr lang="en-GB" dirty="0"/>
          </a:p>
        </p:txBody>
      </p:sp>
      <p:sp>
        <p:nvSpPr>
          <p:cNvPr id="3" name="Slide Number Placeholder 2">
            <a:extLst>
              <a:ext uri="{FF2B5EF4-FFF2-40B4-BE49-F238E27FC236}">
                <a16:creationId xmlns:a16="http://schemas.microsoft.com/office/drawing/2014/main" id="{980AB9E3-06D0-1F12-E9B2-3874CF82233D}"/>
              </a:ext>
            </a:extLst>
          </p:cNvPr>
          <p:cNvSpPr>
            <a:spLocks noGrp="1"/>
          </p:cNvSpPr>
          <p:nvPr>
            <p:ph type="sldNum" sz="quarter" idx="12"/>
          </p:nvPr>
        </p:nvSpPr>
        <p:spPr/>
        <p:txBody>
          <a:bodyPr/>
          <a:lstStyle/>
          <a:p>
            <a:fld id="{9FF96B15-8338-45D5-A943-561235072D66}" type="slidenum">
              <a:rPr lang="en-US" noProof="0" smtClean="0"/>
              <a:t>12</a:t>
            </a:fld>
            <a:endParaRPr lang="en-US" noProof="0" dirty="0"/>
          </a:p>
        </p:txBody>
      </p:sp>
      <p:sp>
        <p:nvSpPr>
          <p:cNvPr id="5" name="TextBox 4">
            <a:extLst>
              <a:ext uri="{FF2B5EF4-FFF2-40B4-BE49-F238E27FC236}">
                <a16:creationId xmlns:a16="http://schemas.microsoft.com/office/drawing/2014/main" id="{DEC8D279-1147-4C71-1930-B478A32E4E72}"/>
              </a:ext>
            </a:extLst>
          </p:cNvPr>
          <p:cNvSpPr txBox="1"/>
          <p:nvPr/>
        </p:nvSpPr>
        <p:spPr>
          <a:xfrm>
            <a:off x="4090148" y="806824"/>
            <a:ext cx="9238675" cy="865301"/>
          </a:xfrm>
          <a:prstGeom prst="rect">
            <a:avLst/>
          </a:prstGeom>
          <a:noFill/>
        </p:spPr>
        <p:txBody>
          <a:bodyPr wrap="square">
            <a:spAutoFit/>
          </a:bodyPr>
          <a:lstStyle/>
          <a:p>
            <a:pPr algn="just">
              <a:lnSpc>
                <a:spcPct val="160000"/>
              </a:lnSpc>
            </a:pPr>
            <a:r>
              <a:rPr lang="en-IN" sz="3600" dirty="0">
                <a:solidFill>
                  <a:schemeClr val="bg1"/>
                </a:solidFill>
                <a:latin typeface="Times New Roman" panose="02020603050405020304" pitchFamily="18" charset="0"/>
                <a:cs typeface="Times New Roman" panose="02020603050405020304" pitchFamily="18" charset="0"/>
              </a:rPr>
              <a:t>ENCRYPTION</a:t>
            </a:r>
            <a:r>
              <a:rPr lang="en-IN" sz="3600" dirty="0">
                <a:solidFill>
                  <a:schemeClr val="bg1"/>
                </a:solidFill>
                <a:effectLst/>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6E08A3E4-8088-C692-EE83-AACE96FFDA41}"/>
              </a:ext>
            </a:extLst>
          </p:cNvPr>
          <p:cNvSpPr txBox="1"/>
          <p:nvPr/>
        </p:nvSpPr>
        <p:spPr>
          <a:xfrm>
            <a:off x="806824" y="2312894"/>
            <a:ext cx="10865223" cy="1418786"/>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Encryption involves transforming plaintext data into ciphertext using cryptographic algorithms and a secret key, rendering the original information unreadable to unauthorized parties while maintaining confidentiality and integrity.</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312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D0AB-AF6D-395B-23E1-0665DDA054E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 SIGNING</a:t>
            </a:r>
            <a:endParaRPr lang="en-US" dirty="0"/>
          </a:p>
        </p:txBody>
      </p:sp>
      <p:sp>
        <p:nvSpPr>
          <p:cNvPr id="3" name="Content Placeholder 2">
            <a:extLst>
              <a:ext uri="{FF2B5EF4-FFF2-40B4-BE49-F238E27FC236}">
                <a16:creationId xmlns:a16="http://schemas.microsoft.com/office/drawing/2014/main" id="{5574285B-4FC0-B3D6-70FD-F45D4601B505}"/>
              </a:ext>
            </a:extLst>
          </p:cNvPr>
          <p:cNvSpPr>
            <a:spLocks noGrp="1"/>
          </p:cNvSpPr>
          <p:nvPr>
            <p:ph idx="1"/>
          </p:nvPr>
        </p:nvSpPr>
        <p:spPr>
          <a:xfrm>
            <a:off x="519289" y="2507544"/>
            <a:ext cx="11153422" cy="4350456"/>
          </a:xfrm>
        </p:spPr>
        <p:txBody>
          <a:bodyPr>
            <a:normAutofit/>
          </a:bodyPr>
          <a:lstStyle/>
          <a:p>
            <a:pPr>
              <a:lnSpc>
                <a:spcPct val="150000"/>
              </a:lnSpc>
            </a:pPr>
            <a:r>
              <a:rPr lang="en-US" sz="2000" dirty="0">
                <a:solidFill>
                  <a:srgbClr val="000000"/>
                </a:solidFill>
                <a:effectLst/>
                <a:latin typeface="Times New Roman" panose="02020603050405020304" pitchFamily="18" charset="0"/>
                <a:ea typeface="Times New Roman" panose="02020603050405020304" pitchFamily="18" charset="0"/>
              </a:rPr>
              <a:t>Signing involves generating a digital signature using a private key to authenticate the origin and integrity of a message or document, providing assurance of non-repudiation and preventing tampering or forgery.</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136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2274B1-7CE7-A66C-4C8B-39376547987C}"/>
              </a:ext>
            </a:extLst>
          </p:cNvPr>
          <p:cNvSpPr>
            <a:spLocks noGrp="1"/>
          </p:cNvSpPr>
          <p:nvPr>
            <p:ph idx="1"/>
          </p:nvPr>
        </p:nvSpPr>
        <p:spPr>
          <a:xfrm>
            <a:off x="367553" y="2008094"/>
            <a:ext cx="11305988" cy="4849906"/>
          </a:xfrm>
        </p:spPr>
        <p:txBody>
          <a:bodyPr>
            <a:normAutofit fontScale="92500"/>
          </a:bodyPr>
          <a:lstStyle/>
          <a:p>
            <a:pPr>
              <a:lnSpc>
                <a:spcPct val="150000"/>
              </a:lnSpc>
            </a:pPr>
            <a:r>
              <a:rPr lang="en-US" sz="2200" dirty="0">
                <a:solidFill>
                  <a:schemeClr val="tx1"/>
                </a:solidFill>
                <a:latin typeface="Times New Roman" panose="02020603050405020304" pitchFamily="18" charset="0"/>
                <a:cs typeface="Times New Roman" panose="02020603050405020304" pitchFamily="18" charset="0"/>
              </a:rPr>
              <a:t>Algorithm :</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1. Obtain the public key (e, n) used in the RSA cryptosystem.</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2. Substitute different public key values (e', n') by modifying the public exponent e or modulus n.</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3. Encrypt a known plaintext message m with the substituted public key (e', n') to obtain a ciphertext c’.</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4. Decrypt the ciphertext c' using the original private key (d, n) to obtain the plaintext m’.</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5. Check if the decrypted plaintext m' matches the known plaintext m.</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6. If a match is found, analyze the substituted public key (e', n') to deduce information about the private       key or factorization of n.</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p:txBody>
      </p:sp>
      <p:sp>
        <p:nvSpPr>
          <p:cNvPr id="2" name="TextBox 1">
            <a:extLst>
              <a:ext uri="{FF2B5EF4-FFF2-40B4-BE49-F238E27FC236}">
                <a16:creationId xmlns:a16="http://schemas.microsoft.com/office/drawing/2014/main" id="{22E1A259-7C35-FCBE-1171-8FF2BEF04332}"/>
              </a:ext>
            </a:extLst>
          </p:cNvPr>
          <p:cNvSpPr txBox="1"/>
          <p:nvPr/>
        </p:nvSpPr>
        <p:spPr>
          <a:xfrm>
            <a:off x="4159623" y="941294"/>
            <a:ext cx="56119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ASA  ON RSA</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8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C33BE-B5B0-C09C-8412-04E13718C9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EC8637-2757-8F73-98A8-9C85F77C6C2B}"/>
              </a:ext>
            </a:extLst>
          </p:cNvPr>
          <p:cNvSpPr>
            <a:spLocks noGrp="1"/>
          </p:cNvSpPr>
          <p:nvPr>
            <p:ph idx="1"/>
          </p:nvPr>
        </p:nvSpPr>
        <p:spPr>
          <a:xfrm>
            <a:off x="313765" y="2259105"/>
            <a:ext cx="11689976" cy="4849906"/>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Given:- Public key: (e = 5, n = 33)</a:t>
            </a:r>
          </a:p>
          <a:p>
            <a:pPr mar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                    Private key: (d = 17, n = 33)</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1. Obtain the public key (e, n) used in the RSA cryptosystem.   Public key: (e = 5, n = 33)</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2. Substitute different public key values (e', n') by modifying the public exponent e or modulus n.   Let's substitute a smaller value for n, say n' = 21.</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3. Encrypt a known plaintext message m with the substituted public key (e', n') to obtain a ciphertext c'.   Let's choose the plaintext message m = 5.   To encrypt m = 5 using the substituted public key (e = 5, n' = 21), we calculate:   c' = </a:t>
            </a:r>
            <a:r>
              <a:rPr lang="en-US" sz="2000" dirty="0" err="1">
                <a:solidFill>
                  <a:schemeClr val="tx1"/>
                </a:solidFill>
                <a:latin typeface="Times New Roman" panose="02020603050405020304" pitchFamily="18" charset="0"/>
                <a:cs typeface="Times New Roman" panose="02020603050405020304" pitchFamily="18" charset="0"/>
              </a:rPr>
              <a:t>m^e</a:t>
            </a:r>
            <a:r>
              <a:rPr lang="en-US" sz="2000" dirty="0">
                <a:solidFill>
                  <a:schemeClr val="tx1"/>
                </a:solidFill>
                <a:latin typeface="Times New Roman" panose="02020603050405020304" pitchFamily="18" charset="0"/>
                <a:cs typeface="Times New Roman" panose="02020603050405020304" pitchFamily="18" charset="0"/>
              </a:rPr>
              <a:t> mod n' = 5^5 mod 21 = 5</a:t>
            </a:r>
          </a:p>
          <a:p>
            <a:pPr marL="0" indent="0">
              <a:lnSpc>
                <a:spcPct val="150000"/>
              </a:lnSpc>
              <a:buNone/>
            </a:pPr>
            <a:endParaRPr lang="en-US" sz="2000" dirty="0">
              <a:solidFill>
                <a:schemeClr val="bg1"/>
              </a:solidFill>
            </a:endParaRPr>
          </a:p>
        </p:txBody>
      </p:sp>
      <p:sp>
        <p:nvSpPr>
          <p:cNvPr id="2" name="TextBox 1">
            <a:extLst>
              <a:ext uri="{FF2B5EF4-FFF2-40B4-BE49-F238E27FC236}">
                <a16:creationId xmlns:a16="http://schemas.microsoft.com/office/drawing/2014/main" id="{269ECC9C-B185-D3F4-5BB2-9C8EAC69F67B}"/>
              </a:ext>
            </a:extLst>
          </p:cNvPr>
          <p:cNvSpPr txBox="1"/>
          <p:nvPr/>
        </p:nvSpPr>
        <p:spPr>
          <a:xfrm>
            <a:off x="4159623" y="941294"/>
            <a:ext cx="56119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ASA  ON RSA</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2412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C7636-813E-A02A-2A71-CC49AC13E3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FADF7B-9F37-36D6-2A6A-8F24C9DCA23D}"/>
              </a:ext>
            </a:extLst>
          </p:cNvPr>
          <p:cNvSpPr>
            <a:spLocks noGrp="1"/>
          </p:cNvSpPr>
          <p:nvPr>
            <p:ph idx="1"/>
          </p:nvPr>
        </p:nvSpPr>
        <p:spPr>
          <a:xfrm>
            <a:off x="443006" y="2447364"/>
            <a:ext cx="11305988" cy="4849906"/>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4. Decrypt the ciphertext c' using the original private key (d, n) to obtain the plaintext m'.   Using the original private key (d = 17, n = 33), we calculate:   m' = </a:t>
            </a:r>
            <a:r>
              <a:rPr lang="en-US" sz="2000" dirty="0" err="1">
                <a:solidFill>
                  <a:schemeClr val="tx1"/>
                </a:solidFill>
                <a:latin typeface="Times New Roman" panose="02020603050405020304" pitchFamily="18" charset="0"/>
                <a:cs typeface="Times New Roman" panose="02020603050405020304" pitchFamily="18" charset="0"/>
              </a:rPr>
              <a:t>c'^d</a:t>
            </a:r>
            <a:r>
              <a:rPr lang="en-US" sz="2000" dirty="0">
                <a:solidFill>
                  <a:schemeClr val="tx1"/>
                </a:solidFill>
                <a:latin typeface="Times New Roman" panose="02020603050405020304" pitchFamily="18" charset="0"/>
                <a:cs typeface="Times New Roman" panose="02020603050405020304" pitchFamily="18" charset="0"/>
              </a:rPr>
              <a:t> mod n = 5^17 mod 33 = 5</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5. Check if the decrypted plaintext m' matches the known plaintext m.   In this case, m' = 5 matches the original plaintext m = 5.</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6. Since a match is found, analyze the substituted public key (e', n') to deduce information about the private key or factorization of n. </a:t>
            </a: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p:txBody>
      </p:sp>
      <p:sp>
        <p:nvSpPr>
          <p:cNvPr id="2" name="TextBox 1">
            <a:extLst>
              <a:ext uri="{FF2B5EF4-FFF2-40B4-BE49-F238E27FC236}">
                <a16:creationId xmlns:a16="http://schemas.microsoft.com/office/drawing/2014/main" id="{00B1EA69-BD4E-E50A-5550-6852CF7263AD}"/>
              </a:ext>
            </a:extLst>
          </p:cNvPr>
          <p:cNvSpPr txBox="1"/>
          <p:nvPr/>
        </p:nvSpPr>
        <p:spPr>
          <a:xfrm>
            <a:off x="4159623" y="941294"/>
            <a:ext cx="56119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ASA  ON RSA</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4182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7D70D-3C85-2A71-B66B-50AF5087F7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D52975-8057-61B7-FD7C-7F796B99C987}"/>
              </a:ext>
            </a:extLst>
          </p:cNvPr>
          <p:cNvSpPr>
            <a:spLocks noGrp="1"/>
          </p:cNvSpPr>
          <p:nvPr>
            <p:ph idx="1"/>
          </p:nvPr>
        </p:nvSpPr>
        <p:spPr>
          <a:xfrm>
            <a:off x="412377" y="2429435"/>
            <a:ext cx="11689976" cy="4849906"/>
          </a:xfrm>
        </p:spPr>
        <p:txBody>
          <a:bodyPr>
            <a:normAutofit/>
          </a:bodyPr>
          <a:lstStyle/>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Since n' = 21 is a smaller value than the original n = 33, it may be easier to factor n' and potentially recover the private key or factors of n.</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In this example, we can easily factor n' = 21 = 3 × 7. Knowing the factors of n', we can use techniques like the Euclidean algorithm or continued fractions to recover the private key d corresponding to the original n = 33.</a:t>
            </a:r>
          </a:p>
          <a:p>
            <a:pPr>
              <a:lnSpc>
                <a:spcPct val="150000"/>
              </a:lnSpc>
            </a:pPr>
            <a:r>
              <a:rPr lang="en-US" sz="2000" dirty="0">
                <a:solidFill>
                  <a:schemeClr val="tx1"/>
                </a:solidFill>
                <a:latin typeface="Times New Roman" panose="02020603050405020304" pitchFamily="18" charset="0"/>
                <a:cs typeface="Times New Roman" panose="02020603050405020304" pitchFamily="18" charset="0"/>
              </a:rPr>
              <a:t>It's important to note that this attack relies on the key generation process being flawed and generating public keys with small prime factors. </a:t>
            </a:r>
            <a:endParaRPr lang="en-US" sz="2000" dirty="0">
              <a:solidFill>
                <a:schemeClr val="bg1"/>
              </a:solidFill>
            </a:endParaRPr>
          </a:p>
        </p:txBody>
      </p:sp>
      <p:sp>
        <p:nvSpPr>
          <p:cNvPr id="2" name="TextBox 1">
            <a:extLst>
              <a:ext uri="{FF2B5EF4-FFF2-40B4-BE49-F238E27FC236}">
                <a16:creationId xmlns:a16="http://schemas.microsoft.com/office/drawing/2014/main" id="{4600F80D-C93D-3D0C-B7BC-C85015A86886}"/>
              </a:ext>
            </a:extLst>
          </p:cNvPr>
          <p:cNvSpPr txBox="1"/>
          <p:nvPr/>
        </p:nvSpPr>
        <p:spPr>
          <a:xfrm>
            <a:off x="4159623" y="941294"/>
            <a:ext cx="5611906"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ASA  ON RSA</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6950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B3DD0-79B9-E3A9-3211-294602D9B01C}"/>
              </a:ext>
            </a:extLst>
          </p:cNvPr>
          <p:cNvSpPr>
            <a:spLocks noGrp="1"/>
          </p:cNvSpPr>
          <p:nvPr>
            <p:ph type="title"/>
          </p:nvPr>
        </p:nvSpPr>
        <p:spPr>
          <a:xfrm>
            <a:off x="1154954" y="982633"/>
            <a:ext cx="8761413" cy="706964"/>
          </a:xfrm>
        </p:spPr>
        <p:txBody>
          <a:bodyPr/>
          <a:lstStyle/>
          <a:p>
            <a:pPr algn="ctr"/>
            <a:r>
              <a:rPr lang="en-IN" sz="3600" dirty="0">
                <a:solidFill>
                  <a:schemeClr val="bg1"/>
                </a:solidFill>
                <a:effectLst/>
                <a:latin typeface="Times New Roman" panose="02020603050405020304" pitchFamily="18" charset="0"/>
                <a:cs typeface="Times New Roman" panose="02020603050405020304" pitchFamily="18" charset="0"/>
              </a:rPr>
              <a:t>EXPERIMENTAL EVALUATION</a:t>
            </a:r>
            <a:endParaRPr lang="en-US" dirty="0"/>
          </a:p>
        </p:txBody>
      </p:sp>
      <p:sp>
        <p:nvSpPr>
          <p:cNvPr id="3" name="Content Placeholder 2">
            <a:extLst>
              <a:ext uri="{FF2B5EF4-FFF2-40B4-BE49-F238E27FC236}">
                <a16:creationId xmlns:a16="http://schemas.microsoft.com/office/drawing/2014/main" id="{B5E9B1B1-1E08-544C-9C91-0151906D7FBB}"/>
              </a:ext>
            </a:extLst>
          </p:cNvPr>
          <p:cNvSpPr>
            <a:spLocks noGrp="1"/>
          </p:cNvSpPr>
          <p:nvPr>
            <p:ph idx="1"/>
          </p:nvPr>
        </p:nvSpPr>
        <p:spPr>
          <a:xfrm>
            <a:off x="620888" y="2280356"/>
            <a:ext cx="11085689" cy="3739444"/>
          </a:xfrm>
        </p:spPr>
        <p:txBody>
          <a:bodyPr>
            <a:normAutofit/>
          </a:bodyPr>
          <a:lstStyle/>
          <a:p>
            <a:r>
              <a:rPr lang="en-IN" sz="2000" dirty="0">
                <a:solidFill>
                  <a:srgbClr val="211E1E"/>
                </a:solidFill>
                <a:latin typeface="Times New Roman" panose="02020603050405020304" pitchFamily="18" charset="0"/>
                <a:cs typeface="Times New Roman" panose="02020603050405020304" pitchFamily="18" charset="0"/>
              </a:rPr>
              <a:t>Average runtime </a:t>
            </a:r>
            <a:r>
              <a:rPr lang="en-IN" sz="2000" dirty="0" err="1">
                <a:solidFill>
                  <a:srgbClr val="211E1E"/>
                </a:solidFill>
                <a:latin typeface="Times New Roman" panose="02020603050405020304" pitchFamily="18" charset="0"/>
                <a:cs typeface="Times New Roman" panose="02020603050405020304" pitchFamily="18" charset="0"/>
              </a:rPr>
              <a:t>comparisions</a:t>
            </a:r>
            <a:r>
              <a:rPr lang="en-IN" sz="2000" dirty="0">
                <a:solidFill>
                  <a:srgbClr val="211E1E"/>
                </a:solidFill>
                <a:latin typeface="Times New Roman" panose="02020603050405020304" pitchFamily="18" charset="0"/>
                <a:cs typeface="Times New Roman" panose="02020603050405020304" pitchFamily="18" charset="0"/>
              </a:rPr>
              <a:t> between modules. </a:t>
            </a: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E454876-C1AA-B5A7-AFED-E54054A47581}"/>
              </a:ext>
            </a:extLst>
          </p:cNvPr>
          <p:cNvPicPr>
            <a:picLocks noChangeAspect="1"/>
          </p:cNvPicPr>
          <p:nvPr/>
        </p:nvPicPr>
        <p:blipFill>
          <a:blip r:embed="rId2"/>
          <a:stretch>
            <a:fillRect/>
          </a:stretch>
        </p:blipFill>
        <p:spPr>
          <a:xfrm>
            <a:off x="3128682" y="2958352"/>
            <a:ext cx="5378823" cy="3661171"/>
          </a:xfrm>
          <a:prstGeom prst="rect">
            <a:avLst/>
          </a:prstGeom>
        </p:spPr>
      </p:pic>
    </p:spTree>
    <p:extLst>
      <p:ext uri="{BB962C8B-B14F-4D97-AF65-F5344CB8AC3E}">
        <p14:creationId xmlns:p14="http://schemas.microsoft.com/office/powerpoint/2010/main" val="773551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5CF39FC-CC94-F7B9-33B2-2B80D31AD831}"/>
              </a:ext>
            </a:extLst>
          </p:cNvPr>
          <p:cNvSpPr>
            <a:spLocks noGrp="1"/>
          </p:cNvSpPr>
          <p:nvPr>
            <p:ph idx="1"/>
          </p:nvPr>
        </p:nvSpPr>
        <p:spPr>
          <a:xfrm>
            <a:off x="626533" y="587022"/>
            <a:ext cx="10938933" cy="5342467"/>
          </a:xfrm>
        </p:spPr>
        <p:txBody>
          <a:bodyPr/>
          <a:lstStyle/>
          <a:p>
            <a:endParaRPr lang="en-US" dirty="0"/>
          </a:p>
          <a:p>
            <a:endParaRPr lang="en-US" dirty="0"/>
          </a:p>
          <a:p>
            <a:endParaRPr lang="en-US" dirty="0"/>
          </a:p>
          <a:p>
            <a:endParaRPr lang="en-US" dirty="0"/>
          </a:p>
          <a:p>
            <a:r>
              <a:rPr lang="en-US" dirty="0"/>
              <a:t>Statistical results of the runtime of the modules.</a:t>
            </a:r>
          </a:p>
        </p:txBody>
      </p:sp>
      <p:pic>
        <p:nvPicPr>
          <p:cNvPr id="2" name="Picture 1">
            <a:extLst>
              <a:ext uri="{FF2B5EF4-FFF2-40B4-BE49-F238E27FC236}">
                <a16:creationId xmlns:a16="http://schemas.microsoft.com/office/drawing/2014/main" id="{254A69F2-F0A3-CFBC-5329-5EEB9B1EBCEC}"/>
              </a:ext>
            </a:extLst>
          </p:cNvPr>
          <p:cNvPicPr>
            <a:picLocks noChangeAspect="1"/>
          </p:cNvPicPr>
          <p:nvPr/>
        </p:nvPicPr>
        <p:blipFill>
          <a:blip r:embed="rId2"/>
          <a:stretch>
            <a:fillRect/>
          </a:stretch>
        </p:blipFill>
        <p:spPr>
          <a:xfrm>
            <a:off x="3101789" y="2911282"/>
            <a:ext cx="5459506" cy="3359696"/>
          </a:xfrm>
          <a:prstGeom prst="rect">
            <a:avLst/>
          </a:prstGeom>
        </p:spPr>
      </p:pic>
      <p:sp>
        <p:nvSpPr>
          <p:cNvPr id="3" name="Title 1">
            <a:extLst>
              <a:ext uri="{FF2B5EF4-FFF2-40B4-BE49-F238E27FC236}">
                <a16:creationId xmlns:a16="http://schemas.microsoft.com/office/drawing/2014/main" id="{DDAADCF0-5CF3-3C49-05FD-D9E1FF5FBEB7}"/>
              </a:ext>
            </a:extLst>
          </p:cNvPr>
          <p:cNvSpPr>
            <a:spLocks noGrp="1"/>
          </p:cNvSpPr>
          <p:nvPr>
            <p:ph type="title"/>
          </p:nvPr>
        </p:nvSpPr>
        <p:spPr>
          <a:xfrm>
            <a:off x="1154954" y="973668"/>
            <a:ext cx="8761413" cy="706964"/>
          </a:xfrm>
        </p:spPr>
        <p:txBody>
          <a:bodyPr/>
          <a:lstStyle/>
          <a:p>
            <a:pPr algn="ctr"/>
            <a:r>
              <a:rPr lang="en-IN" sz="3600" dirty="0">
                <a:solidFill>
                  <a:schemeClr val="bg1"/>
                </a:solidFill>
                <a:effectLst/>
                <a:latin typeface="Times New Roman" panose="02020603050405020304" pitchFamily="18" charset="0"/>
                <a:cs typeface="Times New Roman" panose="02020603050405020304" pitchFamily="18" charset="0"/>
              </a:rPr>
              <a:t>EXPERIMENTAL EVALUATION</a:t>
            </a:r>
            <a:endParaRPr lang="en-US" dirty="0"/>
          </a:p>
        </p:txBody>
      </p:sp>
    </p:spTree>
    <p:extLst>
      <p:ext uri="{BB962C8B-B14F-4D97-AF65-F5344CB8AC3E}">
        <p14:creationId xmlns:p14="http://schemas.microsoft.com/office/powerpoint/2010/main" val="3814648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DA1F2-5113-261E-43D2-CC707EE86CFF}"/>
              </a:ext>
            </a:extLst>
          </p:cNvPr>
          <p:cNvSpPr>
            <a:spLocks noGrp="1"/>
          </p:cNvSpPr>
          <p:nvPr>
            <p:ph type="title"/>
          </p:nvPr>
        </p:nvSpPr>
        <p:spPr/>
        <p:txBody>
          <a:bodyPr/>
          <a:lstStyle/>
          <a:p>
            <a:pPr algn="ctr"/>
            <a:r>
              <a:rPr lang="en-IN" b="1" dirty="0">
                <a:solidFill>
                  <a:schemeClr val="bg1"/>
                </a:solidFill>
                <a:latin typeface="Times New Roman" panose="02020603050405020304" pitchFamily="18" charset="0"/>
                <a:cs typeface="Times New Roman" panose="02020603050405020304" pitchFamily="18" charset="0"/>
              </a:rPr>
              <a:t>CONCLUSION</a:t>
            </a:r>
            <a:endParaRPr lang="en-US" b="1" dirty="0"/>
          </a:p>
        </p:txBody>
      </p:sp>
      <p:sp>
        <p:nvSpPr>
          <p:cNvPr id="3" name="Content Placeholder 2">
            <a:extLst>
              <a:ext uri="{FF2B5EF4-FFF2-40B4-BE49-F238E27FC236}">
                <a16:creationId xmlns:a16="http://schemas.microsoft.com/office/drawing/2014/main" id="{F3ABE6EB-1283-E924-1A31-AF0E9FC671CF}"/>
              </a:ext>
            </a:extLst>
          </p:cNvPr>
          <p:cNvSpPr>
            <a:spLocks noGrp="1"/>
          </p:cNvSpPr>
          <p:nvPr>
            <p:ph idx="1"/>
          </p:nvPr>
        </p:nvSpPr>
        <p:spPr>
          <a:xfrm>
            <a:off x="587022" y="2325511"/>
            <a:ext cx="11051822" cy="4210756"/>
          </a:xfrm>
        </p:spPr>
        <p:txBody>
          <a:bodyPr>
            <a:normAutofit/>
          </a:bodyPr>
          <a:lstStyle/>
          <a:p>
            <a:pPr algn="just">
              <a:lnSpc>
                <a:spcPct val="150000"/>
              </a:lnSpc>
            </a:pPr>
            <a:r>
              <a:rPr lang="en-US" sz="2000" dirty="0">
                <a:solidFill>
                  <a:srgbClr val="211E1E"/>
                </a:solidFill>
                <a:latin typeface="Times New Roman" panose="02020603050405020304" pitchFamily="18" charset="0"/>
                <a:cs typeface="Times New Roman" panose="02020603050405020304" pitchFamily="18" charset="0"/>
              </a:rPr>
              <a:t>A universal subversion framework, and then instantiate this framework to a series of practical ASAs on essential public-key cryptographic algorithms including key generation, encapsulation, encryption, and signature, which are much more effective than existing ones.</a:t>
            </a:r>
          </a:p>
          <a:p>
            <a:pPr algn="just">
              <a:lnSpc>
                <a:spcPct val="150000"/>
              </a:lnSpc>
            </a:pPr>
            <a:r>
              <a:rPr lang="en-US" sz="2000" dirty="0">
                <a:solidFill>
                  <a:srgbClr val="211E1E"/>
                </a:solidFill>
                <a:latin typeface="Times New Roman" panose="02020603050405020304" pitchFamily="18" charset="0"/>
                <a:cs typeface="Times New Roman" panose="02020603050405020304" pitchFamily="18" charset="0"/>
              </a:rPr>
              <a:t>In particular, our ASAs can be applied to various widely deployed (and ongoing) cryptographic standards.</a:t>
            </a:r>
          </a:p>
          <a:p>
            <a:pPr marL="0" indent="0">
              <a:lnSpc>
                <a:spcPct val="150000"/>
              </a:lnSpc>
              <a:buNone/>
            </a:pPr>
            <a:endParaRPr lang="en-US" dirty="0"/>
          </a:p>
        </p:txBody>
      </p:sp>
    </p:spTree>
    <p:extLst>
      <p:ext uri="{BB962C8B-B14F-4D97-AF65-F5344CB8AC3E}">
        <p14:creationId xmlns:p14="http://schemas.microsoft.com/office/powerpoint/2010/main" val="27278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A740-98F7-74BF-12E6-D6E78A883478}"/>
              </a:ext>
            </a:extLst>
          </p:cNvPr>
          <p:cNvSpPr>
            <a:spLocks noGrp="1"/>
          </p:cNvSpPr>
          <p:nvPr>
            <p:ph type="title"/>
          </p:nvPr>
        </p:nvSpPr>
        <p:spPr/>
        <p:txBody>
          <a:bodyPr/>
          <a:lstStyle/>
          <a:p>
            <a:pPr algn="ctr"/>
            <a:r>
              <a:rPr lang="en-IN" b="1" dirty="0">
                <a:solidFill>
                  <a:schemeClr val="bg1"/>
                </a:solidFill>
                <a:latin typeface="Times New Roman" panose="02020603050405020304" pitchFamily="18" charset="0"/>
                <a:cs typeface="Times New Roman" panose="02020603050405020304" pitchFamily="18" charset="0"/>
              </a:rPr>
              <a:t>FUTURE ENCHANCEMENTS</a:t>
            </a:r>
            <a:endParaRPr lang="en-US" dirty="0"/>
          </a:p>
        </p:txBody>
      </p:sp>
      <p:sp>
        <p:nvSpPr>
          <p:cNvPr id="3" name="Content Placeholder 2">
            <a:extLst>
              <a:ext uri="{FF2B5EF4-FFF2-40B4-BE49-F238E27FC236}">
                <a16:creationId xmlns:a16="http://schemas.microsoft.com/office/drawing/2014/main" id="{E7757953-9888-F069-E0B2-6F3A80871569}"/>
              </a:ext>
            </a:extLst>
          </p:cNvPr>
          <p:cNvSpPr>
            <a:spLocks noGrp="1"/>
          </p:cNvSpPr>
          <p:nvPr>
            <p:ph idx="1"/>
          </p:nvPr>
        </p:nvSpPr>
        <p:spPr>
          <a:xfrm>
            <a:off x="508000" y="2280356"/>
            <a:ext cx="11187289" cy="3739444"/>
          </a:xfrm>
        </p:spPr>
        <p:txBody>
          <a:bodyPr/>
          <a:lstStyle/>
          <a:p>
            <a:pPr algn="just">
              <a:lnSpc>
                <a:spcPct val="150000"/>
              </a:lnSpc>
            </a:pPr>
            <a:r>
              <a:rPr lang="en-US" sz="2000" dirty="0">
                <a:solidFill>
                  <a:srgbClr val="211E1E"/>
                </a:solidFill>
                <a:latin typeface="Times New Roman" panose="02020603050405020304" pitchFamily="18" charset="0"/>
                <a:cs typeface="Times New Roman" panose="02020603050405020304" pitchFamily="18" charset="0"/>
              </a:rPr>
              <a:t>Implementing advanced security measures to fortify the project against evolving cyber threats. This may involve exploring and integrating the latest encryption standards, authentication protocols, and anomaly detection mechanisms to enhance the overall security posture of the system.</a:t>
            </a:r>
          </a:p>
          <a:p>
            <a:pPr algn="just">
              <a:lnSpc>
                <a:spcPct val="150000"/>
              </a:lnSpc>
            </a:pPr>
            <a:r>
              <a:rPr lang="en-US" sz="2000" dirty="0">
                <a:solidFill>
                  <a:srgbClr val="211E1E"/>
                </a:solidFill>
                <a:effectLst/>
                <a:latin typeface="Times New Roman" panose="02020603050405020304" pitchFamily="18" charset="0"/>
                <a:cs typeface="Times New Roman" panose="02020603050405020304" pitchFamily="18" charset="0"/>
              </a:rPr>
              <a:t>Adapting the project for mobile platforms to cater to the growing number of users accessing applications through smartphones and tablets. </a:t>
            </a:r>
            <a:endParaRPr lang="en-US" dirty="0"/>
          </a:p>
        </p:txBody>
      </p:sp>
    </p:spTree>
    <p:extLst>
      <p:ext uri="{BB962C8B-B14F-4D97-AF65-F5344CB8AC3E}">
        <p14:creationId xmlns:p14="http://schemas.microsoft.com/office/powerpoint/2010/main" val="2531178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A55E-1754-5247-37EA-823C559897B0}"/>
              </a:ext>
            </a:extLst>
          </p:cNvPr>
          <p:cNvSpPr>
            <a:spLocks noGrp="1"/>
          </p:cNvSpPr>
          <p:nvPr>
            <p:ph type="title"/>
          </p:nvPr>
        </p:nvSpPr>
        <p:spPr/>
        <p:txBody>
          <a:bodyPr/>
          <a:lstStyle/>
          <a:p>
            <a:pPr algn="ctr"/>
            <a:r>
              <a:rPr lang="en-IN" b="1" dirty="0">
                <a:solidFill>
                  <a:schemeClr val="bg1"/>
                </a:solidFill>
                <a:latin typeface="Times New Roman" panose="02020603050405020304" pitchFamily="18" charset="0"/>
                <a:cs typeface="Times New Roman" panose="02020603050405020304" pitchFamily="18" charset="0"/>
              </a:rPr>
              <a:t>REFERENCES</a:t>
            </a:r>
            <a:endParaRPr lang="en-US" dirty="0"/>
          </a:p>
        </p:txBody>
      </p:sp>
      <p:sp>
        <p:nvSpPr>
          <p:cNvPr id="3" name="Content Placeholder 2">
            <a:extLst>
              <a:ext uri="{FF2B5EF4-FFF2-40B4-BE49-F238E27FC236}">
                <a16:creationId xmlns:a16="http://schemas.microsoft.com/office/drawing/2014/main" id="{985DCA6B-70AE-14BB-3841-EEEDA58B9457}"/>
              </a:ext>
            </a:extLst>
          </p:cNvPr>
          <p:cNvSpPr>
            <a:spLocks noGrp="1"/>
          </p:cNvSpPr>
          <p:nvPr>
            <p:ph idx="1"/>
          </p:nvPr>
        </p:nvSpPr>
        <p:spPr>
          <a:xfrm>
            <a:off x="575732" y="2325511"/>
            <a:ext cx="11085689" cy="4532489"/>
          </a:xfrm>
        </p:spPr>
        <p:txBody>
          <a:bodyPr>
            <a:normAutofit fontScale="92500" lnSpcReduction="20000"/>
          </a:bodyPr>
          <a:lstStyle/>
          <a:p>
            <a:pPr marL="0" marR="29210" indent="0" algn="just">
              <a:lnSpc>
                <a:spcPct val="149000"/>
              </a:lnSpc>
              <a:spcBef>
                <a:spcPts val="0"/>
              </a:spcBef>
              <a:spcAft>
                <a:spcPts val="15"/>
              </a:spcAft>
              <a:buNone/>
            </a:pPr>
            <a:r>
              <a:rPr lang="en-GB" kern="100" dirty="0">
                <a:solidFill>
                  <a:srgbClr val="000000"/>
                </a:solidFill>
                <a:effectLst/>
                <a:latin typeface="Times New Roman" panose="02020603050405020304" pitchFamily="18" charset="0"/>
                <a:ea typeface="Times New Roman" panose="02020603050405020304" pitchFamily="18" charset="0"/>
              </a:rPr>
              <a:t>[1] N. </a:t>
            </a:r>
            <a:r>
              <a:rPr lang="en-GB" kern="100" dirty="0" err="1">
                <a:solidFill>
                  <a:srgbClr val="000000"/>
                </a:solidFill>
                <a:effectLst/>
                <a:latin typeface="Times New Roman" panose="02020603050405020304" pitchFamily="18" charset="0"/>
                <a:ea typeface="Times New Roman" panose="02020603050405020304" pitchFamily="18" charset="0"/>
              </a:rPr>
              <a:t>Perlroth</a:t>
            </a:r>
            <a:r>
              <a:rPr lang="en-GB" kern="100" dirty="0">
                <a:solidFill>
                  <a:srgbClr val="000000"/>
                </a:solidFill>
                <a:effectLst/>
                <a:latin typeface="Times New Roman" panose="02020603050405020304" pitchFamily="18" charset="0"/>
                <a:ea typeface="Times New Roman" panose="02020603050405020304" pitchFamily="18" charset="0"/>
              </a:rPr>
              <a:t>, J. Larson, and S. Shane. (2013). N.S.A. Able </a:t>
            </a:r>
            <a:r>
              <a:rPr lang="en-GB" kern="100" dirty="0" err="1">
                <a:solidFill>
                  <a:srgbClr val="000000"/>
                </a:solidFill>
                <a:effectLst/>
                <a:latin typeface="Times New Roman" panose="02020603050405020304" pitchFamily="18" charset="0"/>
                <a:ea typeface="Times New Roman" panose="02020603050405020304" pitchFamily="18" charset="0"/>
              </a:rPr>
              <a:t>toFoil</a:t>
            </a:r>
            <a:r>
              <a:rPr lang="en-GB" kern="100" dirty="0">
                <a:solidFill>
                  <a:srgbClr val="000000"/>
                </a:solidFill>
                <a:effectLst/>
                <a:latin typeface="Times New Roman" panose="02020603050405020304" pitchFamily="18" charset="0"/>
                <a:ea typeface="Times New Roman" panose="02020603050405020304" pitchFamily="18" charset="0"/>
              </a:rPr>
              <a:t>  Basic Safeguards of Privacy on Web. The New York Times.[Online]. Available: https://www.nytimes.com/2013/09/06/us/nsa-foils much-internet-encryption.html</a:t>
            </a:r>
          </a:p>
          <a:p>
            <a:pPr marL="0" marR="29210" indent="0" algn="just">
              <a:lnSpc>
                <a:spcPct val="149000"/>
              </a:lnSpc>
              <a:spcBef>
                <a:spcPts val="0"/>
              </a:spcBef>
              <a:spcAft>
                <a:spcPts val="15"/>
              </a:spcAft>
              <a:buNone/>
            </a:pPr>
            <a:r>
              <a:rPr lang="en-GB" kern="100" dirty="0">
                <a:solidFill>
                  <a:srgbClr val="000000"/>
                </a:solidFill>
                <a:effectLst/>
                <a:latin typeface="Times New Roman" panose="02020603050405020304" pitchFamily="18" charset="0"/>
                <a:ea typeface="Times New Roman" panose="02020603050405020304" pitchFamily="18" charset="0"/>
              </a:rPr>
              <a:t>[2] M. </a:t>
            </a:r>
            <a:r>
              <a:rPr lang="en-GB" kern="100" dirty="0" err="1">
                <a:solidFill>
                  <a:srgbClr val="000000"/>
                </a:solidFill>
                <a:effectLst/>
                <a:latin typeface="Times New Roman" panose="02020603050405020304" pitchFamily="18" charset="0"/>
                <a:ea typeface="Times New Roman" panose="02020603050405020304" pitchFamily="18" charset="0"/>
              </a:rPr>
              <a:t>Bellare</a:t>
            </a:r>
            <a:r>
              <a:rPr lang="en-GB" kern="100" dirty="0">
                <a:solidFill>
                  <a:srgbClr val="000000"/>
                </a:solidFill>
                <a:effectLst/>
                <a:latin typeface="Times New Roman" panose="02020603050405020304" pitchFamily="18" charset="0"/>
                <a:ea typeface="Times New Roman" panose="02020603050405020304" pitchFamily="18" charset="0"/>
              </a:rPr>
              <a:t>, K. G. Paterson, and P. </a:t>
            </a:r>
            <a:r>
              <a:rPr lang="en-GB" kern="100" dirty="0" err="1">
                <a:solidFill>
                  <a:srgbClr val="000000"/>
                </a:solidFill>
                <a:effectLst/>
                <a:latin typeface="Times New Roman" panose="02020603050405020304" pitchFamily="18" charset="0"/>
                <a:ea typeface="Times New Roman" panose="02020603050405020304" pitchFamily="18" charset="0"/>
              </a:rPr>
              <a:t>Rogaway</a:t>
            </a:r>
            <a:r>
              <a:rPr lang="en-GB" kern="100" dirty="0">
                <a:solidFill>
                  <a:srgbClr val="000000"/>
                </a:solidFill>
                <a:effectLst/>
                <a:latin typeface="Times New Roman" panose="02020603050405020304" pitchFamily="18" charset="0"/>
                <a:ea typeface="Times New Roman" panose="02020603050405020304" pitchFamily="18" charset="0"/>
              </a:rPr>
              <a:t>, “Security of symmetric encryption against mass surveillance,” in Advances in Cryptology—CRYPTO 2014, vol. 8616, J. A. </a:t>
            </a:r>
            <a:r>
              <a:rPr lang="en-GB" kern="100" dirty="0" err="1">
                <a:solidFill>
                  <a:srgbClr val="000000"/>
                </a:solidFill>
                <a:effectLst/>
                <a:latin typeface="Times New Roman" panose="02020603050405020304" pitchFamily="18" charset="0"/>
                <a:ea typeface="Times New Roman" panose="02020603050405020304" pitchFamily="18" charset="0"/>
              </a:rPr>
              <a:t>Garay</a:t>
            </a:r>
            <a:r>
              <a:rPr lang="en-GB" kern="100" dirty="0">
                <a:solidFill>
                  <a:srgbClr val="000000"/>
                </a:solidFill>
                <a:effectLst/>
                <a:latin typeface="Times New Roman" panose="02020603050405020304" pitchFamily="18" charset="0"/>
                <a:ea typeface="Times New Roman" panose="02020603050405020304" pitchFamily="18" charset="0"/>
              </a:rPr>
              <a:t> and R. </a:t>
            </a:r>
            <a:r>
              <a:rPr lang="en-GB" kern="100" dirty="0" err="1">
                <a:solidFill>
                  <a:srgbClr val="000000"/>
                </a:solidFill>
                <a:effectLst/>
                <a:latin typeface="Times New Roman" panose="02020603050405020304" pitchFamily="18" charset="0"/>
                <a:ea typeface="Times New Roman" panose="02020603050405020304" pitchFamily="18" charset="0"/>
              </a:rPr>
              <a:t>Gennaro,Eds</a:t>
            </a:r>
            <a:r>
              <a:rPr lang="en-GB" kern="100" dirty="0">
                <a:solidFill>
                  <a:srgbClr val="000000"/>
                </a:solidFill>
                <a:effectLst/>
                <a:latin typeface="Times New Roman" panose="02020603050405020304" pitchFamily="18" charset="0"/>
                <a:ea typeface="Times New Roman" panose="02020603050405020304" pitchFamily="18" charset="0"/>
              </a:rPr>
              <a:t>. Berlin, Germany: Springer, 2014, pp. 1–19, </a:t>
            </a:r>
            <a:r>
              <a:rPr lang="en-GB" kern="100" dirty="0" err="1">
                <a:solidFill>
                  <a:srgbClr val="000000"/>
                </a:solidFill>
                <a:effectLst/>
                <a:latin typeface="Times New Roman" panose="02020603050405020304" pitchFamily="18" charset="0"/>
                <a:ea typeface="Times New Roman" panose="02020603050405020304" pitchFamily="18" charset="0"/>
              </a:rPr>
              <a:t>doi</a:t>
            </a:r>
            <a:r>
              <a:rPr lang="en-GB" kern="100" dirty="0">
                <a:solidFill>
                  <a:srgbClr val="000000"/>
                </a:solidFill>
                <a:effectLst/>
                <a:latin typeface="Times New Roman" panose="02020603050405020304" pitchFamily="18" charset="0"/>
                <a:ea typeface="Times New Roman" panose="02020603050405020304" pitchFamily="18" charset="0"/>
              </a:rPr>
              <a:t>: 10.1007/978-3-662-44371-2_1.</a:t>
            </a:r>
          </a:p>
          <a:p>
            <a:pPr marL="0" marR="29210" indent="0" algn="just">
              <a:lnSpc>
                <a:spcPct val="149000"/>
              </a:lnSpc>
              <a:spcBef>
                <a:spcPts val="0"/>
              </a:spcBef>
              <a:spcAft>
                <a:spcPts val="15"/>
              </a:spcAft>
              <a:buNone/>
            </a:pPr>
            <a:r>
              <a:rPr lang="en-GB" kern="100" dirty="0">
                <a:solidFill>
                  <a:srgbClr val="000000"/>
                </a:solidFill>
                <a:effectLst/>
                <a:latin typeface="Times New Roman" panose="02020603050405020304" pitchFamily="18" charset="0"/>
                <a:ea typeface="Times New Roman" panose="02020603050405020304" pitchFamily="18" charset="0"/>
              </a:rPr>
              <a:t>[3] S. Berndt and M. </a:t>
            </a:r>
            <a:r>
              <a:rPr lang="en-GB" kern="100" dirty="0" err="1">
                <a:solidFill>
                  <a:srgbClr val="000000"/>
                </a:solidFill>
                <a:effectLst/>
                <a:latin typeface="Times New Roman" panose="02020603050405020304" pitchFamily="18" charset="0"/>
                <a:ea typeface="Times New Roman" panose="02020603050405020304" pitchFamily="18" charset="0"/>
              </a:rPr>
              <a:t>Liskiewicz</a:t>
            </a:r>
            <a:r>
              <a:rPr lang="en-GB" kern="100" dirty="0">
                <a:solidFill>
                  <a:srgbClr val="000000"/>
                </a:solidFill>
                <a:effectLst/>
                <a:latin typeface="Times New Roman" panose="02020603050405020304" pitchFamily="18" charset="0"/>
                <a:ea typeface="Times New Roman" panose="02020603050405020304" pitchFamily="18" charset="0"/>
              </a:rPr>
              <a:t>, “Algorithm substitution attacks from a steganographic perspective,” in Proc. ACM SIGSAC Conf. </a:t>
            </a:r>
            <a:r>
              <a:rPr lang="en-GB" kern="100" dirty="0" err="1">
                <a:solidFill>
                  <a:srgbClr val="000000"/>
                </a:solidFill>
                <a:effectLst/>
                <a:latin typeface="Times New Roman" panose="02020603050405020304" pitchFamily="18" charset="0"/>
                <a:ea typeface="Times New Roman" panose="02020603050405020304" pitchFamily="18" charset="0"/>
              </a:rPr>
              <a:t>Comput.Commun</a:t>
            </a:r>
            <a:r>
              <a:rPr lang="en-GB" kern="100" dirty="0">
                <a:solidFill>
                  <a:srgbClr val="000000"/>
                </a:solidFill>
                <a:effectLst/>
                <a:latin typeface="Times New Roman" panose="02020603050405020304" pitchFamily="18" charset="0"/>
                <a:ea typeface="Times New Roman" panose="02020603050405020304" pitchFamily="18" charset="0"/>
              </a:rPr>
              <a:t>. </a:t>
            </a:r>
            <a:r>
              <a:rPr lang="en-GB" kern="100" dirty="0" err="1">
                <a:solidFill>
                  <a:srgbClr val="000000"/>
                </a:solidFill>
                <a:effectLst/>
                <a:latin typeface="Times New Roman" panose="02020603050405020304" pitchFamily="18" charset="0"/>
                <a:ea typeface="Times New Roman" panose="02020603050405020304" pitchFamily="18" charset="0"/>
              </a:rPr>
              <a:t>Secur</a:t>
            </a:r>
            <a:r>
              <a:rPr lang="en-GB" kern="100" dirty="0">
                <a:solidFill>
                  <a:srgbClr val="000000"/>
                </a:solidFill>
                <a:effectLst/>
                <a:latin typeface="Times New Roman" panose="02020603050405020304" pitchFamily="18" charset="0"/>
                <a:ea typeface="Times New Roman" panose="02020603050405020304" pitchFamily="18" charset="0"/>
              </a:rPr>
              <a:t>., B. M. </a:t>
            </a:r>
            <a:r>
              <a:rPr lang="en-GB" kern="100" dirty="0" err="1">
                <a:solidFill>
                  <a:srgbClr val="000000"/>
                </a:solidFill>
                <a:effectLst/>
                <a:latin typeface="Times New Roman" panose="02020603050405020304" pitchFamily="18" charset="0"/>
                <a:ea typeface="Times New Roman" panose="02020603050405020304" pitchFamily="18" charset="0"/>
              </a:rPr>
              <a:t>Thuraisingham</a:t>
            </a:r>
            <a:r>
              <a:rPr lang="en-GB" kern="100" dirty="0">
                <a:solidFill>
                  <a:srgbClr val="000000"/>
                </a:solidFill>
                <a:effectLst/>
                <a:latin typeface="Times New Roman" panose="02020603050405020304" pitchFamily="18" charset="0"/>
                <a:ea typeface="Times New Roman" panose="02020603050405020304" pitchFamily="18" charset="0"/>
              </a:rPr>
              <a:t>, D. Evans, T. Malkin, and D. </a:t>
            </a:r>
            <a:r>
              <a:rPr lang="en-GB" kern="100" dirty="0" err="1">
                <a:solidFill>
                  <a:srgbClr val="000000"/>
                </a:solidFill>
                <a:effectLst/>
                <a:latin typeface="Times New Roman" panose="02020603050405020304" pitchFamily="18" charset="0"/>
                <a:ea typeface="Times New Roman" panose="02020603050405020304" pitchFamily="18" charset="0"/>
              </a:rPr>
              <a:t>Xu,Eds</a:t>
            </a:r>
            <a:r>
              <a:rPr lang="en-GB" kern="100" dirty="0">
                <a:solidFill>
                  <a:srgbClr val="000000"/>
                </a:solidFill>
                <a:effectLst/>
                <a:latin typeface="Times New Roman" panose="02020603050405020304" pitchFamily="18" charset="0"/>
                <a:ea typeface="Times New Roman" panose="02020603050405020304" pitchFamily="18" charset="0"/>
              </a:rPr>
              <a:t>., Oct. 2017, pp. 1649–1660, </a:t>
            </a:r>
            <a:r>
              <a:rPr lang="en-GB" kern="100" dirty="0" err="1">
                <a:solidFill>
                  <a:srgbClr val="000000"/>
                </a:solidFill>
                <a:effectLst/>
                <a:latin typeface="Times New Roman" panose="02020603050405020304" pitchFamily="18" charset="0"/>
                <a:ea typeface="Times New Roman" panose="02020603050405020304" pitchFamily="18" charset="0"/>
              </a:rPr>
              <a:t>doi</a:t>
            </a:r>
            <a:r>
              <a:rPr lang="en-GB" kern="100" dirty="0">
                <a:solidFill>
                  <a:srgbClr val="000000"/>
                </a:solidFill>
                <a:effectLst/>
                <a:latin typeface="Times New Roman" panose="02020603050405020304" pitchFamily="18" charset="0"/>
                <a:ea typeface="Times New Roman" panose="02020603050405020304" pitchFamily="18" charset="0"/>
              </a:rPr>
              <a:t>: 10.1145/3133956.3133981.</a:t>
            </a:r>
          </a:p>
          <a:p>
            <a:pPr marL="0" marR="29210" indent="0" algn="just">
              <a:lnSpc>
                <a:spcPct val="149000"/>
              </a:lnSpc>
              <a:spcBef>
                <a:spcPts val="0"/>
              </a:spcBef>
              <a:spcAft>
                <a:spcPts val="15"/>
              </a:spcAft>
              <a:buNone/>
            </a:pPr>
            <a:r>
              <a:rPr lang="en-GB" kern="100" dirty="0">
                <a:solidFill>
                  <a:srgbClr val="000000"/>
                </a:solidFill>
                <a:effectLst/>
                <a:latin typeface="Times New Roman" panose="02020603050405020304" pitchFamily="18" charset="0"/>
                <a:ea typeface="Times New Roman" panose="02020603050405020304" pitchFamily="18" charset="0"/>
              </a:rPr>
              <a:t>[4] I. C. Card. (2019). IBM Systems Cryptographic Hardware Products. [Online]. Available: https://www.ibm.com/security/cryptocards/pciecc4/overview</a:t>
            </a:r>
          </a:p>
          <a:p>
            <a:pPr marL="0" marR="29210" indent="0" algn="just">
              <a:lnSpc>
                <a:spcPct val="149000"/>
              </a:lnSpc>
              <a:spcBef>
                <a:spcPts val="0"/>
              </a:spcBef>
              <a:spcAft>
                <a:spcPts val="15"/>
              </a:spcAft>
              <a:buNone/>
            </a:pPr>
            <a:r>
              <a:rPr lang="en-GB" kern="100" dirty="0">
                <a:solidFill>
                  <a:srgbClr val="000000"/>
                </a:solidFill>
                <a:effectLst/>
                <a:latin typeface="Times New Roman" panose="02020603050405020304" pitchFamily="18" charset="0"/>
                <a:ea typeface="Times New Roman" panose="02020603050405020304" pitchFamily="18" charset="0"/>
              </a:rPr>
              <a:t>[5] A. Young and M. Yung, “The dark side of ‘black-box’ cryptography, </a:t>
            </a:r>
            <a:r>
              <a:rPr lang="en-GB" kern="100" dirty="0" err="1">
                <a:solidFill>
                  <a:srgbClr val="000000"/>
                </a:solidFill>
                <a:effectLst/>
                <a:latin typeface="Times New Roman" panose="02020603050405020304" pitchFamily="18" charset="0"/>
                <a:ea typeface="Times New Roman" panose="02020603050405020304" pitchFamily="18" charset="0"/>
              </a:rPr>
              <a:t>or:Should</a:t>
            </a:r>
            <a:r>
              <a:rPr lang="en-GB" kern="100" dirty="0">
                <a:solidFill>
                  <a:srgbClr val="000000"/>
                </a:solidFill>
                <a:effectLst/>
                <a:latin typeface="Times New Roman" panose="02020603050405020304" pitchFamily="18" charset="0"/>
                <a:ea typeface="Times New Roman" panose="02020603050405020304" pitchFamily="18" charset="0"/>
              </a:rPr>
              <a:t> we trust capstone?” in Advances in Cryptology—CRYPTO 1996,vol. 1109, N. </a:t>
            </a:r>
            <a:r>
              <a:rPr lang="en-GB" kern="100" dirty="0" err="1">
                <a:solidFill>
                  <a:srgbClr val="000000"/>
                </a:solidFill>
                <a:effectLst/>
                <a:latin typeface="Times New Roman" panose="02020603050405020304" pitchFamily="18" charset="0"/>
                <a:ea typeface="Times New Roman" panose="02020603050405020304" pitchFamily="18" charset="0"/>
              </a:rPr>
              <a:t>Koblitz,Ed</a:t>
            </a:r>
            <a:r>
              <a:rPr lang="en-GB" kern="100" dirty="0">
                <a:solidFill>
                  <a:srgbClr val="000000"/>
                </a:solidFill>
                <a:effectLst/>
                <a:latin typeface="Times New Roman" panose="02020603050405020304" pitchFamily="18" charset="0"/>
                <a:ea typeface="Times New Roman" panose="02020603050405020304" pitchFamily="18" charset="0"/>
              </a:rPr>
              <a:t>. Heidelberg, Germany: Springer, Aug. 1996,pp. 89–103, </a:t>
            </a:r>
            <a:r>
              <a:rPr lang="en-GB" kern="100" dirty="0" err="1">
                <a:solidFill>
                  <a:srgbClr val="000000"/>
                </a:solidFill>
                <a:effectLst/>
                <a:latin typeface="Times New Roman" panose="02020603050405020304" pitchFamily="18" charset="0"/>
                <a:ea typeface="Times New Roman" panose="02020603050405020304" pitchFamily="18" charset="0"/>
              </a:rPr>
              <a:t>doi</a:t>
            </a:r>
            <a:r>
              <a:rPr lang="en-GB" kern="100" dirty="0">
                <a:solidFill>
                  <a:srgbClr val="000000"/>
                </a:solidFill>
                <a:effectLst/>
                <a:latin typeface="Times New Roman" panose="02020603050405020304" pitchFamily="18" charset="0"/>
                <a:ea typeface="Times New Roman" panose="02020603050405020304" pitchFamily="18" charset="0"/>
              </a:rPr>
              <a:t>: 10.1007/3-540-68697-5_8.</a:t>
            </a:r>
          </a:p>
          <a:p>
            <a:endParaRPr lang="en-US" dirty="0"/>
          </a:p>
        </p:txBody>
      </p:sp>
    </p:spTree>
    <p:extLst>
      <p:ext uri="{BB962C8B-B14F-4D97-AF65-F5344CB8AC3E}">
        <p14:creationId xmlns:p14="http://schemas.microsoft.com/office/powerpoint/2010/main" val="3882966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386F9-D5AC-F1C4-9750-60008454B86C}"/>
              </a:ext>
            </a:extLst>
          </p:cNvPr>
          <p:cNvSpPr>
            <a:spLocks noGrp="1"/>
          </p:cNvSpPr>
          <p:nvPr>
            <p:ph type="title"/>
          </p:nvPr>
        </p:nvSpPr>
        <p:spPr>
          <a:xfrm>
            <a:off x="1922598" y="1628422"/>
            <a:ext cx="8761413" cy="3022599"/>
          </a:xfrm>
        </p:spPr>
        <p:txBody>
          <a:bodyPr/>
          <a:lstStyle/>
          <a:p>
            <a:pPr algn="ctr"/>
            <a:r>
              <a:rPr lang="en-US" sz="8000"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709596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0D0EAE-52CD-493E-A174-3A7CD0E9C7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83CA34-C6E2-49BA-ACFF-78ADEC0C28FA}">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CCB9AE35-8A31-4380-94A6-86E5DFCDD1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 Boardroom</Template>
  <TotalTime>1141</TotalTime>
  <Words>1796</Words>
  <Application>Microsoft Office PowerPoint</Application>
  <PresentationFormat>Widescreen</PresentationFormat>
  <Paragraphs>139</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AdvP6EC5</vt:lpstr>
      <vt:lpstr>Arial</vt:lpstr>
      <vt:lpstr>Calibri</vt:lpstr>
      <vt:lpstr>Century Gothic</vt:lpstr>
      <vt:lpstr>Times New Roman</vt:lpstr>
      <vt:lpstr>Wingdings</vt:lpstr>
      <vt:lpstr>Wingdings 3</vt:lpstr>
      <vt:lpstr>Ion Boardroom</vt:lpstr>
      <vt:lpstr>PowerPoint Presentation</vt:lpstr>
      <vt:lpstr>CONTENTS</vt:lpstr>
      <vt:lpstr>INTRODUCTION</vt:lpstr>
      <vt:lpstr>SIGNIFICANCE OF THE TOPIC</vt:lpstr>
      <vt:lpstr>SCOPE OF THE TOPIC</vt:lpstr>
      <vt:lpstr>LITERATURE SURVEY</vt:lpstr>
      <vt:lpstr>PowerPoint Presentation</vt:lpstr>
      <vt:lpstr>PowerPoint Presentation</vt:lpstr>
      <vt:lpstr>METHODOLOGY</vt:lpstr>
      <vt:lpstr> </vt:lpstr>
      <vt:lpstr> </vt:lpstr>
      <vt:lpstr> </vt:lpstr>
      <vt:lpstr> SIGNING</vt:lpstr>
      <vt:lpstr>PowerPoint Presentation</vt:lpstr>
      <vt:lpstr>PowerPoint Presentation</vt:lpstr>
      <vt:lpstr>PowerPoint Presentation</vt:lpstr>
      <vt:lpstr>PowerPoint Presentation</vt:lpstr>
      <vt:lpstr>EXPERIMENTAL EVALUATION</vt:lpstr>
      <vt:lpstr>EXPERIMENTAL EVALUATION</vt:lpstr>
      <vt:lpstr>CONCLUSION</vt:lpstr>
      <vt:lpstr>FUTURE ENCHANCEMENTS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Shravan L _SG20CS100</cp:lastModifiedBy>
  <cp:revision>29</cp:revision>
  <dcterms:created xsi:type="dcterms:W3CDTF">2024-02-26T13:33:13Z</dcterms:created>
  <dcterms:modified xsi:type="dcterms:W3CDTF">2024-03-25T17:46:59Z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
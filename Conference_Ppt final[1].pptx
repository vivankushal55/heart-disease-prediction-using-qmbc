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84" r:id="rId7"/>
    <p:sldId id="261" r:id="rId8"/>
    <p:sldId id="267" r:id="rId9"/>
    <p:sldId id="285" r:id="rId10"/>
    <p:sldId id="282" r:id="rId11"/>
    <p:sldId id="262" r:id="rId12"/>
    <p:sldId id="283" r:id="rId13"/>
    <p:sldId id="286" r:id="rId14"/>
    <p:sldId id="263" r:id="rId15"/>
    <p:sldId id="264" r:id="rId16"/>
    <p:sldId id="265"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642AD8B-B65B-4EC9-907C-AD3C74220B0E}" type="datetimeFigureOut">
              <a:rPr lang="en-US" smtClean="0"/>
              <a:t>4/27/2024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BA433C-590F-467D-840F-9C11541F4D94}" type="slidenum">
              <a:rPr lang="en-US" smtClean="0"/>
              <a:t>‹#›</a:t>
            </a:fld>
            <a:endParaRPr lang="en-US"/>
          </a:p>
        </p:txBody>
      </p:sp>
    </p:spTree>
    <p:extLst>
      <p:ext uri="{BB962C8B-B14F-4D97-AF65-F5344CB8AC3E}">
        <p14:creationId xmlns:p14="http://schemas.microsoft.com/office/powerpoint/2010/main" val="291906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3BA433C-590F-467D-840F-9C11541F4D94}" type="slidenum">
              <a:rPr lang="en-US" smtClean="0"/>
              <a:t>6</a:t>
            </a:fld>
            <a:endParaRPr lang="en-US"/>
          </a:p>
        </p:txBody>
      </p:sp>
    </p:spTree>
    <p:extLst>
      <p:ext uri="{BB962C8B-B14F-4D97-AF65-F5344CB8AC3E}">
        <p14:creationId xmlns:p14="http://schemas.microsoft.com/office/powerpoint/2010/main" val="130754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22F3B97-EEE9-4A52-B4A4-23A6D07D285F}" type="datetime1">
              <a:rPr lang="en-US" smtClean="0"/>
              <a:t>4/27/2024</a:t>
            </a:fld>
            <a:endParaRPr lang="en-US"/>
          </a:p>
        </p:txBody>
      </p:sp>
      <p:sp>
        <p:nvSpPr>
          <p:cNvPr id="5" name="Footer Placeholder 4"/>
          <p:cNvSpPr>
            <a:spLocks noGrp="1"/>
          </p:cNvSpPr>
          <p:nvPr>
            <p:ph type="ftr" sz="quarter" idx="11"/>
          </p:nvPr>
        </p:nvSpPr>
        <p:spPr/>
        <p:txBody>
          <a:bodyPr/>
          <a:lstStyle/>
          <a:p>
            <a:r>
              <a:rPr lang="en-US"/>
              <a:t>ICGCP 2024 , Sapthagiri College of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419371-4BA2-4902-88ED-E49E40E3EC98}" type="datetime1">
              <a:rPr lang="en-US" smtClean="0"/>
              <a:t>4/27/2024</a:t>
            </a:fld>
            <a:endParaRPr lang="en-US"/>
          </a:p>
        </p:txBody>
      </p:sp>
      <p:sp>
        <p:nvSpPr>
          <p:cNvPr id="5" name="Footer Placeholder 4"/>
          <p:cNvSpPr>
            <a:spLocks noGrp="1"/>
          </p:cNvSpPr>
          <p:nvPr>
            <p:ph type="ftr" sz="quarter" idx="11"/>
          </p:nvPr>
        </p:nvSpPr>
        <p:spPr/>
        <p:txBody>
          <a:bodyPr/>
          <a:lstStyle/>
          <a:p>
            <a:r>
              <a:rPr lang="en-US"/>
              <a:t>ICGCP 2024 , Sapthagiri College of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022C3B-5B0B-427B-8322-E683F679FEA2}" type="datetime1">
              <a:rPr lang="en-US" smtClean="0"/>
              <a:t>4/27/2024</a:t>
            </a:fld>
            <a:endParaRPr lang="en-US"/>
          </a:p>
        </p:txBody>
      </p:sp>
      <p:sp>
        <p:nvSpPr>
          <p:cNvPr id="5" name="Footer Placeholder 4"/>
          <p:cNvSpPr>
            <a:spLocks noGrp="1"/>
          </p:cNvSpPr>
          <p:nvPr>
            <p:ph type="ftr" sz="quarter" idx="11"/>
          </p:nvPr>
        </p:nvSpPr>
        <p:spPr/>
        <p:txBody>
          <a:bodyPr/>
          <a:lstStyle/>
          <a:p>
            <a:r>
              <a:rPr lang="en-US"/>
              <a:t>ICGCP 2024 , Sapthagiri College of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81E902B-2736-44A9-B689-938DC42A647A}" type="datetime1">
              <a:rPr lang="en-US" smtClean="0"/>
              <a:t>4/27/2024</a:t>
            </a:fld>
            <a:endParaRPr lang="en-US"/>
          </a:p>
        </p:txBody>
      </p:sp>
      <p:sp>
        <p:nvSpPr>
          <p:cNvPr id="6" name="Footer Placeholder 5"/>
          <p:cNvSpPr>
            <a:spLocks noGrp="1"/>
          </p:cNvSpPr>
          <p:nvPr>
            <p:ph type="ftr" sz="quarter" idx="11"/>
          </p:nvPr>
        </p:nvSpPr>
        <p:spPr/>
        <p:txBody>
          <a:bodyPr/>
          <a:lstStyle/>
          <a:p>
            <a:r>
              <a:rPr lang="en-US"/>
              <a:t>ICGCP 2024 , Sapthagiri College of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9C4128-2EF5-406E-BC56-D04E0A4AB137}" type="datetime1">
              <a:rPr lang="en-US" smtClean="0"/>
              <a:t>4/27/2024</a:t>
            </a:fld>
            <a:endParaRPr lang="en-US"/>
          </a:p>
        </p:txBody>
      </p:sp>
      <p:sp>
        <p:nvSpPr>
          <p:cNvPr id="8" name="Footer Placeholder 7"/>
          <p:cNvSpPr>
            <a:spLocks noGrp="1"/>
          </p:cNvSpPr>
          <p:nvPr>
            <p:ph type="ftr" sz="quarter" idx="11"/>
          </p:nvPr>
        </p:nvSpPr>
        <p:spPr/>
        <p:txBody>
          <a:bodyPr/>
          <a:lstStyle/>
          <a:p>
            <a:r>
              <a:rPr lang="en-US"/>
              <a:t>ICGCP 2024 , Sapthagiri College of Engineering</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C451F1-4EE0-43BB-8B78-79BFCA7469E5}" type="datetime1">
              <a:rPr lang="en-US" smtClean="0"/>
              <a:t>4/27/2024</a:t>
            </a:fld>
            <a:endParaRPr lang="en-US"/>
          </a:p>
        </p:txBody>
      </p:sp>
      <p:sp>
        <p:nvSpPr>
          <p:cNvPr id="4" name="Footer Placeholder 3"/>
          <p:cNvSpPr>
            <a:spLocks noGrp="1"/>
          </p:cNvSpPr>
          <p:nvPr>
            <p:ph type="ftr" sz="quarter" idx="11"/>
          </p:nvPr>
        </p:nvSpPr>
        <p:spPr/>
        <p:txBody>
          <a:bodyPr/>
          <a:lstStyle/>
          <a:p>
            <a:r>
              <a:rPr lang="en-US"/>
              <a:t>ICGCP 2024 , Sapthagiri College of Engineering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CC6741-C5C8-4DA5-BB65-DE05BB7306FD}" type="datetime1">
              <a:rPr lang="en-US" smtClean="0"/>
              <a:t>4/27/2024</a:t>
            </a:fld>
            <a:endParaRPr lang="en-US"/>
          </a:p>
        </p:txBody>
      </p:sp>
      <p:sp>
        <p:nvSpPr>
          <p:cNvPr id="3" name="Footer Placeholder 2"/>
          <p:cNvSpPr>
            <a:spLocks noGrp="1"/>
          </p:cNvSpPr>
          <p:nvPr>
            <p:ph type="ftr" sz="quarter" idx="11"/>
          </p:nvPr>
        </p:nvSpPr>
        <p:spPr/>
        <p:txBody>
          <a:bodyPr/>
          <a:lstStyle/>
          <a:p>
            <a:r>
              <a:rPr lang="en-US"/>
              <a:t>ICGCP 2024 , Sapthagiri College of Engineering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174766-DFB3-4DE8-9AF4-2F355253E8CD}" type="datetime1">
              <a:rPr lang="en-US" smtClean="0"/>
              <a:t>4/27/2024</a:t>
            </a:fld>
            <a:endParaRPr lang="en-US"/>
          </a:p>
        </p:txBody>
      </p:sp>
      <p:sp>
        <p:nvSpPr>
          <p:cNvPr id="6" name="Footer Placeholder 5"/>
          <p:cNvSpPr>
            <a:spLocks noGrp="1"/>
          </p:cNvSpPr>
          <p:nvPr>
            <p:ph type="ftr" sz="quarter" idx="11"/>
          </p:nvPr>
        </p:nvSpPr>
        <p:spPr/>
        <p:txBody>
          <a:bodyPr/>
          <a:lstStyle/>
          <a:p>
            <a:r>
              <a:rPr lang="en-US"/>
              <a:t>ICGCP 2024 , Sapthagiri College of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08D108-C12B-4638-9FBB-A816B3D38FCD}" type="datetime1">
              <a:rPr lang="en-US" smtClean="0"/>
              <a:t>4/27/2024</a:t>
            </a:fld>
            <a:endParaRPr lang="en-US"/>
          </a:p>
        </p:txBody>
      </p:sp>
      <p:sp>
        <p:nvSpPr>
          <p:cNvPr id="6" name="Footer Placeholder 5"/>
          <p:cNvSpPr>
            <a:spLocks noGrp="1"/>
          </p:cNvSpPr>
          <p:nvPr>
            <p:ph type="ftr" sz="quarter" idx="11"/>
          </p:nvPr>
        </p:nvSpPr>
        <p:spPr/>
        <p:txBody>
          <a:bodyPr/>
          <a:lstStyle/>
          <a:p>
            <a:r>
              <a:rPr lang="en-US"/>
              <a:t>ICGCP 2024 , Sapthagiri College of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614EDC-74E0-4AC3-9237-19BC396197F9}" type="datetime1">
              <a:rPr lang="en-US" smtClean="0"/>
              <a:t>4/27/2024</a:t>
            </a:fld>
            <a:endParaRPr lang="en-US"/>
          </a:p>
        </p:txBody>
      </p:sp>
      <p:sp>
        <p:nvSpPr>
          <p:cNvPr id="5" name="Footer Placeholder 4"/>
          <p:cNvSpPr>
            <a:spLocks noGrp="1"/>
          </p:cNvSpPr>
          <p:nvPr>
            <p:ph type="ftr" sz="quarter" idx="11"/>
          </p:nvPr>
        </p:nvSpPr>
        <p:spPr/>
        <p:txBody>
          <a:bodyPr/>
          <a:lstStyle/>
          <a:p>
            <a:r>
              <a:rPr lang="en-US"/>
              <a:t>ICGCP 2024 , Sapthagiri College of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79B36D-9A50-4D13-9E7B-FCB32D9C2D18}" type="datetime1">
              <a:rPr lang="en-US" smtClean="0"/>
              <a:t>4/27/2024</a:t>
            </a:fld>
            <a:endParaRPr lang="en-US"/>
          </a:p>
        </p:txBody>
      </p:sp>
      <p:sp>
        <p:nvSpPr>
          <p:cNvPr id="5" name="Footer Placeholder 4"/>
          <p:cNvSpPr>
            <a:spLocks noGrp="1"/>
          </p:cNvSpPr>
          <p:nvPr>
            <p:ph type="ftr" sz="quarter" idx="11"/>
          </p:nvPr>
        </p:nvSpPr>
        <p:spPr/>
        <p:txBody>
          <a:bodyPr/>
          <a:lstStyle/>
          <a:p>
            <a:r>
              <a:rPr lang="en-US"/>
              <a:t>ICGCP 2024 , Sapthagiri College of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CBAF0B-AE3B-4933-BC9E-260208E581CB}" type="datetime1">
              <a:rPr lang="en-US" smtClean="0"/>
              <a:t>4/27/2024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ICGCP 2024 , Sapthagiri College of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511175"/>
            <a:ext cx="8991600" cy="1470025"/>
          </a:xfrm>
        </p:spPr>
        <p:txBody>
          <a:bodyPr>
            <a:noAutofit/>
          </a:bodyPr>
          <a:lstStyle/>
          <a:p>
            <a:r>
              <a:rPr lang="en-US" sz="2800" b="1" dirty="0">
                <a:solidFill>
                  <a:srgbClr val="C00000"/>
                </a:solidFill>
                <a:latin typeface="Times New Roman" pitchFamily="18" charset="0"/>
                <a:cs typeface="Times New Roman" pitchFamily="18" charset="0"/>
              </a:rPr>
              <a:t>International Conference on </a:t>
            </a:r>
            <a:br>
              <a:rPr lang="en-US" sz="2800" b="1" dirty="0">
                <a:solidFill>
                  <a:srgbClr val="C00000"/>
                </a:solidFill>
                <a:latin typeface="Times New Roman" pitchFamily="18" charset="0"/>
                <a:cs typeface="Times New Roman" pitchFamily="18" charset="0"/>
              </a:rPr>
            </a:br>
            <a:r>
              <a:rPr lang="en-US" sz="2800" b="1" dirty="0">
                <a:solidFill>
                  <a:srgbClr val="C00000"/>
                </a:solidFill>
                <a:latin typeface="Times New Roman" pitchFamily="18" charset="0"/>
                <a:cs typeface="Times New Roman" pitchFamily="18" charset="0"/>
              </a:rPr>
              <a:t>“Global Convergence in Technology, Entrepreneurship, Computing and Value Engineering: Principles and Practices” (ICGCP—2024) </a:t>
            </a:r>
            <a:br>
              <a:rPr lang="en-US" sz="2800" b="1" dirty="0">
                <a:solidFill>
                  <a:srgbClr val="C00000"/>
                </a:solidFill>
                <a:latin typeface="Times New Roman" pitchFamily="18" charset="0"/>
                <a:cs typeface="Times New Roman" pitchFamily="18" charset="0"/>
              </a:rPr>
            </a:br>
            <a:r>
              <a:rPr lang="en-US" sz="2400" b="1" dirty="0">
                <a:latin typeface="Times New Roman" pitchFamily="18" charset="0"/>
                <a:cs typeface="Times New Roman" pitchFamily="18" charset="0"/>
              </a:rPr>
              <a:t>27</a:t>
            </a:r>
            <a:r>
              <a:rPr lang="en-US" sz="2400" b="1" baseline="30000" dirty="0">
                <a:latin typeface="Times New Roman" pitchFamily="18" charset="0"/>
                <a:cs typeface="Times New Roman" pitchFamily="18" charset="0"/>
              </a:rPr>
              <a:t>th</a:t>
            </a:r>
            <a:r>
              <a:rPr lang="en-US" sz="2400" b="1" dirty="0">
                <a:latin typeface="Times New Roman" pitchFamily="18" charset="0"/>
                <a:cs typeface="Times New Roman" pitchFamily="18" charset="0"/>
              </a:rPr>
              <a:t>  – 29</a:t>
            </a:r>
            <a:r>
              <a:rPr lang="en-US" sz="2400" b="1" baseline="30000" dirty="0">
                <a:latin typeface="Times New Roman" pitchFamily="18" charset="0"/>
                <a:cs typeface="Times New Roman" pitchFamily="18" charset="0"/>
              </a:rPr>
              <a:t>th</a:t>
            </a:r>
            <a:r>
              <a:rPr lang="en-US" sz="2400" b="1" dirty="0">
                <a:latin typeface="Times New Roman" pitchFamily="18" charset="0"/>
                <a:cs typeface="Times New Roman" pitchFamily="18" charset="0"/>
              </a:rPr>
              <a:t> April 2024</a:t>
            </a:r>
            <a:endParaRPr lang="en-US" sz="2800" b="1" dirty="0">
              <a:latin typeface="Times New Roman" pitchFamily="18" charset="0"/>
              <a:cs typeface="Times New Roman" pitchFamily="18" charset="0"/>
            </a:endParaRPr>
          </a:p>
        </p:txBody>
      </p:sp>
      <p:sp>
        <p:nvSpPr>
          <p:cNvPr id="3" name="Subtitle 2"/>
          <p:cNvSpPr>
            <a:spLocks noGrp="1"/>
          </p:cNvSpPr>
          <p:nvPr>
            <p:ph type="subTitle" idx="1"/>
          </p:nvPr>
        </p:nvSpPr>
        <p:spPr>
          <a:xfrm>
            <a:off x="1143000" y="4959760"/>
            <a:ext cx="7543800" cy="1371600"/>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Sapthagiri College of Engineering</a:t>
            </a:r>
          </a:p>
          <a:p>
            <a:endParaRPr lang="en-US" b="1" dirty="0">
              <a:solidFill>
                <a:srgbClr val="FF0000"/>
              </a:solidFill>
            </a:endParaRPr>
          </a:p>
        </p:txBody>
      </p:sp>
      <p:pic>
        <p:nvPicPr>
          <p:cNvPr id="4" name="image1.png" title="Image"/>
          <p:cNvPicPr preferRelativeResize="0"/>
          <p:nvPr/>
        </p:nvPicPr>
        <p:blipFill>
          <a:blip r:embed="rId2" cstate="print"/>
          <a:stretch>
            <a:fillRect/>
          </a:stretch>
        </p:blipFill>
        <p:spPr>
          <a:xfrm>
            <a:off x="442472" y="5218346"/>
            <a:ext cx="1194954" cy="990600"/>
          </a:xfrm>
          <a:prstGeom prst="rect">
            <a:avLst/>
          </a:prstGeom>
          <a:noFill/>
        </p:spPr>
      </p:pic>
      <p:sp>
        <p:nvSpPr>
          <p:cNvPr id="5" name="TextBox 4"/>
          <p:cNvSpPr txBox="1"/>
          <p:nvPr/>
        </p:nvSpPr>
        <p:spPr>
          <a:xfrm>
            <a:off x="1473863" y="5562600"/>
            <a:ext cx="6519725" cy="738664"/>
          </a:xfrm>
          <a:prstGeom prst="rect">
            <a:avLst/>
          </a:prstGeom>
          <a:noFill/>
        </p:spPr>
        <p:txBody>
          <a:bodyPr wrap="square" rtlCol="0">
            <a:spAutoFit/>
          </a:bodyPr>
          <a:lstStyle/>
          <a:p>
            <a:pPr algn="ctr"/>
            <a:r>
              <a:rPr lang="en-US" sz="1400" dirty="0">
                <a:latin typeface="Times New Roman" pitchFamily="18" charset="0"/>
                <a:cs typeface="Times New Roman" pitchFamily="18" charset="0"/>
              </a:rPr>
              <a:t>(Affiliated to VTU, Belagavi, Approved by AICTE New Delhi) </a:t>
            </a:r>
          </a:p>
          <a:p>
            <a:pPr algn="ctr"/>
            <a:r>
              <a:rPr lang="en-US" sz="1400" dirty="0">
                <a:latin typeface="Times New Roman" pitchFamily="18" charset="0"/>
                <a:cs typeface="Times New Roman" pitchFamily="18" charset="0"/>
              </a:rPr>
              <a:t>An ISO 9001-2015 &amp;14001-2015 certified institute </a:t>
            </a:r>
          </a:p>
          <a:p>
            <a:pPr algn="ctr"/>
            <a:r>
              <a:rPr lang="en-US" sz="1400" dirty="0">
                <a:latin typeface="Times New Roman" pitchFamily="18" charset="0"/>
                <a:cs typeface="Times New Roman" pitchFamily="18" charset="0"/>
              </a:rPr>
              <a:t>Accredited by NAAC with ‘A’ Grade &amp; NBA Accredited [ECE, ME, EEE, CSE, ISE]</a:t>
            </a:r>
          </a:p>
        </p:txBody>
      </p:sp>
      <p:sp>
        <p:nvSpPr>
          <p:cNvPr id="6" name="TextBox 5"/>
          <p:cNvSpPr txBox="1"/>
          <p:nvPr/>
        </p:nvSpPr>
        <p:spPr>
          <a:xfrm>
            <a:off x="866317" y="2516765"/>
            <a:ext cx="7543800" cy="954107"/>
          </a:xfrm>
          <a:prstGeom prst="rect">
            <a:avLst/>
          </a:prstGeom>
          <a:noFill/>
        </p:spPr>
        <p:txBody>
          <a:bodyPr wrap="square" rtlCol="0">
            <a:spAutoFit/>
          </a:bodyPr>
          <a:lstStyle/>
          <a:p>
            <a:pPr algn="ctr"/>
            <a:r>
              <a:rPr lang="en-US" sz="2800" b="1" u="sng" dirty="0">
                <a:solidFill>
                  <a:srgbClr val="002060"/>
                </a:solidFill>
                <a:latin typeface="Times New Roman" panose="02020603050405020304" pitchFamily="18" charset="0"/>
                <a:cs typeface="Times New Roman" panose="02020603050405020304" pitchFamily="18" charset="0"/>
              </a:rPr>
              <a:t>“Cardiovascular Disease Risk Prediction Using  </a:t>
            </a:r>
          </a:p>
          <a:p>
            <a:pPr algn="ctr"/>
            <a:r>
              <a:rPr lang="en-US" sz="2800" b="1" u="sng" dirty="0">
                <a:solidFill>
                  <a:srgbClr val="002060"/>
                </a:solidFill>
                <a:latin typeface="Times New Roman" panose="02020603050405020304" pitchFamily="18" charset="0"/>
                <a:cs typeface="Times New Roman" panose="02020603050405020304" pitchFamily="18" charset="0"/>
              </a:rPr>
              <a:t>Machine Learning”</a:t>
            </a:r>
          </a:p>
        </p:txBody>
      </p:sp>
      <p:sp>
        <p:nvSpPr>
          <p:cNvPr id="7" name="TextBox 6"/>
          <p:cNvSpPr txBox="1"/>
          <p:nvPr/>
        </p:nvSpPr>
        <p:spPr>
          <a:xfrm>
            <a:off x="4343400" y="3505200"/>
            <a:ext cx="415498" cy="369332"/>
          </a:xfrm>
          <a:prstGeom prst="rect">
            <a:avLst/>
          </a:prstGeom>
          <a:noFill/>
        </p:spPr>
        <p:txBody>
          <a:bodyPr wrap="none" rtlCol="0">
            <a:spAutoFit/>
          </a:bodyPr>
          <a:lstStyle/>
          <a:p>
            <a:r>
              <a:rPr lang="en-US" dirty="0">
                <a:solidFill>
                  <a:schemeClr val="accent6">
                    <a:lumMod val="50000"/>
                  </a:schemeClr>
                </a:solidFill>
                <a:latin typeface="Times New Roman" panose="02020603050405020304" pitchFamily="18" charset="0"/>
                <a:cs typeface="Times New Roman" panose="02020603050405020304" pitchFamily="18" charset="0"/>
              </a:rPr>
              <a:t>by</a:t>
            </a:r>
          </a:p>
        </p:txBody>
      </p:sp>
      <p:sp>
        <p:nvSpPr>
          <p:cNvPr id="8" name="TextBox 7"/>
          <p:cNvSpPr txBox="1"/>
          <p:nvPr/>
        </p:nvSpPr>
        <p:spPr>
          <a:xfrm>
            <a:off x="1828800" y="3815126"/>
            <a:ext cx="6035000" cy="1200329"/>
          </a:xfrm>
          <a:prstGeom prst="rect">
            <a:avLst/>
          </a:prstGeom>
          <a:noFill/>
        </p:spPr>
        <p:txBody>
          <a:bodyPr wrap="square" rtlCol="0">
            <a:spAutoFit/>
          </a:bodyPr>
          <a:lstStyle/>
          <a:p>
            <a:r>
              <a:rPr lang="en-US" b="1" dirty="0" err="1">
                <a:solidFill>
                  <a:schemeClr val="accent6">
                    <a:lumMod val="50000"/>
                  </a:schemeClr>
                </a:solidFill>
                <a:latin typeface="Times New Roman" panose="02020603050405020304" pitchFamily="18" charset="0"/>
                <a:cs typeface="Times New Roman" panose="02020603050405020304" pitchFamily="18" charset="0"/>
              </a:rPr>
              <a:t>Preetham</a:t>
            </a:r>
            <a:r>
              <a:rPr lang="en-US" b="1" dirty="0">
                <a:solidFill>
                  <a:schemeClr val="accent6">
                    <a:lumMod val="50000"/>
                  </a:schemeClr>
                </a:solidFill>
                <a:latin typeface="Times New Roman" panose="02020603050405020304" pitchFamily="18" charset="0"/>
                <a:cs typeface="Times New Roman" panose="02020603050405020304" pitchFamily="18" charset="0"/>
              </a:rPr>
              <a:t> S G                  </a:t>
            </a:r>
            <a:r>
              <a:rPr lang="en-US" b="1" dirty="0" err="1">
                <a:solidFill>
                  <a:schemeClr val="accent6">
                    <a:lumMod val="50000"/>
                  </a:schemeClr>
                </a:solidFill>
                <a:latin typeface="Times New Roman" panose="02020603050405020304" pitchFamily="18" charset="0"/>
                <a:cs typeface="Times New Roman" panose="02020603050405020304" pitchFamily="18" charset="0"/>
              </a:rPr>
              <a:t>Sapthagiri</a:t>
            </a:r>
            <a:r>
              <a:rPr lang="en-US" b="1" dirty="0">
                <a:solidFill>
                  <a:schemeClr val="accent6">
                    <a:lumMod val="50000"/>
                  </a:schemeClr>
                </a:solidFill>
                <a:latin typeface="Times New Roman" panose="02020603050405020304" pitchFamily="18" charset="0"/>
                <a:cs typeface="Times New Roman" panose="02020603050405020304" pitchFamily="18" charset="0"/>
              </a:rPr>
              <a:t> College of Engineering </a:t>
            </a:r>
          </a:p>
          <a:p>
            <a:r>
              <a:rPr lang="en-US" b="1" dirty="0">
                <a:solidFill>
                  <a:schemeClr val="accent6">
                    <a:lumMod val="50000"/>
                  </a:schemeClr>
                </a:solidFill>
                <a:latin typeface="Times New Roman" panose="02020603050405020304" pitchFamily="18" charset="0"/>
                <a:cs typeface="Times New Roman" panose="02020603050405020304" pitchFamily="18" charset="0"/>
              </a:rPr>
              <a:t>Santhosh D	          </a:t>
            </a:r>
            <a:r>
              <a:rPr lang="en-US" b="1" dirty="0" err="1">
                <a:solidFill>
                  <a:schemeClr val="accent6">
                    <a:lumMod val="50000"/>
                  </a:schemeClr>
                </a:solidFill>
                <a:latin typeface="Times New Roman" panose="02020603050405020304" pitchFamily="18" charset="0"/>
                <a:cs typeface="Times New Roman" panose="02020603050405020304" pitchFamily="18" charset="0"/>
              </a:rPr>
              <a:t>Sapthagiri</a:t>
            </a:r>
            <a:r>
              <a:rPr lang="en-US" b="1" dirty="0">
                <a:solidFill>
                  <a:schemeClr val="accent6">
                    <a:lumMod val="50000"/>
                  </a:schemeClr>
                </a:solidFill>
                <a:latin typeface="Times New Roman" panose="02020603050405020304" pitchFamily="18" charset="0"/>
                <a:cs typeface="Times New Roman" panose="02020603050405020304" pitchFamily="18" charset="0"/>
              </a:rPr>
              <a:t> College of Engineering </a:t>
            </a:r>
          </a:p>
          <a:p>
            <a:r>
              <a:rPr lang="en-US" b="1" dirty="0">
                <a:solidFill>
                  <a:schemeClr val="accent6">
                    <a:lumMod val="50000"/>
                  </a:schemeClr>
                </a:solidFill>
                <a:latin typeface="Times New Roman" panose="02020603050405020304" pitchFamily="18" charset="0"/>
                <a:cs typeface="Times New Roman" panose="02020603050405020304" pitchFamily="18" charset="0"/>
              </a:rPr>
              <a:t>Shravan L	          </a:t>
            </a:r>
            <a:r>
              <a:rPr lang="en-US" b="1" dirty="0" err="1">
                <a:solidFill>
                  <a:schemeClr val="accent6">
                    <a:lumMod val="50000"/>
                  </a:schemeClr>
                </a:solidFill>
                <a:latin typeface="Times New Roman" panose="02020603050405020304" pitchFamily="18" charset="0"/>
                <a:cs typeface="Times New Roman" panose="02020603050405020304" pitchFamily="18" charset="0"/>
              </a:rPr>
              <a:t>Sapthagiri</a:t>
            </a:r>
            <a:r>
              <a:rPr lang="en-US" b="1" dirty="0">
                <a:solidFill>
                  <a:schemeClr val="accent6">
                    <a:lumMod val="50000"/>
                  </a:schemeClr>
                </a:solidFill>
                <a:latin typeface="Times New Roman" panose="02020603050405020304" pitchFamily="18" charset="0"/>
                <a:cs typeface="Times New Roman" panose="02020603050405020304" pitchFamily="18" charset="0"/>
              </a:rPr>
              <a:t> College of Engineering </a:t>
            </a:r>
          </a:p>
          <a:p>
            <a:r>
              <a:rPr lang="en-US" b="1" dirty="0" err="1">
                <a:solidFill>
                  <a:schemeClr val="accent6">
                    <a:lumMod val="50000"/>
                  </a:schemeClr>
                </a:solidFill>
                <a:latin typeface="Times New Roman" panose="02020603050405020304" pitchFamily="18" charset="0"/>
                <a:cs typeface="Times New Roman" panose="02020603050405020304" pitchFamily="18" charset="0"/>
              </a:rPr>
              <a:t>Vivan</a:t>
            </a:r>
            <a:r>
              <a:rPr lang="en-US" b="1" dirty="0">
                <a:solidFill>
                  <a:schemeClr val="accent6">
                    <a:lumMod val="50000"/>
                  </a:schemeClr>
                </a:solidFill>
                <a:latin typeface="Times New Roman" panose="02020603050405020304" pitchFamily="18" charset="0"/>
                <a:cs typeface="Times New Roman" panose="02020603050405020304" pitchFamily="18" charset="0"/>
              </a:rPr>
              <a:t> Kushal </a:t>
            </a:r>
            <a:r>
              <a:rPr lang="en-US" b="1" dirty="0" err="1">
                <a:solidFill>
                  <a:schemeClr val="accent6">
                    <a:lumMod val="50000"/>
                  </a:schemeClr>
                </a:solidFill>
                <a:latin typeface="Times New Roman" panose="02020603050405020304" pitchFamily="18" charset="0"/>
                <a:cs typeface="Times New Roman" panose="02020603050405020304" pitchFamily="18" charset="0"/>
              </a:rPr>
              <a:t>Heneger</a:t>
            </a:r>
            <a:r>
              <a:rPr lang="en-US" b="1" dirty="0">
                <a:solidFill>
                  <a:schemeClr val="accent6">
                    <a:lumMod val="50000"/>
                  </a:schemeClr>
                </a:solidFill>
                <a:latin typeface="Times New Roman" panose="02020603050405020304" pitchFamily="18" charset="0"/>
                <a:cs typeface="Times New Roman" panose="02020603050405020304" pitchFamily="18" charset="0"/>
              </a:rPr>
              <a:t>   </a:t>
            </a:r>
            <a:r>
              <a:rPr lang="en-US" b="1" dirty="0" err="1">
                <a:solidFill>
                  <a:schemeClr val="accent6">
                    <a:lumMod val="50000"/>
                  </a:schemeClr>
                </a:solidFill>
                <a:latin typeface="Times New Roman" panose="02020603050405020304" pitchFamily="18" charset="0"/>
                <a:cs typeface="Times New Roman" panose="02020603050405020304" pitchFamily="18" charset="0"/>
              </a:rPr>
              <a:t>Sapthagiri</a:t>
            </a:r>
            <a:r>
              <a:rPr lang="en-US" b="1" dirty="0">
                <a:solidFill>
                  <a:schemeClr val="accent6">
                    <a:lumMod val="50000"/>
                  </a:schemeClr>
                </a:solidFill>
                <a:latin typeface="Times New Roman" panose="02020603050405020304" pitchFamily="18" charset="0"/>
                <a:cs typeface="Times New Roman" panose="02020603050405020304" pitchFamily="18" charset="0"/>
              </a:rPr>
              <a:t> College of Engineering </a:t>
            </a:r>
          </a:p>
        </p:txBody>
      </p:sp>
      <p:pic>
        <p:nvPicPr>
          <p:cNvPr id="10" name="Picture 9" descr="C:\Users\min\Downloads\IMG-20210525-WA0015.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05200" y="5373454"/>
            <a:ext cx="809834" cy="835492"/>
          </a:xfrm>
          <a:prstGeom prst="rect">
            <a:avLst/>
          </a:prstGeom>
          <a:noFill/>
          <a:ln>
            <a:noFill/>
          </a:ln>
        </p:spPr>
      </p:pic>
      <p:sp>
        <p:nvSpPr>
          <p:cNvPr id="13" name="Footer Placeholder 12"/>
          <p:cNvSpPr>
            <a:spLocks noGrp="1"/>
          </p:cNvSpPr>
          <p:nvPr>
            <p:ph type="ftr" sz="quarter" idx="11"/>
          </p:nvPr>
        </p:nvSpPr>
        <p:spPr>
          <a:xfrm>
            <a:off x="875980" y="6478147"/>
            <a:ext cx="7086600" cy="365125"/>
          </a:xfrm>
        </p:spPr>
        <p:txBody>
          <a:bodyPr/>
          <a:lstStyle/>
          <a:p>
            <a:r>
              <a:rPr lang="en-US" b="1" dirty="0">
                <a:solidFill>
                  <a:srgbClr val="002060"/>
                </a:solidFill>
                <a:latin typeface="Times New Roman" panose="02020603050405020304" pitchFamily="18" charset="0"/>
                <a:cs typeface="Times New Roman" panose="02020603050405020304" pitchFamily="18" charset="0"/>
              </a:rPr>
              <a:t>ICGCP - 2024 , Sapthagiri College of Engineering,  Bengaluru</a:t>
            </a:r>
          </a:p>
        </p:txBody>
      </p:sp>
    </p:spTree>
    <p:extLst>
      <p:ext uri="{BB962C8B-B14F-4D97-AF65-F5344CB8AC3E}">
        <p14:creationId xmlns:p14="http://schemas.microsoft.com/office/powerpoint/2010/main" val="2437765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81300" y="304800"/>
            <a:ext cx="3581400" cy="715962"/>
          </a:xfrm>
        </p:spPr>
        <p:txBody>
          <a:bodyPr>
            <a:normAutofit fontScale="90000"/>
          </a:bodyPr>
          <a:lstStyle/>
          <a:p>
            <a:r>
              <a:rPr lang="en-US" b="1" dirty="0">
                <a:latin typeface="Times New Roman" panose="02020603050405020304" pitchFamily="18" charset="0"/>
                <a:cs typeface="Times New Roman" panose="02020603050405020304" pitchFamily="18" charset="0"/>
              </a:rPr>
              <a:t>Contents</a:t>
            </a:r>
          </a:p>
        </p:txBody>
      </p:sp>
      <p:sp>
        <p:nvSpPr>
          <p:cNvPr id="5" name="Content Placeholder 4"/>
          <p:cNvSpPr>
            <a:spLocks noGrp="1"/>
          </p:cNvSpPr>
          <p:nvPr>
            <p:ph idx="1"/>
          </p:nvPr>
        </p:nvSpPr>
        <p:spPr/>
        <p:txBody>
          <a:bodyPr>
            <a:normAutofit/>
          </a:bodyPr>
          <a:lstStyle/>
          <a:p>
            <a:pPr marL="514350" indent="-514350">
              <a:buAutoNum type="arabicParenR"/>
            </a:pPr>
            <a:r>
              <a:rPr lang="en-US" sz="2800" dirty="0">
                <a:latin typeface="Times New Roman" panose="02020603050405020304" pitchFamily="18" charset="0"/>
                <a:cs typeface="Times New Roman" panose="02020603050405020304" pitchFamily="18" charset="0"/>
              </a:rPr>
              <a:t>Abstract</a:t>
            </a:r>
          </a:p>
          <a:p>
            <a:pPr marL="514350" indent="-514350">
              <a:buAutoNum type="arabicParenR"/>
            </a:pPr>
            <a:r>
              <a:rPr lang="en-US" sz="2800" dirty="0">
                <a:latin typeface="Times New Roman" panose="02020603050405020304" pitchFamily="18" charset="0"/>
                <a:cs typeface="Times New Roman" panose="02020603050405020304" pitchFamily="18" charset="0"/>
              </a:rPr>
              <a:t>Introduction</a:t>
            </a:r>
          </a:p>
          <a:p>
            <a:pPr marL="514350" indent="-514350">
              <a:buAutoNum type="arabicParenR"/>
            </a:pPr>
            <a:r>
              <a:rPr lang="en-US" sz="2800" dirty="0">
                <a:latin typeface="Times New Roman" panose="02020603050405020304" pitchFamily="18" charset="0"/>
                <a:cs typeface="Times New Roman" panose="02020603050405020304" pitchFamily="18" charset="0"/>
              </a:rPr>
              <a:t>Literature Review</a:t>
            </a:r>
          </a:p>
          <a:p>
            <a:pPr marL="514350" indent="-514350">
              <a:buAutoNum type="arabicParenR"/>
            </a:pPr>
            <a:r>
              <a:rPr lang="en-US" sz="2800" dirty="0">
                <a:latin typeface="Times New Roman" panose="02020603050405020304" pitchFamily="18" charset="0"/>
                <a:cs typeface="Times New Roman" panose="02020603050405020304" pitchFamily="18" charset="0"/>
              </a:rPr>
              <a:t>Materials &amp; Methods</a:t>
            </a:r>
          </a:p>
          <a:p>
            <a:pPr marL="514350" indent="-514350">
              <a:buAutoNum type="arabicParenR"/>
            </a:pPr>
            <a:r>
              <a:rPr lang="en-US" sz="2800" dirty="0">
                <a:latin typeface="Times New Roman" panose="02020603050405020304" pitchFamily="18" charset="0"/>
                <a:cs typeface="Times New Roman" panose="02020603050405020304" pitchFamily="18" charset="0"/>
              </a:rPr>
              <a:t>Results &amp; Discussions</a:t>
            </a:r>
          </a:p>
          <a:p>
            <a:pPr marL="514350" indent="-514350">
              <a:buAutoNum type="arabicParenR"/>
            </a:pPr>
            <a:r>
              <a:rPr lang="en-US" sz="2800" dirty="0">
                <a:latin typeface="Times New Roman" panose="02020603050405020304" pitchFamily="18" charset="0"/>
                <a:cs typeface="Times New Roman" panose="02020603050405020304" pitchFamily="18" charset="0"/>
              </a:rPr>
              <a:t>Conclusions</a:t>
            </a:r>
          </a:p>
          <a:p>
            <a:pPr marL="514350" indent="-514350">
              <a:buAutoNum type="arabicParenR"/>
            </a:pPr>
            <a:r>
              <a:rPr lang="en-US" sz="2800" dirty="0">
                <a:latin typeface="Times New Roman" panose="02020603050405020304" pitchFamily="18" charset="0"/>
                <a:cs typeface="Times New Roman" panose="02020603050405020304" pitchFamily="18" charset="0"/>
              </a:rPr>
              <a:t>Acknowledgements </a:t>
            </a:r>
          </a:p>
          <a:p>
            <a:pPr marL="514350" indent="-514350">
              <a:buAutoNum type="arabicParenR"/>
            </a:pPr>
            <a:r>
              <a:rPr lang="en-US" sz="2800" dirty="0">
                <a:latin typeface="Times New Roman" panose="02020603050405020304" pitchFamily="18" charset="0"/>
                <a:cs typeface="Times New Roman" panose="02020603050405020304" pitchFamily="18" charset="0"/>
              </a:rPr>
              <a:t>References</a:t>
            </a:r>
          </a:p>
        </p:txBody>
      </p:sp>
      <p:sp>
        <p:nvSpPr>
          <p:cNvPr id="3" name="Footer Placeholder 2"/>
          <p:cNvSpPr>
            <a:spLocks noGrp="1"/>
          </p:cNvSpPr>
          <p:nvPr>
            <p:ph type="ftr" sz="quarter" idx="11"/>
          </p:nvPr>
        </p:nvSpPr>
        <p:spPr>
          <a:xfrm>
            <a:off x="990600" y="6356350"/>
            <a:ext cx="7315200" cy="365125"/>
          </a:xfrm>
        </p:spPr>
        <p:txBody>
          <a:bodyPr/>
          <a:lstStyle/>
          <a:p>
            <a:r>
              <a:rPr lang="en-US" b="1" dirty="0">
                <a:solidFill>
                  <a:srgbClr val="7030A0"/>
                </a:solidFill>
              </a:rPr>
              <a:t>ICGCP 2024 , Sapthagiri College of Engineering, Bengaluru</a:t>
            </a:r>
          </a:p>
        </p:txBody>
      </p:sp>
    </p:spTree>
    <p:extLst>
      <p:ext uri="{BB962C8B-B14F-4D97-AF65-F5344CB8AC3E}">
        <p14:creationId xmlns:p14="http://schemas.microsoft.com/office/powerpoint/2010/main" val="3594275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200400" y="396141"/>
            <a:ext cx="2667000" cy="769441"/>
          </a:xfrm>
          <a:prstGeom prst="rect">
            <a:avLst/>
          </a:prstGeom>
        </p:spPr>
        <p:txBody>
          <a:bodyPr wrap="square">
            <a:spAutoFit/>
          </a:bodyPr>
          <a:lstStyle/>
          <a:p>
            <a:pPr algn="ctr">
              <a:spcBef>
                <a:spcPct val="0"/>
              </a:spcBef>
            </a:pPr>
            <a:r>
              <a:rPr lang="en-US" sz="4400" b="1" dirty="0">
                <a:latin typeface="Times New Roman" panose="02020603050405020304" pitchFamily="18" charset="0"/>
                <a:ea typeface="+mj-ea"/>
                <a:cs typeface="Times New Roman" panose="02020603050405020304" pitchFamily="18" charset="0"/>
              </a:rPr>
              <a:t>Abstract</a:t>
            </a:r>
          </a:p>
        </p:txBody>
      </p:sp>
      <p:sp>
        <p:nvSpPr>
          <p:cNvPr id="7" name="Footer Placeholder 6"/>
          <p:cNvSpPr>
            <a:spLocks noGrp="1"/>
          </p:cNvSpPr>
          <p:nvPr>
            <p:ph type="ftr" sz="quarter" idx="11"/>
          </p:nvPr>
        </p:nvSpPr>
        <p:spPr>
          <a:xfrm>
            <a:off x="1981200" y="6356350"/>
            <a:ext cx="4724400" cy="365125"/>
          </a:xfrm>
        </p:spPr>
        <p:txBody>
          <a:bodyPr/>
          <a:lstStyle/>
          <a:p>
            <a:r>
              <a:rPr lang="en-US" b="1" dirty="0">
                <a:solidFill>
                  <a:srgbClr val="002060"/>
                </a:solidFill>
              </a:rPr>
              <a:t>ICGCP - 2024 , Sapthagiri College of Engineering,  Bengaluru</a:t>
            </a:r>
          </a:p>
        </p:txBody>
      </p:sp>
      <p:sp>
        <p:nvSpPr>
          <p:cNvPr id="2" name="TextBox 1">
            <a:extLst>
              <a:ext uri="{FF2B5EF4-FFF2-40B4-BE49-F238E27FC236}">
                <a16:creationId xmlns:a16="http://schemas.microsoft.com/office/drawing/2014/main" id="{73255BEB-1AF7-2985-4D66-D9517E815ABA}"/>
              </a:ext>
            </a:extLst>
          </p:cNvPr>
          <p:cNvSpPr txBox="1"/>
          <p:nvPr/>
        </p:nvSpPr>
        <p:spPr>
          <a:xfrm>
            <a:off x="457200" y="1295400"/>
            <a:ext cx="8153400" cy="418576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Improved diagnosis of cardiovascular disease and detection of high risk patients enabled by developing and evaluating an ensemble machine learning approach using logistic regression, decision trees, random forest, KNN, Naive Bayes, SVM and neural network models combined in a Quine McCluskey binary classification ensemble.</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8696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b="1" dirty="0">
                <a:latin typeface="Times New Roman" panose="02020603050405020304" pitchFamily="18" charset="0"/>
                <a:cs typeface="Times New Roman" panose="02020603050405020304" pitchFamily="18" charset="0"/>
              </a:rPr>
              <a:t>Introduction</a:t>
            </a:r>
          </a:p>
        </p:txBody>
      </p:sp>
      <p:sp>
        <p:nvSpPr>
          <p:cNvPr id="6" name="Footer Placeholder 5"/>
          <p:cNvSpPr>
            <a:spLocks noGrp="1"/>
          </p:cNvSpPr>
          <p:nvPr>
            <p:ph type="ftr" sz="quarter" idx="11"/>
          </p:nvPr>
        </p:nvSpPr>
        <p:spPr>
          <a:xfrm>
            <a:off x="2590800" y="6471484"/>
            <a:ext cx="4038600" cy="365125"/>
          </a:xfrm>
        </p:spPr>
        <p:txBody>
          <a:bodyPr/>
          <a:lstStyle/>
          <a:p>
            <a:r>
              <a:rPr lang="en-US" b="1" dirty="0">
                <a:solidFill>
                  <a:srgbClr val="002060"/>
                </a:solidFill>
              </a:rPr>
              <a:t>ICGCP - 2024 , Sapthagiri College of Engineering,  Bengaluru</a:t>
            </a:r>
          </a:p>
        </p:txBody>
      </p:sp>
      <p:sp>
        <p:nvSpPr>
          <p:cNvPr id="3" name="TextBox 2">
            <a:extLst>
              <a:ext uri="{FF2B5EF4-FFF2-40B4-BE49-F238E27FC236}">
                <a16:creationId xmlns:a16="http://schemas.microsoft.com/office/drawing/2014/main" id="{E5722A2E-02EF-C3E6-3EF7-3C8D2F18A7F2}"/>
              </a:ext>
            </a:extLst>
          </p:cNvPr>
          <p:cNvSpPr txBox="1"/>
          <p:nvPr/>
        </p:nvSpPr>
        <p:spPr>
          <a:xfrm>
            <a:off x="457200" y="1418628"/>
            <a:ext cx="8153400" cy="334995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Times New Roman"/>
                <a:ea typeface="Times New Roman"/>
              </a:rPr>
              <a:t>The term ‘‘Heart Disease’’ (HD) is used to refer to a variety of pathological disorders that have an impact on the heart and blood vessels. It encompasses a variety of heart-related conditions, including but not limited to vascular diseases and disturbances in heart rhythm.</a:t>
            </a:r>
          </a:p>
          <a:p>
            <a:pPr marL="342900" indent="-342900" algn="just">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5864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8193"/>
            <a:ext cx="8229600" cy="822407"/>
          </a:xfrm>
        </p:spPr>
        <p:txBody>
          <a:bodyPr>
            <a:normAutofit/>
          </a:bodyPr>
          <a:lstStyle/>
          <a:p>
            <a:r>
              <a:rPr lang="en-US" sz="4000" b="1" dirty="0">
                <a:latin typeface="Times New Roman" panose="02020603050405020304" pitchFamily="18" charset="0"/>
                <a:cs typeface="Times New Roman" panose="02020603050405020304" pitchFamily="18" charset="0"/>
              </a:rPr>
              <a:t>Literature Review</a:t>
            </a:r>
          </a:p>
        </p:txBody>
      </p:sp>
      <p:sp>
        <p:nvSpPr>
          <p:cNvPr id="4" name="Footer Placeholder 3"/>
          <p:cNvSpPr>
            <a:spLocks noGrp="1"/>
          </p:cNvSpPr>
          <p:nvPr>
            <p:ph type="ftr" sz="quarter" idx="11"/>
          </p:nvPr>
        </p:nvSpPr>
        <p:spPr>
          <a:xfrm>
            <a:off x="2133600" y="6356350"/>
            <a:ext cx="5029200" cy="365125"/>
          </a:xfrm>
        </p:spPr>
        <p:txBody>
          <a:bodyPr/>
          <a:lstStyle/>
          <a:p>
            <a:r>
              <a:rPr lang="en-US" b="1" dirty="0">
                <a:solidFill>
                  <a:srgbClr val="002060"/>
                </a:solidFill>
              </a:rPr>
              <a:t>ICGCP - 2024 , Sapthagiri College of Engineering,  Bengaluru</a:t>
            </a:r>
          </a:p>
        </p:txBody>
      </p:sp>
      <p:graphicFrame>
        <p:nvGraphicFramePr>
          <p:cNvPr id="5" name="Table 4">
            <a:extLst>
              <a:ext uri="{FF2B5EF4-FFF2-40B4-BE49-F238E27FC236}">
                <a16:creationId xmlns:a16="http://schemas.microsoft.com/office/drawing/2014/main" id="{E1B62CEE-2A87-9474-21BF-24F714DF5791}"/>
              </a:ext>
            </a:extLst>
          </p:cNvPr>
          <p:cNvGraphicFramePr>
            <a:graphicFrameLocks noGrp="1"/>
          </p:cNvGraphicFramePr>
          <p:nvPr>
            <p:extLst>
              <p:ext uri="{D42A27DB-BD31-4B8C-83A1-F6EECF244321}">
                <p14:modId xmlns:p14="http://schemas.microsoft.com/office/powerpoint/2010/main" val="2921708211"/>
              </p:ext>
            </p:extLst>
          </p:nvPr>
        </p:nvGraphicFramePr>
        <p:xfrm>
          <a:off x="161750" y="1011382"/>
          <a:ext cx="8820500" cy="5085219"/>
        </p:xfrm>
        <a:graphic>
          <a:graphicData uri="http://schemas.openxmlformats.org/drawingml/2006/table">
            <a:tbl>
              <a:tblPr>
                <a:noFill/>
              </a:tblPr>
              <a:tblGrid>
                <a:gridCol w="489771">
                  <a:extLst>
                    <a:ext uri="{9D8B030D-6E8A-4147-A177-3AD203B41FA5}">
                      <a16:colId xmlns:a16="http://schemas.microsoft.com/office/drawing/2014/main" val="182961567"/>
                    </a:ext>
                  </a:extLst>
                </a:gridCol>
                <a:gridCol w="2295654">
                  <a:extLst>
                    <a:ext uri="{9D8B030D-6E8A-4147-A177-3AD203B41FA5}">
                      <a16:colId xmlns:a16="http://schemas.microsoft.com/office/drawing/2014/main" val="373383949"/>
                    </a:ext>
                  </a:extLst>
                </a:gridCol>
                <a:gridCol w="1100689">
                  <a:extLst>
                    <a:ext uri="{9D8B030D-6E8A-4147-A177-3AD203B41FA5}">
                      <a16:colId xmlns:a16="http://schemas.microsoft.com/office/drawing/2014/main" val="348582707"/>
                    </a:ext>
                  </a:extLst>
                </a:gridCol>
                <a:gridCol w="478972">
                  <a:extLst>
                    <a:ext uri="{9D8B030D-6E8A-4147-A177-3AD203B41FA5}">
                      <a16:colId xmlns:a16="http://schemas.microsoft.com/office/drawing/2014/main" val="247702788"/>
                    </a:ext>
                  </a:extLst>
                </a:gridCol>
                <a:gridCol w="4455414">
                  <a:extLst>
                    <a:ext uri="{9D8B030D-6E8A-4147-A177-3AD203B41FA5}">
                      <a16:colId xmlns:a16="http://schemas.microsoft.com/office/drawing/2014/main" val="2767491968"/>
                    </a:ext>
                  </a:extLst>
                </a:gridCol>
              </a:tblGrid>
              <a:tr h="637321">
                <a:tc>
                  <a:txBody>
                    <a:bodyPr/>
                    <a:lstStyle/>
                    <a:p>
                      <a:pPr marL="0" marR="0" lvl="0" indent="0" algn="l" rtl="0">
                        <a:lnSpc>
                          <a:spcPct val="100000"/>
                        </a:lnSpc>
                        <a:spcBef>
                          <a:spcPts val="0"/>
                        </a:spcBef>
                        <a:spcAft>
                          <a:spcPts val="0"/>
                        </a:spcAft>
                        <a:buNone/>
                      </a:pPr>
                      <a:r>
                        <a:rPr lang="en-US" sz="1200" b="0" i="0" u="none" strike="noStrike" cap="none" dirty="0">
                          <a:solidFill>
                            <a:srgbClr val="FFFFFF"/>
                          </a:solidFill>
                          <a:latin typeface="Times New Roman" panose="02020603050405020304" pitchFamily="18" charset="0"/>
                          <a:ea typeface="Times New Roman"/>
                          <a:cs typeface="Times New Roman" panose="02020603050405020304" pitchFamily="18" charset="0"/>
                          <a:sym typeface="Times New Roman"/>
                        </a:rPr>
                        <a:t>Sl. No. </a:t>
                      </a:r>
                      <a:endParaRPr sz="9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None/>
                      </a:pPr>
                      <a:r>
                        <a:rPr lang="en-US" sz="1200" b="0" i="0" u="none" strike="noStrike" cap="none" dirty="0">
                          <a:solidFill>
                            <a:srgbClr val="FFFFFF"/>
                          </a:solidFill>
                          <a:latin typeface="Times New Roman" panose="02020603050405020304" pitchFamily="18" charset="0"/>
                          <a:ea typeface="Times New Roman"/>
                          <a:cs typeface="Times New Roman" panose="02020603050405020304" pitchFamily="18" charset="0"/>
                          <a:sym typeface="Times New Roman"/>
                        </a:rPr>
                        <a:t>Title</a:t>
                      </a:r>
                      <a:endParaRPr sz="9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None/>
                      </a:pPr>
                      <a:r>
                        <a:rPr lang="en-US" sz="1200" b="0" i="0" u="none" strike="noStrike" cap="none" dirty="0">
                          <a:solidFill>
                            <a:srgbClr val="FFFFFF"/>
                          </a:solidFill>
                          <a:latin typeface="Times New Roman" panose="02020603050405020304" pitchFamily="18" charset="0"/>
                          <a:ea typeface="Times New Roman"/>
                          <a:cs typeface="Times New Roman" panose="02020603050405020304" pitchFamily="18" charset="0"/>
                          <a:sym typeface="Times New Roman"/>
                        </a:rPr>
                        <a:t>Author</a:t>
                      </a:r>
                      <a:endParaRPr sz="9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None/>
                      </a:pPr>
                      <a:r>
                        <a:rPr lang="en-US" sz="1200" b="0" i="0" u="none" strike="noStrike" cap="none" dirty="0">
                          <a:solidFill>
                            <a:srgbClr val="FFFFFF"/>
                          </a:solidFill>
                          <a:latin typeface="Times New Roman" panose="02020603050405020304" pitchFamily="18" charset="0"/>
                          <a:ea typeface="Times New Roman"/>
                          <a:cs typeface="Times New Roman" panose="02020603050405020304" pitchFamily="18" charset="0"/>
                          <a:sym typeface="Times New Roman"/>
                        </a:rPr>
                        <a:t>Year</a:t>
                      </a:r>
                      <a:endParaRPr sz="9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None/>
                      </a:pPr>
                      <a:r>
                        <a:rPr lang="en-US" sz="1200" b="0" i="0" u="none" strike="noStrike" cap="none" dirty="0">
                          <a:solidFill>
                            <a:srgbClr val="FFFFFF"/>
                          </a:solidFill>
                          <a:latin typeface="Times New Roman" panose="02020603050405020304" pitchFamily="18" charset="0"/>
                          <a:ea typeface="Times New Roman"/>
                          <a:cs typeface="Times New Roman" panose="02020603050405020304" pitchFamily="18" charset="0"/>
                          <a:sym typeface="Times New Roman"/>
                        </a:rPr>
                        <a:t>Contributions &amp; Drawbacks</a:t>
                      </a:r>
                      <a:endParaRPr sz="9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2950185859"/>
                  </a:ext>
                </a:extLst>
              </a:tr>
              <a:tr h="2223949">
                <a:tc>
                  <a:txBody>
                    <a:bodyPr/>
                    <a:lstStyle/>
                    <a:p>
                      <a:pPr marL="0" marR="0" lvl="0" indent="0" algn="just" rtl="0">
                        <a:lnSpc>
                          <a:spcPct val="100000"/>
                        </a:lnSpc>
                        <a:spcBef>
                          <a:spcPts val="0"/>
                        </a:spcBef>
                        <a:spcAft>
                          <a:spcPts val="0"/>
                        </a:spcAft>
                        <a:buNone/>
                      </a:pPr>
                      <a:r>
                        <a:rPr lang="en-US" sz="1400" u="none" strike="noStrike" cap="none" dirty="0">
                          <a:latin typeface="Times New Roman" panose="02020603050405020304" pitchFamily="18" charset="0"/>
                          <a:cs typeface="Times New Roman" panose="02020603050405020304" pitchFamily="18" charset="0"/>
                        </a:rPr>
                        <a:t>1</a:t>
                      </a:r>
                      <a:endParaRPr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None/>
                      </a:pPr>
                      <a:r>
                        <a:rPr lang="en-US" sz="1400" dirty="0">
                          <a:latin typeface="Times New Roman" panose="02020603050405020304" pitchFamily="18" charset="0"/>
                          <a:cs typeface="Times New Roman" panose="02020603050405020304" pitchFamily="18" charset="0"/>
                        </a:rPr>
                        <a:t>Effective Heart Disease Prediction Using Hybrid Machine Learning Techniques</a:t>
                      </a:r>
                      <a:endParaRPr lang="en-US"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D0DEEF"/>
                    </a:solidFill>
                  </a:tcPr>
                </a:tc>
                <a:tc>
                  <a:txBody>
                    <a:bodyPr/>
                    <a:lstStyle/>
                    <a:p>
                      <a:r>
                        <a:rPr lang="pt-BR" sz="1400" dirty="0">
                          <a:latin typeface="Times New Roman" panose="02020603050405020304" pitchFamily="18" charset="0"/>
                          <a:cs typeface="Times New Roman" panose="02020603050405020304" pitchFamily="18" charset="0"/>
                        </a:rPr>
                        <a:t>C. G. D. S. E. Silva</a:t>
                      </a:r>
                      <a:endParaRPr lang="da-DK" sz="1400"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None/>
                      </a:pPr>
                      <a:r>
                        <a:rPr lang="en-US" sz="1400" u="none" strike="noStrike" cap="none" dirty="0">
                          <a:latin typeface="Times New Roman" panose="02020603050405020304" pitchFamily="18" charset="0"/>
                          <a:cs typeface="Times New Roman" panose="02020603050405020304" pitchFamily="18" charset="0"/>
                        </a:rPr>
                        <a:t>2019</a:t>
                      </a:r>
                      <a:endParaRPr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Clr>
                          <a:srgbClr val="000000"/>
                        </a:buClr>
                        <a:buSzPts val="900"/>
                        <a:buFont typeface="Arial"/>
                        <a:buNone/>
                      </a:pPr>
                      <a:r>
                        <a:rPr lang="en-US" sz="1400" b="1" u="none" strike="noStrike" cap="none" dirty="0">
                          <a:latin typeface="Times New Roman" panose="02020603050405020304" pitchFamily="18" charset="0"/>
                          <a:cs typeface="Times New Roman" panose="02020603050405020304" pitchFamily="18" charset="0"/>
                        </a:rPr>
                        <a:t>Contribution: </a:t>
                      </a:r>
                    </a:p>
                    <a:p>
                      <a:pPr marL="0" marR="0" lvl="0" indent="0" algn="just" rtl="0">
                        <a:lnSpc>
                          <a:spcPct val="100000"/>
                        </a:lnSpc>
                        <a:spcBef>
                          <a:spcPts val="0"/>
                        </a:spcBef>
                        <a:spcAft>
                          <a:spcPts val="0"/>
                        </a:spcAft>
                        <a:buClr>
                          <a:srgbClr val="000000"/>
                        </a:buClr>
                        <a:buSzPts val="900"/>
                        <a:buFont typeface="Arial"/>
                        <a:buNone/>
                      </a:pPr>
                      <a:r>
                        <a:rPr lang="en-US" sz="1400" dirty="0">
                          <a:latin typeface="Times New Roman" panose="02020603050405020304" pitchFamily="18" charset="0"/>
                          <a:cs typeface="Times New Roman" panose="02020603050405020304" pitchFamily="18" charset="0"/>
                        </a:rPr>
                        <a:t>It improving the accuracy in the prediction of cardiovascular disease.</a:t>
                      </a:r>
                      <a:endParaRPr lang="en-US" sz="1400" b="1" u="none" strike="noStrike" cap="none"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rgbClr val="000000"/>
                        </a:buClr>
                        <a:buSzPts val="900"/>
                        <a:buFont typeface="Arial"/>
                        <a:buNone/>
                      </a:pPr>
                      <a:r>
                        <a:rPr lang="en-US" sz="1400" b="1" u="none" strike="noStrike" cap="none" dirty="0">
                          <a:latin typeface="Times New Roman" panose="02020603050405020304" pitchFamily="18" charset="0"/>
                          <a:cs typeface="Times New Roman" panose="02020603050405020304" pitchFamily="18" charset="0"/>
                        </a:rPr>
                        <a:t>Drawbacks:</a:t>
                      </a:r>
                    </a:p>
                    <a:p>
                      <a:pPr marL="171450" marR="0" lvl="0" indent="-171450" algn="just" rtl="0">
                        <a:lnSpc>
                          <a:spcPct val="100000"/>
                        </a:lnSpc>
                        <a:spcBef>
                          <a:spcPts val="0"/>
                        </a:spcBef>
                        <a:spcAft>
                          <a:spcPts val="0"/>
                        </a:spcAft>
                        <a:buClr>
                          <a:srgbClr val="000000"/>
                        </a:buClr>
                        <a:buSzPts val="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It consume more time to execute.</a:t>
                      </a:r>
                    </a:p>
                    <a:p>
                      <a:pPr marL="171450" marR="0" lvl="0" indent="-171450" algn="just" rtl="0">
                        <a:lnSpc>
                          <a:spcPct val="100000"/>
                        </a:lnSpc>
                        <a:spcBef>
                          <a:spcPts val="0"/>
                        </a:spcBef>
                        <a:spcAft>
                          <a:spcPts val="0"/>
                        </a:spcAft>
                        <a:buClr>
                          <a:srgbClr val="000000"/>
                        </a:buClr>
                        <a:buSzPts val="900"/>
                        <a:buFont typeface="Arial" panose="020B0604020202020204" pitchFamily="34" charset="0"/>
                        <a:buChar char="•"/>
                      </a:pPr>
                      <a:r>
                        <a:rPr lang="en-US" sz="1400" u="none" strike="noStrike" cap="none" dirty="0">
                          <a:latin typeface="Times New Roman" panose="02020603050405020304" pitchFamily="18" charset="0"/>
                          <a:cs typeface="Times New Roman" panose="02020603050405020304" pitchFamily="18" charset="0"/>
                        </a:rPr>
                        <a:t>It is suitable only for binary classification, </a:t>
                      </a:r>
                      <a:r>
                        <a:rPr lang="en-US" sz="1400" u="none" strike="noStrike" cap="none" dirty="0" err="1">
                          <a:latin typeface="Times New Roman" panose="02020603050405020304" pitchFamily="18" charset="0"/>
                          <a:cs typeface="Times New Roman" panose="02020603050405020304" pitchFamily="18" charset="0"/>
                        </a:rPr>
                        <a:t>i.e</a:t>
                      </a:r>
                      <a:r>
                        <a:rPr lang="en-US" sz="1400" u="none" strike="noStrike" cap="none" dirty="0">
                          <a:latin typeface="Times New Roman" panose="02020603050405020304" pitchFamily="18" charset="0"/>
                          <a:cs typeface="Times New Roman" panose="02020603050405020304" pitchFamily="18" charset="0"/>
                        </a:rPr>
                        <a:t> cannot classify stages of heart disease </a:t>
                      </a:r>
                      <a:endParaRPr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849978835"/>
                  </a:ext>
                </a:extLst>
              </a:tr>
              <a:tr h="2223949">
                <a:tc>
                  <a:txBody>
                    <a:bodyPr/>
                    <a:lstStyle/>
                    <a:p>
                      <a:pPr marL="0" marR="0" lvl="0" indent="0" algn="just" rtl="0">
                        <a:lnSpc>
                          <a:spcPct val="100000"/>
                        </a:lnSpc>
                        <a:spcBef>
                          <a:spcPts val="0"/>
                        </a:spcBef>
                        <a:spcAft>
                          <a:spcPts val="0"/>
                        </a:spcAft>
                        <a:buNone/>
                      </a:pPr>
                      <a:r>
                        <a:rPr lang="en-US" sz="1400" u="none" strike="noStrike" cap="none" dirty="0">
                          <a:latin typeface="Times New Roman" panose="02020603050405020304" pitchFamily="18" charset="0"/>
                          <a:cs typeface="Times New Roman" panose="02020603050405020304" pitchFamily="18" charset="0"/>
                        </a:rPr>
                        <a:t>2</a:t>
                      </a:r>
                      <a:endParaRPr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None/>
                      </a:pPr>
                      <a:r>
                        <a:rPr lang="en-US" sz="1400" dirty="0">
                          <a:latin typeface="Times New Roman" panose="02020603050405020304" pitchFamily="18" charset="0"/>
                          <a:cs typeface="Times New Roman" panose="02020603050405020304" pitchFamily="18" charset="0"/>
                        </a:rPr>
                        <a:t>HDPM: An Effective Heart Disease Prediction Model for a Clinical Decision Support System</a:t>
                      </a: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None/>
                      </a:pPr>
                      <a:r>
                        <a:rPr lang="en-US" sz="1400" dirty="0">
                          <a:latin typeface="Times New Roman" panose="02020603050405020304" pitchFamily="18" charset="0"/>
                          <a:cs typeface="Times New Roman" panose="02020603050405020304" pitchFamily="18" charset="0"/>
                        </a:rPr>
                        <a:t>T. Hauer</a:t>
                      </a:r>
                      <a:endParaRPr lang="de-DE"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None/>
                      </a:pPr>
                      <a:r>
                        <a:rPr lang="en-US" sz="1400" u="none" strike="noStrike" cap="none" dirty="0">
                          <a:latin typeface="Times New Roman" panose="02020603050405020304" pitchFamily="18" charset="0"/>
                          <a:cs typeface="Times New Roman" panose="02020603050405020304" pitchFamily="18" charset="0"/>
                        </a:rPr>
                        <a:t>2020</a:t>
                      </a:r>
                      <a:endParaRPr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Clr>
                          <a:srgbClr val="000000"/>
                        </a:buClr>
                        <a:buSzPts val="1200"/>
                        <a:buFont typeface="Arial"/>
                        <a:buNone/>
                      </a:pPr>
                      <a:r>
                        <a:rPr lang="en-US" sz="14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Contribution:</a:t>
                      </a:r>
                    </a:p>
                    <a:p>
                      <a:pPr marL="0" marR="0" lvl="0" indent="0" algn="just" rtl="0">
                        <a:lnSpc>
                          <a:spcPct val="100000"/>
                        </a:lnSpc>
                        <a:spcBef>
                          <a:spcPts val="0"/>
                        </a:spcBef>
                        <a:spcAft>
                          <a:spcPts val="0"/>
                        </a:spcAft>
                        <a:buClr>
                          <a:srgbClr val="000000"/>
                        </a:buClr>
                        <a:buSzPts val="1200"/>
                        <a:buFont typeface="Arial"/>
                        <a:buNone/>
                      </a:pPr>
                      <a:r>
                        <a:rPr lang="en-US" sz="14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1400" dirty="0">
                          <a:latin typeface="Times New Roman" panose="02020603050405020304" pitchFamily="18" charset="0"/>
                          <a:cs typeface="Times New Roman" panose="02020603050405020304" pitchFamily="18" charset="0"/>
                        </a:rPr>
                        <a:t>It improving the accuracy up to 98% in the prediction of cardiovascular disease.</a:t>
                      </a:r>
                    </a:p>
                    <a:p>
                      <a:pPr marL="0" marR="0" lvl="0" indent="0" algn="just" rtl="0">
                        <a:lnSpc>
                          <a:spcPct val="100000"/>
                        </a:lnSpc>
                        <a:spcBef>
                          <a:spcPts val="0"/>
                        </a:spcBef>
                        <a:spcAft>
                          <a:spcPts val="0"/>
                        </a:spcAft>
                        <a:buClr>
                          <a:srgbClr val="000000"/>
                        </a:buClr>
                        <a:buSzPts val="1200"/>
                        <a:buFont typeface="Arial"/>
                        <a:buNone/>
                      </a:pPr>
                      <a:r>
                        <a:rPr lang="en-US" sz="14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Drawbacks:</a:t>
                      </a:r>
                    </a:p>
                    <a:p>
                      <a:pPr marL="171450" marR="0" lvl="0" indent="-171450" algn="just" rtl="0">
                        <a:lnSpc>
                          <a:spcPct val="100000"/>
                        </a:lnSpc>
                        <a:spcBef>
                          <a:spcPts val="0"/>
                        </a:spcBef>
                        <a:spcAft>
                          <a:spcPts val="0"/>
                        </a:spcAft>
                        <a:buClr>
                          <a:srgbClr val="000000"/>
                        </a:buClr>
                        <a:buSzPts val="1200"/>
                        <a:buFont typeface="Arial" panose="020B0604020202020204" pitchFamily="34" charset="0"/>
                        <a:buChar char="•"/>
                      </a:pPr>
                      <a:r>
                        <a:rPr lang="en-US" sz="14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It is suitable only for binary classification, </a:t>
                      </a:r>
                      <a:r>
                        <a:rPr lang="en-US" sz="1400" b="0" i="0" u="none" strike="noStrike" cap="none" dirty="0" err="1">
                          <a:solidFill>
                            <a:srgbClr val="000000"/>
                          </a:solidFill>
                          <a:latin typeface="Times New Roman" panose="02020603050405020304" pitchFamily="18" charset="0"/>
                          <a:ea typeface="Arial"/>
                          <a:cs typeface="Times New Roman" panose="02020603050405020304" pitchFamily="18" charset="0"/>
                          <a:sym typeface="Arial"/>
                        </a:rPr>
                        <a:t>i.e</a:t>
                      </a:r>
                      <a:r>
                        <a:rPr lang="en-US" sz="14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 cannot classify stages of heart disease. </a:t>
                      </a:r>
                    </a:p>
                  </a:txBody>
                  <a:tcPr marL="42800" marR="42800" marT="21400" marB="21400">
                    <a:lnL w="9525" cap="flat" cmpd="sng" algn="ctr">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234019723"/>
                  </a:ext>
                </a:extLst>
              </a:tr>
            </a:tbl>
          </a:graphicData>
        </a:graphic>
      </p:graphicFrame>
    </p:spTree>
    <p:extLst>
      <p:ext uri="{BB962C8B-B14F-4D97-AF65-F5344CB8AC3E}">
        <p14:creationId xmlns:p14="http://schemas.microsoft.com/office/powerpoint/2010/main" val="1365676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923622B-35F5-57B8-3021-6450B99A369D}"/>
              </a:ext>
            </a:extLst>
          </p:cNvPr>
          <p:cNvSpPr>
            <a:spLocks noGrp="1"/>
          </p:cNvSpPr>
          <p:nvPr>
            <p:ph type="ftr" sz="quarter" idx="11"/>
          </p:nvPr>
        </p:nvSpPr>
        <p:spPr>
          <a:xfrm>
            <a:off x="2133600" y="6356350"/>
            <a:ext cx="5029200" cy="365125"/>
          </a:xfrm>
        </p:spPr>
        <p:txBody>
          <a:bodyPr/>
          <a:lstStyle/>
          <a:p>
            <a:r>
              <a:rPr lang="en-US" b="1" dirty="0">
                <a:solidFill>
                  <a:srgbClr val="002060"/>
                </a:solidFill>
              </a:rPr>
              <a:t>ICGCP - 2024 , Sapthagiri College of Engineering,  Bengaluru</a:t>
            </a:r>
          </a:p>
        </p:txBody>
      </p:sp>
      <p:graphicFrame>
        <p:nvGraphicFramePr>
          <p:cNvPr id="6" name="Table 5">
            <a:extLst>
              <a:ext uri="{FF2B5EF4-FFF2-40B4-BE49-F238E27FC236}">
                <a16:creationId xmlns:a16="http://schemas.microsoft.com/office/drawing/2014/main" id="{A50A8B8D-BF23-A0C6-5E3A-D3931ADEC205}"/>
              </a:ext>
            </a:extLst>
          </p:cNvPr>
          <p:cNvGraphicFramePr>
            <a:graphicFrameLocks noGrp="1"/>
          </p:cNvGraphicFramePr>
          <p:nvPr>
            <p:extLst>
              <p:ext uri="{D42A27DB-BD31-4B8C-83A1-F6EECF244321}">
                <p14:modId xmlns:p14="http://schemas.microsoft.com/office/powerpoint/2010/main" val="3487750074"/>
              </p:ext>
            </p:extLst>
          </p:nvPr>
        </p:nvGraphicFramePr>
        <p:xfrm>
          <a:off x="161750" y="304800"/>
          <a:ext cx="8820500" cy="5537036"/>
        </p:xfrm>
        <a:graphic>
          <a:graphicData uri="http://schemas.openxmlformats.org/drawingml/2006/table">
            <a:tbl>
              <a:tblPr>
                <a:noFill/>
              </a:tblPr>
              <a:tblGrid>
                <a:gridCol w="489771">
                  <a:extLst>
                    <a:ext uri="{9D8B030D-6E8A-4147-A177-3AD203B41FA5}">
                      <a16:colId xmlns:a16="http://schemas.microsoft.com/office/drawing/2014/main" val="1913396689"/>
                    </a:ext>
                  </a:extLst>
                </a:gridCol>
                <a:gridCol w="2295654">
                  <a:extLst>
                    <a:ext uri="{9D8B030D-6E8A-4147-A177-3AD203B41FA5}">
                      <a16:colId xmlns:a16="http://schemas.microsoft.com/office/drawing/2014/main" val="3172067898"/>
                    </a:ext>
                  </a:extLst>
                </a:gridCol>
                <a:gridCol w="1100689">
                  <a:extLst>
                    <a:ext uri="{9D8B030D-6E8A-4147-A177-3AD203B41FA5}">
                      <a16:colId xmlns:a16="http://schemas.microsoft.com/office/drawing/2014/main" val="161278618"/>
                    </a:ext>
                  </a:extLst>
                </a:gridCol>
                <a:gridCol w="478972">
                  <a:extLst>
                    <a:ext uri="{9D8B030D-6E8A-4147-A177-3AD203B41FA5}">
                      <a16:colId xmlns:a16="http://schemas.microsoft.com/office/drawing/2014/main" val="1661606108"/>
                    </a:ext>
                  </a:extLst>
                </a:gridCol>
                <a:gridCol w="4455414">
                  <a:extLst>
                    <a:ext uri="{9D8B030D-6E8A-4147-A177-3AD203B41FA5}">
                      <a16:colId xmlns:a16="http://schemas.microsoft.com/office/drawing/2014/main" val="3919453009"/>
                    </a:ext>
                  </a:extLst>
                </a:gridCol>
              </a:tblGrid>
              <a:tr h="652712">
                <a:tc>
                  <a:txBody>
                    <a:bodyPr/>
                    <a:lstStyle/>
                    <a:p>
                      <a:pPr marL="0" marR="0" lvl="0" indent="0" algn="l" rtl="0">
                        <a:lnSpc>
                          <a:spcPct val="100000"/>
                        </a:lnSpc>
                        <a:spcBef>
                          <a:spcPts val="0"/>
                        </a:spcBef>
                        <a:spcAft>
                          <a:spcPts val="0"/>
                        </a:spcAft>
                        <a:buNone/>
                      </a:pPr>
                      <a:r>
                        <a:rPr lang="en-US" sz="1200" b="0" i="0" u="none" strike="noStrike" cap="none" dirty="0">
                          <a:solidFill>
                            <a:srgbClr val="FFFFFF"/>
                          </a:solidFill>
                          <a:latin typeface="Times New Roman" panose="02020603050405020304" pitchFamily="18" charset="0"/>
                          <a:ea typeface="Times New Roman"/>
                          <a:cs typeface="Times New Roman" panose="02020603050405020304" pitchFamily="18" charset="0"/>
                          <a:sym typeface="Times New Roman"/>
                        </a:rPr>
                        <a:t>Sl. No. </a:t>
                      </a:r>
                      <a:endParaRPr sz="9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None/>
                      </a:pPr>
                      <a:r>
                        <a:rPr lang="en-US" sz="1200" b="0" i="0" u="none" strike="noStrike" cap="none" dirty="0">
                          <a:solidFill>
                            <a:srgbClr val="FFFFFF"/>
                          </a:solidFill>
                          <a:latin typeface="Times New Roman" panose="02020603050405020304" pitchFamily="18" charset="0"/>
                          <a:ea typeface="Times New Roman"/>
                          <a:cs typeface="Times New Roman" panose="02020603050405020304" pitchFamily="18" charset="0"/>
                          <a:sym typeface="Times New Roman"/>
                        </a:rPr>
                        <a:t>Title</a:t>
                      </a:r>
                      <a:endParaRPr sz="9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None/>
                      </a:pPr>
                      <a:r>
                        <a:rPr lang="en-US" sz="1200" b="0" i="0" u="none" strike="noStrike" cap="none" dirty="0">
                          <a:solidFill>
                            <a:srgbClr val="FFFFFF"/>
                          </a:solidFill>
                          <a:latin typeface="Times New Roman" panose="02020603050405020304" pitchFamily="18" charset="0"/>
                          <a:ea typeface="Times New Roman"/>
                          <a:cs typeface="Times New Roman" panose="02020603050405020304" pitchFamily="18" charset="0"/>
                          <a:sym typeface="Times New Roman"/>
                        </a:rPr>
                        <a:t>Author</a:t>
                      </a:r>
                      <a:endParaRPr sz="9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None/>
                      </a:pPr>
                      <a:r>
                        <a:rPr lang="en-US" sz="1200" b="0" i="0" u="none" strike="noStrike" cap="none" dirty="0">
                          <a:solidFill>
                            <a:srgbClr val="FFFFFF"/>
                          </a:solidFill>
                          <a:latin typeface="Times New Roman" panose="02020603050405020304" pitchFamily="18" charset="0"/>
                          <a:ea typeface="Times New Roman"/>
                          <a:cs typeface="Times New Roman" panose="02020603050405020304" pitchFamily="18" charset="0"/>
                          <a:sym typeface="Times New Roman"/>
                        </a:rPr>
                        <a:t>Year</a:t>
                      </a:r>
                      <a:endParaRPr sz="9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None/>
                      </a:pPr>
                      <a:r>
                        <a:rPr lang="en-US" sz="1200" b="0" i="0" u="none" strike="noStrike" cap="none" dirty="0">
                          <a:solidFill>
                            <a:srgbClr val="FFFFFF"/>
                          </a:solidFill>
                          <a:latin typeface="Times New Roman" panose="02020603050405020304" pitchFamily="18" charset="0"/>
                          <a:ea typeface="Times New Roman"/>
                          <a:cs typeface="Times New Roman" panose="02020603050405020304" pitchFamily="18" charset="0"/>
                          <a:sym typeface="Times New Roman"/>
                        </a:rPr>
                        <a:t>Contributions &amp; Drawbacks</a:t>
                      </a:r>
                      <a:endParaRPr sz="9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2780432700"/>
                  </a:ext>
                </a:extLst>
              </a:tr>
              <a:tr h="2442162">
                <a:tc>
                  <a:txBody>
                    <a:bodyPr/>
                    <a:lstStyle/>
                    <a:p>
                      <a:pPr marL="0" marR="0" lvl="0" indent="0" algn="just" rtl="0">
                        <a:lnSpc>
                          <a:spcPct val="100000"/>
                        </a:lnSpc>
                        <a:spcBef>
                          <a:spcPts val="0"/>
                        </a:spcBef>
                        <a:spcAft>
                          <a:spcPts val="0"/>
                        </a:spcAft>
                        <a:buNone/>
                      </a:pPr>
                      <a:r>
                        <a:rPr lang="en-US" sz="1400" u="none" strike="noStrike" cap="none" dirty="0">
                          <a:latin typeface="Times New Roman" panose="02020603050405020304" pitchFamily="18" charset="0"/>
                          <a:cs typeface="Times New Roman" panose="02020603050405020304" pitchFamily="18" charset="0"/>
                        </a:rPr>
                        <a:t>3</a:t>
                      </a:r>
                      <a:endParaRPr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None/>
                      </a:pPr>
                      <a:r>
                        <a:rPr lang="en-US" sz="1400" dirty="0">
                          <a:latin typeface="Times New Roman" panose="02020603050405020304" pitchFamily="18" charset="0"/>
                          <a:cs typeface="Times New Roman" panose="02020603050405020304" pitchFamily="18" charset="0"/>
                        </a:rPr>
                        <a:t>Efficient Medical Diagnosis of Human Heart Diseases Using Machine Learning Techniques With and Without </a:t>
                      </a:r>
                      <a:r>
                        <a:rPr lang="en-US" sz="1400" dirty="0" err="1">
                          <a:latin typeface="Times New Roman" panose="02020603050405020304" pitchFamily="18" charset="0"/>
                          <a:cs typeface="Times New Roman" panose="02020603050405020304" pitchFamily="18" charset="0"/>
                        </a:rPr>
                        <a:t>GridSearchCV</a:t>
                      </a:r>
                      <a:r>
                        <a:rPr lang="en-US" sz="1400" dirty="0">
                          <a:latin typeface="Times New Roman" panose="02020603050405020304" pitchFamily="18" charset="0"/>
                          <a:cs typeface="Times New Roman" panose="02020603050405020304" pitchFamily="18" charset="0"/>
                        </a:rPr>
                        <a:t> </a:t>
                      </a:r>
                      <a:endParaRPr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D0DEEF"/>
                    </a:solidFill>
                  </a:tcPr>
                </a:tc>
                <a:tc>
                  <a:txBody>
                    <a:bodyPr/>
                    <a:lstStyle/>
                    <a:p>
                      <a:r>
                        <a:rPr lang="en-US" sz="1400" dirty="0">
                          <a:latin typeface="Times New Roman" panose="02020603050405020304" pitchFamily="18" charset="0"/>
                          <a:cs typeface="Times New Roman" panose="02020603050405020304" pitchFamily="18" charset="0"/>
                        </a:rPr>
                        <a:t>P. Ghosh, S. Azam and  M. </a:t>
                      </a:r>
                      <a:r>
                        <a:rPr lang="en-US" sz="1400" dirty="0" err="1">
                          <a:latin typeface="Times New Roman" panose="02020603050405020304" pitchFamily="18" charset="0"/>
                          <a:cs typeface="Times New Roman" panose="02020603050405020304" pitchFamily="18" charset="0"/>
                        </a:rPr>
                        <a:t>Jonkman</a:t>
                      </a:r>
                      <a:r>
                        <a:rPr lang="en-US" sz="1400" dirty="0">
                          <a:latin typeface="Times New Roman" panose="02020603050405020304" pitchFamily="18" charset="0"/>
                          <a:cs typeface="Times New Roman" panose="02020603050405020304" pitchFamily="18" charset="0"/>
                        </a:rPr>
                        <a:t>, A. Karim</a:t>
                      </a:r>
                      <a:endParaRPr lang="en-US" sz="1400" dirty="0">
                        <a:latin typeface="Times New Roman" panose="02020603050405020304" pitchFamily="18" charset="0"/>
                        <a:ea typeface="Times New Roman"/>
                        <a:cs typeface="Times New Roman" panose="02020603050405020304" pitchFamily="18" charset="0"/>
                        <a:sym typeface="Times New Roman"/>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None/>
                      </a:pPr>
                      <a:r>
                        <a:rPr lang="en-US" sz="1400" u="none" strike="noStrike" cap="none" dirty="0">
                          <a:latin typeface="Times New Roman" panose="02020603050405020304" pitchFamily="18" charset="0"/>
                          <a:cs typeface="Times New Roman" panose="02020603050405020304" pitchFamily="18" charset="0"/>
                        </a:rPr>
                        <a:t>2022</a:t>
                      </a:r>
                      <a:endParaRPr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Clr>
                          <a:srgbClr val="000000"/>
                        </a:buClr>
                        <a:buSzPts val="1200"/>
                        <a:buFont typeface="Arial"/>
                        <a:buNone/>
                      </a:pPr>
                      <a:r>
                        <a:rPr lang="en-US" sz="14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Contribution:</a:t>
                      </a:r>
                    </a:p>
                    <a:p>
                      <a:pPr marL="0" marR="0" lvl="0" indent="0" algn="just" rtl="0">
                        <a:lnSpc>
                          <a:spcPct val="100000"/>
                        </a:lnSpc>
                        <a:spcBef>
                          <a:spcPts val="0"/>
                        </a:spcBef>
                        <a:spcAft>
                          <a:spcPts val="0"/>
                        </a:spcAft>
                        <a:buClr>
                          <a:srgbClr val="000000"/>
                        </a:buClr>
                        <a:buSzPts val="1200"/>
                        <a:buFont typeface="Arial"/>
                        <a:buNone/>
                      </a:pPr>
                      <a:r>
                        <a:rPr lang="en-US" sz="14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1400" dirty="0">
                          <a:latin typeface="Times New Roman" panose="02020603050405020304" pitchFamily="18" charset="0"/>
                          <a:cs typeface="Times New Roman" panose="02020603050405020304" pitchFamily="18" charset="0"/>
                        </a:rPr>
                        <a:t>It is to develop a unique model-creation technique for solving real-world problems. </a:t>
                      </a:r>
                    </a:p>
                    <a:p>
                      <a:pPr marL="0" marR="0" lvl="0" indent="0" algn="just" rtl="0">
                        <a:lnSpc>
                          <a:spcPct val="100000"/>
                        </a:lnSpc>
                        <a:spcBef>
                          <a:spcPts val="0"/>
                        </a:spcBef>
                        <a:spcAft>
                          <a:spcPts val="0"/>
                        </a:spcAft>
                        <a:buClr>
                          <a:srgbClr val="000000"/>
                        </a:buClr>
                        <a:buSzPts val="1200"/>
                        <a:buFont typeface="Arial"/>
                        <a:buNone/>
                      </a:pPr>
                      <a:r>
                        <a:rPr lang="en-US" sz="14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Drawbacks:</a:t>
                      </a:r>
                    </a:p>
                    <a:p>
                      <a:pPr marL="171450" marR="0" lvl="0" indent="-171450" algn="just" rtl="0">
                        <a:lnSpc>
                          <a:spcPct val="100000"/>
                        </a:lnSpc>
                        <a:spcBef>
                          <a:spcPts val="0"/>
                        </a:spcBef>
                        <a:spcAft>
                          <a:spcPts val="0"/>
                        </a:spcAft>
                        <a:buClr>
                          <a:srgbClr val="000000"/>
                        </a:buClr>
                        <a:buSzPts val="1200"/>
                        <a:buFont typeface="Arial" panose="020B0604020202020204" pitchFamily="34" charset="0"/>
                        <a:buChar char="•"/>
                      </a:pPr>
                      <a:r>
                        <a:rPr lang="en-US" sz="14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It is suitable only for binary classification, </a:t>
                      </a:r>
                      <a:r>
                        <a:rPr lang="en-US" sz="1400" b="0" i="0" u="none" strike="noStrike" cap="none" dirty="0" err="1">
                          <a:solidFill>
                            <a:srgbClr val="000000"/>
                          </a:solidFill>
                          <a:latin typeface="Times New Roman" panose="02020603050405020304" pitchFamily="18" charset="0"/>
                          <a:ea typeface="Arial"/>
                          <a:cs typeface="Times New Roman" panose="02020603050405020304" pitchFamily="18" charset="0"/>
                          <a:sym typeface="Arial"/>
                        </a:rPr>
                        <a:t>i.e</a:t>
                      </a:r>
                      <a:r>
                        <a:rPr lang="en-US" sz="14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  cannot classify stages of heart disease. </a:t>
                      </a:r>
                      <a:endParaRPr sz="14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txBody>
                  <a:tcPr marL="42800" marR="42800" marT="21400" marB="21400">
                    <a:lnL w="9525" cap="flat" cmpd="sng" algn="ctr">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25400" cap="flat" cmpd="sng" algn="ctr">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2016490190"/>
                  </a:ext>
                </a:extLst>
              </a:tr>
              <a:tr h="2442162">
                <a:tc>
                  <a:txBody>
                    <a:bodyPr/>
                    <a:lstStyle/>
                    <a:p>
                      <a:pPr marL="0" marR="0" lvl="0" indent="0" algn="just" rtl="0">
                        <a:lnSpc>
                          <a:spcPct val="100000"/>
                        </a:lnSpc>
                        <a:spcBef>
                          <a:spcPts val="0"/>
                        </a:spcBef>
                        <a:spcAft>
                          <a:spcPts val="0"/>
                        </a:spcAft>
                        <a:buNone/>
                      </a:pPr>
                      <a:r>
                        <a:rPr lang="en-US" sz="1400" u="none" strike="noStrike" cap="none" dirty="0">
                          <a:latin typeface="Times New Roman" panose="02020603050405020304" pitchFamily="18" charset="0"/>
                          <a:cs typeface="Times New Roman" panose="02020603050405020304" pitchFamily="18" charset="0"/>
                        </a:rPr>
                        <a:t>4</a:t>
                      </a:r>
                      <a:endParaRPr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None/>
                      </a:pPr>
                      <a:r>
                        <a:rPr lang="en-US" sz="1400" dirty="0">
                          <a:latin typeface="Times New Roman" panose="02020603050405020304" pitchFamily="18" charset="0"/>
                          <a:cs typeface="Times New Roman" panose="02020603050405020304" pitchFamily="18" charset="0"/>
                        </a:rPr>
                        <a:t>An Efficient Prediction Method for Coronary Heart Disease Risk Based on Two Deep Neural Networks Trained on Well-Ordered Training Datasets</a:t>
                      </a:r>
                      <a:endParaRPr lang="en-US"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None/>
                      </a:pPr>
                      <a:r>
                        <a:rPr lang="en-US" sz="1400" dirty="0">
                          <a:latin typeface="Times New Roman" panose="02020603050405020304" pitchFamily="18" charset="0"/>
                          <a:cs typeface="Times New Roman" panose="02020603050405020304" pitchFamily="18" charset="0"/>
                        </a:rPr>
                        <a:t>S. Bashir</a:t>
                      </a:r>
                      <a:endParaRPr lang="es-ES"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None/>
                      </a:pPr>
                      <a:r>
                        <a:rPr lang="en-US" sz="1400" u="none" strike="noStrike" cap="none" dirty="0">
                          <a:latin typeface="Times New Roman" panose="02020603050405020304" pitchFamily="18" charset="0"/>
                          <a:cs typeface="Times New Roman" panose="02020603050405020304" pitchFamily="18" charset="0"/>
                        </a:rPr>
                        <a:t>2022</a:t>
                      </a:r>
                      <a:endParaRPr sz="1400" u="none" strike="noStrike" cap="none" dirty="0">
                        <a:latin typeface="Times New Roman" panose="02020603050405020304" pitchFamily="18" charset="0"/>
                        <a:cs typeface="Times New Roman" panose="02020603050405020304" pitchFamily="18" charset="0"/>
                      </a:endParaRPr>
                    </a:p>
                  </a:txBody>
                  <a:tcPr marL="42800" marR="42800" marT="21400" marB="21400">
                    <a:lnL w="9525" cap="flat" cmpd="sng" algn="ctr">
                      <a:solidFill>
                        <a:srgbClr val="FFFFFF"/>
                      </a:solidFill>
                      <a:prstDash val="solid"/>
                      <a:round/>
                      <a:headEnd type="none" w="sm" len="sm"/>
                      <a:tailEnd type="none" w="sm" len="sm"/>
                    </a:lnL>
                    <a:lnR w="9525" cap="flat" cmpd="sng" algn="ctr">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Clr>
                          <a:srgbClr val="000000"/>
                        </a:buClr>
                        <a:buSzPts val="900"/>
                        <a:buFont typeface="Arial"/>
                        <a:buNone/>
                      </a:pPr>
                      <a:r>
                        <a:rPr lang="en-US" sz="1400" b="1" u="none" strike="noStrike" cap="none" dirty="0">
                          <a:latin typeface="Times New Roman" panose="02020603050405020304" pitchFamily="18" charset="0"/>
                          <a:cs typeface="Times New Roman" panose="02020603050405020304" pitchFamily="18" charset="0"/>
                        </a:rPr>
                        <a:t>Contribution:</a:t>
                      </a:r>
                    </a:p>
                    <a:p>
                      <a:pPr marL="0" marR="0" lvl="0" indent="0" algn="just" rtl="0">
                        <a:lnSpc>
                          <a:spcPct val="100000"/>
                        </a:lnSpc>
                        <a:spcBef>
                          <a:spcPts val="0"/>
                        </a:spcBef>
                        <a:spcAft>
                          <a:spcPts val="0"/>
                        </a:spcAft>
                        <a:buClr>
                          <a:srgbClr val="000000"/>
                        </a:buClr>
                        <a:buSzPts val="900"/>
                        <a:buFont typeface="Arial"/>
                        <a:buNone/>
                      </a:pPr>
                      <a:r>
                        <a:rPr lang="en-US" sz="1400" dirty="0">
                          <a:latin typeface="Times New Roman" panose="02020603050405020304" pitchFamily="18" charset="0"/>
                          <a:cs typeface="Times New Roman" panose="02020603050405020304" pitchFamily="18" charset="0"/>
                        </a:rPr>
                        <a:t> It is giving 90%, Efficient</a:t>
                      </a:r>
                    </a:p>
                    <a:p>
                      <a:pPr marL="0" marR="0" lvl="0" indent="0" algn="just" rtl="0">
                        <a:lnSpc>
                          <a:spcPct val="100000"/>
                        </a:lnSpc>
                        <a:spcBef>
                          <a:spcPts val="0"/>
                        </a:spcBef>
                        <a:spcAft>
                          <a:spcPts val="0"/>
                        </a:spcAft>
                        <a:buClr>
                          <a:srgbClr val="000000"/>
                        </a:buClr>
                        <a:buSzPts val="900"/>
                        <a:buFont typeface="Arial"/>
                        <a:buNone/>
                      </a:pPr>
                      <a:r>
                        <a:rPr lang="en-US" sz="14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Drawbacks:</a:t>
                      </a:r>
                    </a:p>
                    <a:p>
                      <a:pPr marL="0" marR="0" lvl="0" indent="0" algn="just" rtl="0">
                        <a:lnSpc>
                          <a:spcPct val="100000"/>
                        </a:lnSpc>
                        <a:spcBef>
                          <a:spcPts val="0"/>
                        </a:spcBef>
                        <a:spcAft>
                          <a:spcPts val="0"/>
                        </a:spcAft>
                        <a:buClr>
                          <a:srgbClr val="000000"/>
                        </a:buClr>
                        <a:buSzPts val="900"/>
                        <a:buFont typeface="Arial"/>
                        <a:buNone/>
                      </a:pPr>
                      <a:r>
                        <a:rPr lang="en-US" sz="1400" dirty="0">
                          <a:latin typeface="Times New Roman" panose="02020603050405020304" pitchFamily="18" charset="0"/>
                          <a:cs typeface="Times New Roman" panose="02020603050405020304" pitchFamily="18" charset="0"/>
                        </a:rPr>
                        <a:t>•It is suitable only for binary classification, </a:t>
                      </a:r>
                      <a:r>
                        <a:rPr lang="en-US" sz="1400" dirty="0" err="1">
                          <a:latin typeface="Times New Roman" panose="02020603050405020304" pitchFamily="18" charset="0"/>
                          <a:cs typeface="Times New Roman" panose="02020603050405020304" pitchFamily="18" charset="0"/>
                        </a:rPr>
                        <a:t>i.e</a:t>
                      </a:r>
                      <a:r>
                        <a:rPr lang="en-US" sz="1400" dirty="0">
                          <a:latin typeface="Times New Roman" panose="02020603050405020304" pitchFamily="18" charset="0"/>
                          <a:cs typeface="Times New Roman" panose="02020603050405020304" pitchFamily="18" charset="0"/>
                        </a:rPr>
                        <a:t>  cannot classify stages of heart disease.</a:t>
                      </a:r>
                      <a:endParaRPr lang="en-US" sz="14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a:txBody>
                  <a:tcPr marL="42800" marR="42800" marT="21400" marB="21400">
                    <a:lnL w="9525" cap="flat" cmpd="sng" algn="ctr">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25400" cap="flat" cmpd="sng" algn="ctr">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3443067156"/>
                  </a:ext>
                </a:extLst>
              </a:tr>
            </a:tbl>
          </a:graphicData>
        </a:graphic>
      </p:graphicFrame>
    </p:spTree>
    <p:extLst>
      <p:ext uri="{BB962C8B-B14F-4D97-AF65-F5344CB8AC3E}">
        <p14:creationId xmlns:p14="http://schemas.microsoft.com/office/powerpoint/2010/main" val="1865722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b="1" dirty="0">
                <a:latin typeface="Times New Roman" panose="02020603050405020304" pitchFamily="18" charset="0"/>
                <a:cs typeface="Times New Roman" panose="02020603050405020304" pitchFamily="18" charset="0"/>
              </a:rPr>
              <a:t>Materials</a:t>
            </a:r>
            <a:br>
              <a:rPr lang="en-US" b="1" dirty="0"/>
            </a:br>
            <a:endParaRPr lang="en-US" b="1" dirty="0"/>
          </a:p>
        </p:txBody>
      </p:sp>
      <p:sp>
        <p:nvSpPr>
          <p:cNvPr id="4" name="Footer Placeholder 3"/>
          <p:cNvSpPr>
            <a:spLocks noGrp="1"/>
          </p:cNvSpPr>
          <p:nvPr>
            <p:ph type="ftr" sz="quarter" idx="11"/>
          </p:nvPr>
        </p:nvSpPr>
        <p:spPr>
          <a:xfrm>
            <a:off x="1828800" y="6356350"/>
            <a:ext cx="5029200" cy="365125"/>
          </a:xfrm>
        </p:spPr>
        <p:txBody>
          <a:bodyPr/>
          <a:lstStyle/>
          <a:p>
            <a:r>
              <a:rPr lang="en-US" b="1" dirty="0">
                <a:solidFill>
                  <a:srgbClr val="002060"/>
                </a:solidFill>
              </a:rPr>
              <a:t>ICGCP - 2024 , Sapthagiri College of Engineering,  Bengaluru</a:t>
            </a:r>
          </a:p>
        </p:txBody>
      </p:sp>
      <p:sp>
        <p:nvSpPr>
          <p:cNvPr id="3" name="TextBox 2">
            <a:extLst>
              <a:ext uri="{FF2B5EF4-FFF2-40B4-BE49-F238E27FC236}">
                <a16:creationId xmlns:a16="http://schemas.microsoft.com/office/drawing/2014/main" id="{04DCCB6F-A54F-390D-71AF-9EA73566BEB0}"/>
              </a:ext>
            </a:extLst>
          </p:cNvPr>
          <p:cNvSpPr txBox="1"/>
          <p:nvPr/>
        </p:nvSpPr>
        <p:spPr>
          <a:xfrm>
            <a:off x="457200" y="914400"/>
            <a:ext cx="7924800" cy="5165645"/>
          </a:xfrm>
          <a:prstGeom prst="rect">
            <a:avLst/>
          </a:prstGeom>
          <a:noFill/>
        </p:spPr>
        <p:txBody>
          <a:bodyPr wrap="square" rtlCol="0">
            <a:spAutoFit/>
          </a:bodyPr>
          <a:lstStyle/>
          <a:p>
            <a:pPr algn="just" eaLnBrk="1" hangingPunct="1">
              <a:lnSpc>
                <a:spcPct val="150000"/>
              </a:lnSpc>
              <a:buClr>
                <a:schemeClr val="tx1"/>
              </a:buClr>
              <a:buFont typeface="Arial" panose="020B0604020202020204" pitchFamily="34" charset="0"/>
              <a:buNone/>
            </a:pPr>
            <a:r>
              <a:rPr lang="en-US" altLang="en-US" sz="1850" b="1" dirty="0">
                <a:latin typeface="Times New Roman" panose="02020603050405020304" pitchFamily="18" charset="0"/>
                <a:cs typeface="Times New Roman" panose="02020603050405020304" pitchFamily="18" charset="0"/>
              </a:rPr>
              <a:t>HARDWARE REQUIREMENTS</a:t>
            </a:r>
          </a:p>
          <a:p>
            <a:pPr algn="just" eaLnBrk="1" hangingPunct="1">
              <a:lnSpc>
                <a:spcPct val="150000"/>
              </a:lnSpc>
              <a:buClr>
                <a:schemeClr val="tx1"/>
              </a:buClr>
            </a:pPr>
            <a:r>
              <a:rPr lang="en-US" altLang="en-US" sz="1850" dirty="0">
                <a:latin typeface="Times New Roman" panose="02020603050405020304" pitchFamily="18" charset="0"/>
                <a:cs typeface="Times New Roman" panose="02020603050405020304" pitchFamily="18" charset="0"/>
              </a:rPr>
              <a:t>System		:  	 Intel I5.</a:t>
            </a:r>
          </a:p>
          <a:p>
            <a:pPr algn="just" eaLnBrk="1" hangingPunct="1">
              <a:lnSpc>
                <a:spcPct val="150000"/>
              </a:lnSpc>
              <a:buClr>
                <a:schemeClr val="tx1"/>
              </a:buClr>
            </a:pPr>
            <a:r>
              <a:rPr lang="en-US" altLang="en-US" sz="1850" dirty="0">
                <a:latin typeface="Times New Roman" panose="02020603050405020304" pitchFamily="18" charset="0"/>
                <a:cs typeface="Times New Roman" panose="02020603050405020304" pitchFamily="18" charset="0"/>
              </a:rPr>
              <a:t>Hard Disk 	:  	 120 GB.</a:t>
            </a:r>
          </a:p>
          <a:p>
            <a:pPr algn="just" eaLnBrk="1" hangingPunct="1">
              <a:lnSpc>
                <a:spcPct val="150000"/>
              </a:lnSpc>
              <a:buClr>
                <a:schemeClr val="tx1"/>
              </a:buClr>
            </a:pPr>
            <a:r>
              <a:rPr lang="en-US" altLang="en-US" sz="1850" dirty="0">
                <a:latin typeface="Times New Roman" panose="02020603050405020304" pitchFamily="18" charset="0"/>
                <a:cs typeface="Times New Roman" panose="02020603050405020304" pitchFamily="18" charset="0"/>
              </a:rPr>
              <a:t>Monitor		:   	 15’’ LED</a:t>
            </a:r>
          </a:p>
          <a:p>
            <a:pPr algn="just" eaLnBrk="1" hangingPunct="1">
              <a:lnSpc>
                <a:spcPct val="150000"/>
              </a:lnSpc>
              <a:buClr>
                <a:schemeClr val="tx1"/>
              </a:buClr>
            </a:pPr>
            <a:r>
              <a:rPr lang="en-US" altLang="en-US" sz="1850" dirty="0">
                <a:latin typeface="Times New Roman" panose="02020603050405020304" pitchFamily="18" charset="0"/>
                <a:cs typeface="Times New Roman" panose="02020603050405020304" pitchFamily="18" charset="0"/>
              </a:rPr>
              <a:t>Input Devices         :   	 Keyboard, Mouse</a:t>
            </a:r>
          </a:p>
          <a:p>
            <a:pPr algn="just" eaLnBrk="1" hangingPunct="1">
              <a:lnSpc>
                <a:spcPct val="150000"/>
              </a:lnSpc>
              <a:buClr>
                <a:schemeClr val="tx1"/>
              </a:buClr>
            </a:pPr>
            <a:r>
              <a:rPr lang="en-US" altLang="en-US" sz="1850" dirty="0">
                <a:latin typeface="Times New Roman" panose="02020603050405020304" pitchFamily="18" charset="0"/>
                <a:cs typeface="Times New Roman" panose="02020603050405020304" pitchFamily="18" charset="0"/>
              </a:rPr>
              <a:t>Ram		:   	 8 GB</a:t>
            </a:r>
          </a:p>
          <a:p>
            <a:pPr algn="just" eaLnBrk="1" hangingPunct="1">
              <a:lnSpc>
                <a:spcPct val="150000"/>
              </a:lnSpc>
              <a:buClr>
                <a:schemeClr val="tx1"/>
              </a:buClr>
              <a:buFont typeface="Arial" panose="020B0604020202020204" pitchFamily="34" charset="0"/>
              <a:buNone/>
            </a:pPr>
            <a:endParaRPr lang="en-US" altLang="en-US" sz="1850" b="1" dirty="0">
              <a:latin typeface="Times New Roman" panose="02020603050405020304" pitchFamily="18" charset="0"/>
              <a:cs typeface="Times New Roman" panose="02020603050405020304" pitchFamily="18" charset="0"/>
            </a:endParaRPr>
          </a:p>
          <a:p>
            <a:pPr algn="just" eaLnBrk="1" hangingPunct="1">
              <a:lnSpc>
                <a:spcPct val="150000"/>
              </a:lnSpc>
              <a:buClr>
                <a:schemeClr val="tx1"/>
              </a:buClr>
              <a:buFont typeface="Arial" panose="020B0604020202020204" pitchFamily="34" charset="0"/>
              <a:buNone/>
            </a:pPr>
            <a:r>
              <a:rPr lang="en-US" altLang="en-US" sz="1850" b="1" dirty="0">
                <a:latin typeface="Times New Roman" panose="02020603050405020304" pitchFamily="18" charset="0"/>
                <a:cs typeface="Times New Roman" panose="02020603050405020304" pitchFamily="18" charset="0"/>
              </a:rPr>
              <a:t>SOFTWARE REQUIREMENTS</a:t>
            </a:r>
          </a:p>
          <a:p>
            <a:pPr algn="just" eaLnBrk="1" hangingPunct="1">
              <a:lnSpc>
                <a:spcPct val="150000"/>
              </a:lnSpc>
              <a:buClr>
                <a:schemeClr val="tx1"/>
              </a:buClr>
            </a:pPr>
            <a:r>
              <a:rPr lang="en-US" altLang="en-US" sz="1850" dirty="0">
                <a:latin typeface="Times New Roman" panose="02020603050405020304" pitchFamily="18" charset="0"/>
                <a:cs typeface="Times New Roman" panose="02020603050405020304" pitchFamily="18" charset="0"/>
              </a:rPr>
              <a:t>Operating System	: 	  Windows 64-bit</a:t>
            </a:r>
          </a:p>
          <a:p>
            <a:pPr algn="just" eaLnBrk="1" hangingPunct="1">
              <a:lnSpc>
                <a:spcPct val="150000"/>
              </a:lnSpc>
              <a:buClr>
                <a:schemeClr val="tx1"/>
              </a:buClr>
            </a:pPr>
            <a:r>
              <a:rPr lang="en-US" altLang="en-US" sz="1850" dirty="0">
                <a:latin typeface="Times New Roman" panose="02020603050405020304" pitchFamily="18" charset="0"/>
                <a:cs typeface="Times New Roman" panose="02020603050405020304" pitchFamily="18" charset="0"/>
              </a:rPr>
              <a:t>Technology	:  	  Python 3.6</a:t>
            </a:r>
          </a:p>
          <a:p>
            <a:pPr algn="just" eaLnBrk="1" hangingPunct="1">
              <a:lnSpc>
                <a:spcPct val="150000"/>
              </a:lnSpc>
              <a:buClr>
                <a:schemeClr val="tx1"/>
              </a:buClr>
            </a:pPr>
            <a:r>
              <a:rPr lang="en-US" altLang="en-US" sz="1850" dirty="0">
                <a:latin typeface="Times New Roman" panose="02020603050405020304" pitchFamily="18" charset="0"/>
                <a:cs typeface="Times New Roman" panose="02020603050405020304" pitchFamily="18" charset="0"/>
              </a:rPr>
              <a:t> IDE		:  	  Vs-code</a:t>
            </a:r>
          </a:p>
          <a:p>
            <a:pPr algn="just" eaLnBrk="1" hangingPunct="1">
              <a:lnSpc>
                <a:spcPct val="150000"/>
              </a:lnSpc>
              <a:buClr>
                <a:schemeClr val="tx1"/>
              </a:buClr>
            </a:pPr>
            <a:r>
              <a:rPr lang="en-US" altLang="en-US" sz="1850" dirty="0">
                <a:latin typeface="Times New Roman" panose="02020603050405020304" pitchFamily="18" charset="0"/>
                <a:cs typeface="Times New Roman" panose="02020603050405020304" pitchFamily="18" charset="0"/>
              </a:rPr>
              <a:t>Tools		: 	  Anaconda</a:t>
            </a:r>
            <a:endParaRPr lang="en-IN" altLang="en-US" sz="18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3874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ECB73-9CBD-4926-CBD5-88319F87CC53}"/>
              </a:ext>
            </a:extLst>
          </p:cNvPr>
          <p:cNvSpPr>
            <a:spLocks noGrp="1"/>
          </p:cNvSpPr>
          <p:nvPr>
            <p:ph type="title"/>
          </p:nvPr>
        </p:nvSpPr>
        <p:spPr/>
        <p:txBody>
          <a:bodyPr>
            <a:normAutofit/>
          </a:bodyPr>
          <a:lstStyle/>
          <a:p>
            <a:r>
              <a:rPr lang="en-US" sz="4000" b="1" dirty="0">
                <a:solidFill>
                  <a:schemeClr val="tx1"/>
                </a:solidFill>
                <a:latin typeface="Times New Roman"/>
                <a:ea typeface="Times New Roman"/>
                <a:cs typeface="Times New Roman"/>
                <a:sym typeface="Times New Roman"/>
              </a:rPr>
              <a:t>MODULES DESCRIPTION</a:t>
            </a:r>
            <a:endParaRPr lang="en-IN" sz="4000" b="1" dirty="0"/>
          </a:p>
        </p:txBody>
      </p:sp>
      <p:sp>
        <p:nvSpPr>
          <p:cNvPr id="3" name="Content Placeholder 2">
            <a:extLst>
              <a:ext uri="{FF2B5EF4-FFF2-40B4-BE49-F238E27FC236}">
                <a16:creationId xmlns:a16="http://schemas.microsoft.com/office/drawing/2014/main" id="{C1010D76-799E-A172-BEC8-0025A0381131}"/>
              </a:ext>
            </a:extLst>
          </p:cNvPr>
          <p:cNvSpPr>
            <a:spLocks noGrp="1"/>
          </p:cNvSpPr>
          <p:nvPr>
            <p:ph idx="1"/>
          </p:nvPr>
        </p:nvSpPr>
        <p:spPr/>
        <p:txBody>
          <a:bodyPr>
            <a:norm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Data Collection: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This project utilizes a benchmark dataset that are publicly available in open repository. Several ongoing research studies utilize the Cleveland dataset from the University of California (UCI) as a standard to predict coronary heart disease. </a:t>
            </a:r>
            <a:endParaRPr lang="en-US" altLang="en-US" sz="24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CDAF73D0-28F3-1D4A-063C-0E78D2164742}"/>
              </a:ext>
            </a:extLst>
          </p:cNvPr>
          <p:cNvSpPr>
            <a:spLocks noGrp="1"/>
          </p:cNvSpPr>
          <p:nvPr>
            <p:ph type="ftr" sz="quarter" idx="11"/>
          </p:nvPr>
        </p:nvSpPr>
        <p:spPr>
          <a:xfrm>
            <a:off x="3124200" y="6356350"/>
            <a:ext cx="3276600" cy="365125"/>
          </a:xfrm>
        </p:spPr>
        <p:txBody>
          <a:bodyPr/>
          <a:lstStyle/>
          <a:p>
            <a:r>
              <a:rPr lang="en-US" dirty="0"/>
              <a:t>ICGCP 2024 , </a:t>
            </a:r>
            <a:r>
              <a:rPr lang="en-US" dirty="0" err="1"/>
              <a:t>Sapthagiri</a:t>
            </a:r>
            <a:r>
              <a:rPr lang="en-US" dirty="0"/>
              <a:t> College of Engineering</a:t>
            </a:r>
          </a:p>
        </p:txBody>
      </p:sp>
    </p:spTree>
    <p:extLst>
      <p:ext uri="{BB962C8B-B14F-4D97-AF65-F5344CB8AC3E}">
        <p14:creationId xmlns:p14="http://schemas.microsoft.com/office/powerpoint/2010/main" val="2488162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ADBF1B-70F6-2DC3-3F5B-F56F5FB35B40}"/>
              </a:ext>
            </a:extLst>
          </p:cNvPr>
          <p:cNvSpPr>
            <a:spLocks noGrp="1"/>
          </p:cNvSpPr>
          <p:nvPr>
            <p:ph type="ftr" sz="quarter" idx="11"/>
          </p:nvPr>
        </p:nvSpPr>
        <p:spPr>
          <a:xfrm>
            <a:off x="3124200" y="6356350"/>
            <a:ext cx="3124200" cy="365125"/>
          </a:xfrm>
        </p:spPr>
        <p:txBody>
          <a:bodyPr/>
          <a:lstStyle/>
          <a:p>
            <a:r>
              <a:rPr lang="en-US" dirty="0"/>
              <a:t>ICGCP 2024 , </a:t>
            </a:r>
            <a:r>
              <a:rPr lang="en-US" dirty="0" err="1"/>
              <a:t>Sapthagiri</a:t>
            </a:r>
            <a:r>
              <a:rPr lang="en-US" dirty="0"/>
              <a:t> College of Engineering</a:t>
            </a:r>
          </a:p>
        </p:txBody>
      </p:sp>
      <p:sp>
        <p:nvSpPr>
          <p:cNvPr id="4" name="TextBox 3">
            <a:extLst>
              <a:ext uri="{FF2B5EF4-FFF2-40B4-BE49-F238E27FC236}">
                <a16:creationId xmlns:a16="http://schemas.microsoft.com/office/drawing/2014/main" id="{EB97812D-B1A1-A1AF-8E91-1303863CDB1A}"/>
              </a:ext>
            </a:extLst>
          </p:cNvPr>
          <p:cNvSpPr txBox="1"/>
          <p:nvPr/>
        </p:nvSpPr>
        <p:spPr>
          <a:xfrm>
            <a:off x="533400" y="1066800"/>
            <a:ext cx="8077200" cy="5724644"/>
          </a:xfrm>
          <a:prstGeom prst="rect">
            <a:avLst/>
          </a:prstGeom>
          <a:noFill/>
        </p:spPr>
        <p:txBody>
          <a:bodyPr wrap="square" rtlCol="0">
            <a:spAutoFit/>
          </a:bodyPr>
          <a:lstStyle/>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 Preprocessing: </a:t>
            </a:r>
          </a:p>
          <a:p>
            <a:pPr algn="just" eaLnBrk="1" hangingPunct="1">
              <a:lnSpc>
                <a:spcPct val="150000"/>
              </a:lnSpc>
              <a:spcBef>
                <a:spcPct val="0"/>
              </a:spcBef>
              <a:buClrTx/>
              <a:buSzTx/>
            </a:pPr>
            <a:r>
              <a:rPr lang="en-US" altLang="en-US" sz="2400" dirty="0">
                <a:solidFill>
                  <a:schemeClr val="tx1"/>
                </a:solidFill>
                <a:latin typeface="Times New Roman" panose="02020603050405020304" pitchFamily="18" charset="0"/>
                <a:cs typeface="Times New Roman" panose="02020603050405020304" pitchFamily="18" charset="0"/>
              </a:rPr>
              <a:t>To ensure optimal performance and accuracy in ML, preprocessing is a crucial step that involves cleaning and preparing data before it is fed into a model for training. </a:t>
            </a:r>
          </a:p>
          <a:p>
            <a:pPr algn="just" eaLnBrk="1" hangingPunct="1">
              <a:lnSpc>
                <a:spcPct val="150000"/>
              </a:lnSpc>
              <a:spcBef>
                <a:spcPct val="0"/>
              </a:spcBef>
              <a:buClrTx/>
              <a:buSzTx/>
            </a:pP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indent="-342900" algn="just" eaLnBrk="1" hangingPunct="1">
              <a:lnSpc>
                <a:spcPct val="150000"/>
              </a:lnSpc>
              <a:spcBef>
                <a:spcPct val="0"/>
              </a:spcBef>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Feature Extraction:</a:t>
            </a:r>
            <a:endParaRPr lang="en-US" altLang="en-US" sz="2400" dirty="0">
              <a:latin typeface="Times New Roman" panose="02020603050405020304" pitchFamily="18" charset="0"/>
              <a:cs typeface="Times New Roman" panose="02020603050405020304" pitchFamily="18" charset="0"/>
            </a:endParaRPr>
          </a:p>
          <a:p>
            <a:pPr algn="just">
              <a:lnSpc>
                <a:spcPct val="150000"/>
              </a:lnSpc>
              <a:spcBef>
                <a:spcPct val="0"/>
              </a:spcBef>
            </a:pPr>
            <a:r>
              <a:rPr lang="en-US" altLang="en-US" sz="2400" dirty="0">
                <a:solidFill>
                  <a:schemeClr val="tx1"/>
                </a:solidFill>
                <a:latin typeface="Times New Roman" panose="02020603050405020304" pitchFamily="18" charset="0"/>
                <a:cs typeface="Times New Roman" panose="02020603050405020304" pitchFamily="18" charset="0"/>
              </a:rPr>
              <a:t>FS is a critical process in ML that involves selecting the most relevant and informative features from a dataset to enhance a model’s performance. </a:t>
            </a:r>
          </a:p>
          <a:p>
            <a:pPr algn="just" eaLnBrk="1" hangingPunct="1">
              <a:lnSpc>
                <a:spcPct val="150000"/>
              </a:lnSpc>
              <a:spcBef>
                <a:spcPct val="0"/>
              </a:spcBef>
              <a:buClrTx/>
              <a:buSzTx/>
            </a:pPr>
            <a:endParaRPr lang="en-US" altLang="en-US" sz="2400" b="1" dirty="0">
              <a:solidFill>
                <a:schemeClr val="tx1"/>
              </a:solidFill>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763676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A13337-5EFA-B7D9-A814-0289D2E80DD6}"/>
              </a:ext>
            </a:extLst>
          </p:cNvPr>
          <p:cNvSpPr>
            <a:spLocks noGrp="1"/>
          </p:cNvSpPr>
          <p:nvPr>
            <p:ph idx="1"/>
          </p:nvPr>
        </p:nvSpPr>
        <p:spPr>
          <a:xfrm>
            <a:off x="381000" y="457200"/>
            <a:ext cx="8077200" cy="4114800"/>
          </a:xfrm>
        </p:spPr>
        <p:txBody>
          <a:bodyPr>
            <a:normAutofit/>
          </a:bodyPr>
          <a:lstStyle/>
          <a:p>
            <a:pPr marL="0" indent="0" algn="just">
              <a:lnSpc>
                <a:spcPct val="150000"/>
              </a:lnSpc>
              <a:buNone/>
            </a:pPr>
            <a:endParaRPr lang="en-US" alt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Building ML Models: </a:t>
            </a:r>
          </a:p>
          <a:p>
            <a:pPr marL="0" indent="0" algn="just" eaLnBrk="1" hangingPunct="1">
              <a:lnSpc>
                <a:spcPct val="150000"/>
              </a:lnSpc>
              <a:spcBef>
                <a:spcPct val="0"/>
              </a:spcBef>
              <a:buClrTx/>
              <a:buSzTx/>
              <a:buNone/>
            </a:pPr>
            <a:r>
              <a:rPr lang="en-US" altLang="en-US" sz="2400" dirty="0">
                <a:solidFill>
                  <a:schemeClr val="tx1"/>
                </a:solidFill>
                <a:latin typeface="Times New Roman" panose="02020603050405020304" pitchFamily="18" charset="0"/>
                <a:cs typeface="Times New Roman" panose="02020603050405020304" pitchFamily="18" charset="0"/>
              </a:rPr>
              <a:t>This developing relationship between ML and cardiology has the potential to improve modern techniques for prediction and move the field closer to more accurate and reliable cardiovascular risk assessment. </a:t>
            </a:r>
          </a:p>
        </p:txBody>
      </p:sp>
    </p:spTree>
    <p:extLst>
      <p:ext uri="{BB962C8B-B14F-4D97-AF65-F5344CB8AC3E}">
        <p14:creationId xmlns:p14="http://schemas.microsoft.com/office/powerpoint/2010/main" val="990606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57200"/>
            <a:ext cx="8229600" cy="1020762"/>
          </a:xfrm>
        </p:spPr>
        <p:txBody>
          <a:bodyPr>
            <a:normAutofit fontScale="90000"/>
          </a:bodyPr>
          <a:lstStyle/>
          <a:p>
            <a:r>
              <a:rPr lang="en-US" b="1" dirty="0">
                <a:latin typeface="Times New Roman" panose="02020603050405020304" pitchFamily="18" charset="0"/>
                <a:cs typeface="Times New Roman" panose="02020603050405020304" pitchFamily="18" charset="0"/>
              </a:rPr>
              <a:t>Results</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2057400" y="6356350"/>
            <a:ext cx="4724400" cy="365125"/>
          </a:xfrm>
        </p:spPr>
        <p:txBody>
          <a:bodyPr/>
          <a:lstStyle/>
          <a:p>
            <a:r>
              <a:rPr lang="en-US" b="1" dirty="0">
                <a:solidFill>
                  <a:srgbClr val="002060"/>
                </a:solidFill>
              </a:rPr>
              <a:t>ICGCP - 2024 , Sapthagiri College of Engineering,  Bengaluru</a:t>
            </a:r>
          </a:p>
        </p:txBody>
      </p:sp>
      <p:sp>
        <p:nvSpPr>
          <p:cNvPr id="5" name="TextBox 4">
            <a:extLst>
              <a:ext uri="{FF2B5EF4-FFF2-40B4-BE49-F238E27FC236}">
                <a16:creationId xmlns:a16="http://schemas.microsoft.com/office/drawing/2014/main" id="{57EC0C92-138F-FCDB-841A-26ADB37CCCAC}"/>
              </a:ext>
            </a:extLst>
          </p:cNvPr>
          <p:cNvSpPr txBox="1"/>
          <p:nvPr/>
        </p:nvSpPr>
        <p:spPr>
          <a:xfrm>
            <a:off x="457200" y="1295400"/>
            <a:ext cx="8153400" cy="1687963"/>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Predicting the presence of risk of cardiovascular diseases with the help of some vital attributes that are collected from datasets and later on classifying into 4 different stages of heart diseases.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8919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E9C0D77-B8A6-7700-DC8D-BD401C54E21C}"/>
              </a:ext>
            </a:extLst>
          </p:cNvPr>
          <p:cNvSpPr>
            <a:spLocks noGrp="1"/>
          </p:cNvSpPr>
          <p:nvPr>
            <p:ph type="ftr" sz="quarter" idx="11"/>
          </p:nvPr>
        </p:nvSpPr>
        <p:spPr>
          <a:xfrm>
            <a:off x="3124200" y="6356351"/>
            <a:ext cx="3048000" cy="273050"/>
          </a:xfrm>
        </p:spPr>
        <p:txBody>
          <a:bodyPr/>
          <a:lstStyle/>
          <a:p>
            <a:r>
              <a:rPr lang="en-US" dirty="0"/>
              <a:t>ICGCP 2024 , </a:t>
            </a:r>
            <a:r>
              <a:rPr lang="en-US" dirty="0" err="1"/>
              <a:t>Sapthagiri</a:t>
            </a:r>
            <a:r>
              <a:rPr lang="en-US" dirty="0"/>
              <a:t> College of Engineering</a:t>
            </a:r>
          </a:p>
        </p:txBody>
      </p:sp>
      <p:pic>
        <p:nvPicPr>
          <p:cNvPr id="3" name="Picture 2">
            <a:extLst>
              <a:ext uri="{FF2B5EF4-FFF2-40B4-BE49-F238E27FC236}">
                <a16:creationId xmlns:a16="http://schemas.microsoft.com/office/drawing/2014/main" id="{DDFA6689-915A-FF6C-163E-2CDAADCA56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626" b="6667"/>
          <a:stretch>
            <a:fillRect/>
          </a:stretch>
        </p:blipFill>
        <p:spPr bwMode="auto">
          <a:xfrm>
            <a:off x="342900" y="1182687"/>
            <a:ext cx="8610600"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5193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824F2E3-AB4F-55A9-D86D-1AA9D6825BEE}"/>
              </a:ext>
            </a:extLst>
          </p:cNvPr>
          <p:cNvSpPr>
            <a:spLocks noGrp="1"/>
          </p:cNvSpPr>
          <p:nvPr>
            <p:ph type="ftr" sz="quarter" idx="11"/>
          </p:nvPr>
        </p:nvSpPr>
        <p:spPr/>
        <p:txBody>
          <a:bodyPr/>
          <a:lstStyle/>
          <a:p>
            <a:r>
              <a:rPr lang="en-US"/>
              <a:t>ICGCP 2024 , Sapthagiri College of Engineering</a:t>
            </a:r>
          </a:p>
        </p:txBody>
      </p:sp>
      <p:pic>
        <p:nvPicPr>
          <p:cNvPr id="3" name="Picture 2">
            <a:extLst>
              <a:ext uri="{FF2B5EF4-FFF2-40B4-BE49-F238E27FC236}">
                <a16:creationId xmlns:a16="http://schemas.microsoft.com/office/drawing/2014/main" id="{B98988C7-4F03-2CB4-4564-434709869F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2500" b="6667"/>
          <a:stretch>
            <a:fillRect/>
          </a:stretch>
        </p:blipFill>
        <p:spPr bwMode="auto">
          <a:xfrm>
            <a:off x="152400" y="835680"/>
            <a:ext cx="4572000" cy="497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F2879472-28BE-5870-F4C4-2AC056BDE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500" b="7777"/>
          <a:stretch>
            <a:fillRect/>
          </a:stretch>
        </p:blipFill>
        <p:spPr bwMode="auto">
          <a:xfrm>
            <a:off x="4800600" y="839608"/>
            <a:ext cx="4191000" cy="491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1794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000" b="1" dirty="0">
                <a:latin typeface="Times New Roman" panose="02020603050405020304" pitchFamily="18" charset="0"/>
                <a:cs typeface="Times New Roman" panose="02020603050405020304" pitchFamily="18" charset="0"/>
              </a:rPr>
              <a:t>Conclusion</a:t>
            </a:r>
          </a:p>
        </p:txBody>
      </p:sp>
      <p:sp>
        <p:nvSpPr>
          <p:cNvPr id="4" name="Footer Placeholder 3"/>
          <p:cNvSpPr>
            <a:spLocks noGrp="1"/>
          </p:cNvSpPr>
          <p:nvPr>
            <p:ph type="ftr" sz="quarter" idx="11"/>
          </p:nvPr>
        </p:nvSpPr>
        <p:spPr>
          <a:xfrm>
            <a:off x="2286000" y="6356350"/>
            <a:ext cx="4648200" cy="365125"/>
          </a:xfrm>
        </p:spPr>
        <p:txBody>
          <a:bodyPr/>
          <a:lstStyle/>
          <a:p>
            <a:r>
              <a:rPr lang="en-US" b="1" dirty="0">
                <a:solidFill>
                  <a:srgbClr val="002060"/>
                </a:solidFill>
              </a:rPr>
              <a:t>ICGCP - 2024 , Sapthagiri College of Engineering,  Bengaluru</a:t>
            </a:r>
          </a:p>
        </p:txBody>
      </p:sp>
      <p:sp>
        <p:nvSpPr>
          <p:cNvPr id="3" name="TextBox 2">
            <a:extLst>
              <a:ext uri="{FF2B5EF4-FFF2-40B4-BE49-F238E27FC236}">
                <a16:creationId xmlns:a16="http://schemas.microsoft.com/office/drawing/2014/main" id="{BB48B87C-BDF2-4C51-E0E4-643F9B9159B1}"/>
              </a:ext>
            </a:extLst>
          </p:cNvPr>
          <p:cNvSpPr txBox="1"/>
          <p:nvPr/>
        </p:nvSpPr>
        <p:spPr>
          <a:xfrm>
            <a:off x="76200" y="1219200"/>
            <a:ext cx="8839200" cy="2241960"/>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present study investigates the performance of seven standalone ML models and a voting classifier using the Cleveland dataset</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And by using the ML models and voting classifier it predicts the HD and classifies it into different stages.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654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360" y="10160"/>
            <a:ext cx="8229600" cy="1143000"/>
          </a:xfrm>
        </p:spPr>
        <p:txBody>
          <a:bodyPr>
            <a:normAutofit/>
          </a:bodyPr>
          <a:lstStyle/>
          <a:p>
            <a:r>
              <a:rPr lang="en-US" sz="4000" b="1" dirty="0">
                <a:latin typeface="Times New Roman" panose="02020603050405020304" pitchFamily="18" charset="0"/>
                <a:cs typeface="Times New Roman" panose="02020603050405020304" pitchFamily="18" charset="0"/>
              </a:rPr>
              <a:t>Acknowledgement</a:t>
            </a:r>
          </a:p>
        </p:txBody>
      </p:sp>
      <p:sp>
        <p:nvSpPr>
          <p:cNvPr id="4" name="Footer Placeholder 3"/>
          <p:cNvSpPr>
            <a:spLocks noGrp="1"/>
          </p:cNvSpPr>
          <p:nvPr>
            <p:ph type="ftr" sz="quarter" idx="11"/>
          </p:nvPr>
        </p:nvSpPr>
        <p:spPr>
          <a:xfrm>
            <a:off x="2133600" y="6356350"/>
            <a:ext cx="5105400" cy="365125"/>
          </a:xfrm>
        </p:spPr>
        <p:txBody>
          <a:bodyPr/>
          <a:lstStyle/>
          <a:p>
            <a:r>
              <a:rPr lang="en-US" b="1" dirty="0">
                <a:solidFill>
                  <a:srgbClr val="002060"/>
                </a:solidFill>
              </a:rPr>
              <a:t>ICGCP - 2024 , Sapthagiri College of Engineering,  Bengaluru</a:t>
            </a:r>
          </a:p>
        </p:txBody>
      </p:sp>
      <p:sp>
        <p:nvSpPr>
          <p:cNvPr id="3" name="TextBox 2">
            <a:extLst>
              <a:ext uri="{FF2B5EF4-FFF2-40B4-BE49-F238E27FC236}">
                <a16:creationId xmlns:a16="http://schemas.microsoft.com/office/drawing/2014/main" id="{F11D9328-7C25-1544-94DE-D5B523D043E1}"/>
              </a:ext>
            </a:extLst>
          </p:cNvPr>
          <p:cNvSpPr txBox="1"/>
          <p:nvPr/>
        </p:nvSpPr>
        <p:spPr>
          <a:xfrm>
            <a:off x="457200" y="1418628"/>
            <a:ext cx="8153400" cy="3903954"/>
          </a:xfrm>
          <a:prstGeom prst="rect">
            <a:avLst/>
          </a:prstGeom>
          <a:noFill/>
        </p:spPr>
        <p:txBody>
          <a:bodyPr wrap="square" rtlCol="0">
            <a:spAutoFit/>
          </a:bodyPr>
          <a:lstStyle/>
          <a:p>
            <a:pPr algn="just">
              <a:lnSpc>
                <a:spcPct val="150000"/>
              </a:lnSpc>
            </a:pP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We would like to express our sincere gratitude to the Management, Principal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Sapthagiri</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College of Engineering Bengaluru for the facilities provided and their support. We would also like to thank the Head of department Computer Science Engineering and faculties for their encouragement and support.</a:t>
            </a:r>
            <a:r>
              <a:rPr lang="en-IN" sz="2400" dirty="0">
                <a:effectLst/>
                <a:latin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p>
            <a:pPr algn="just">
              <a:lnSpc>
                <a:spcPct val="150000"/>
              </a:lnSpc>
            </a:pP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Also we would like to thank our guide </a:t>
            </a:r>
            <a:r>
              <a:rPr lang="en-US" sz="2400" b="1" dirty="0">
                <a:effectLst/>
                <a:latin typeface="Times New Roman" panose="02020603050405020304" pitchFamily="18" charset="0"/>
                <a:ea typeface="SimSun" panose="02010600030101010101" pitchFamily="2" charset="-122"/>
                <a:cs typeface="Times New Roman" panose="02020603050405020304" pitchFamily="18" charset="0"/>
              </a:rPr>
              <a:t>Prof. Shwetha K, Assistant Professor</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for her invaluable support and guidance.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4450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445" y="350838"/>
            <a:ext cx="8229600" cy="944562"/>
          </a:xfrm>
        </p:spPr>
        <p:txBody>
          <a:bodyPr>
            <a:normAutofit fontScale="90000"/>
          </a:bodyPr>
          <a:lstStyle/>
          <a:p>
            <a:r>
              <a:rPr lang="en-US" b="1" dirty="0">
                <a:latin typeface="Times New Roman" panose="02020603050405020304" pitchFamily="18" charset="0"/>
                <a:cs typeface="Times New Roman" panose="02020603050405020304" pitchFamily="18" charset="0"/>
              </a:rPr>
              <a:t>References</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1676400" y="6356350"/>
            <a:ext cx="4876800" cy="365125"/>
          </a:xfrm>
        </p:spPr>
        <p:txBody>
          <a:bodyPr/>
          <a:lstStyle/>
          <a:p>
            <a:r>
              <a:rPr lang="en-US" b="1" dirty="0">
                <a:solidFill>
                  <a:srgbClr val="002060"/>
                </a:solidFill>
              </a:rPr>
              <a:t>ICGCP - 2024 , Sapthagiri College of Engineering,  Bengaluru</a:t>
            </a:r>
          </a:p>
        </p:txBody>
      </p:sp>
      <p:sp>
        <p:nvSpPr>
          <p:cNvPr id="3" name="TextBox 2">
            <a:extLst>
              <a:ext uri="{FF2B5EF4-FFF2-40B4-BE49-F238E27FC236}">
                <a16:creationId xmlns:a16="http://schemas.microsoft.com/office/drawing/2014/main" id="{AE76D616-0B14-28C3-3A4D-07B67237A9EB}"/>
              </a:ext>
            </a:extLst>
          </p:cNvPr>
          <p:cNvSpPr txBox="1"/>
          <p:nvPr/>
        </p:nvSpPr>
        <p:spPr>
          <a:xfrm>
            <a:off x="470555" y="1295400"/>
            <a:ext cx="8382000" cy="4539704"/>
          </a:xfrm>
          <a:prstGeom prst="rect">
            <a:avLst/>
          </a:prstGeom>
          <a:noFill/>
        </p:spPr>
        <p:txBody>
          <a:bodyPr wrap="square" rtlCol="0">
            <a:spAutoFit/>
          </a:bodyPr>
          <a:lstStyle/>
          <a:p>
            <a:pPr algn="just">
              <a:spcBef>
                <a:spcPts val="1200"/>
              </a:spcBef>
              <a:spcAft>
                <a:spcPts val="1000"/>
              </a:spcAft>
            </a:pPr>
            <a:r>
              <a:rPr lang="en-US" dirty="0">
                <a:effectLst/>
                <a:latin typeface="Times New Roman" panose="02020603050405020304" pitchFamily="18" charset="0"/>
                <a:ea typeface="SimSun" panose="02010600030101010101" pitchFamily="2" charset="-122"/>
              </a:rPr>
              <a:t>[1] C. G. D. S. E. Silva, G. C. </a:t>
            </a:r>
            <a:r>
              <a:rPr lang="en-US" dirty="0" err="1">
                <a:effectLst/>
                <a:latin typeface="Times New Roman" panose="02020603050405020304" pitchFamily="18" charset="0"/>
                <a:ea typeface="SimSun" panose="02010600030101010101" pitchFamily="2" charset="-122"/>
              </a:rPr>
              <a:t>Buginga</a:t>
            </a:r>
            <a:r>
              <a:rPr lang="en-US" dirty="0">
                <a:effectLst/>
                <a:latin typeface="Times New Roman" panose="02020603050405020304" pitchFamily="18" charset="0"/>
                <a:ea typeface="SimSun" panose="02010600030101010101" pitchFamily="2" charset="-122"/>
              </a:rPr>
              <a:t>, E. A. D. S.  E. Silva, R. Arena, C. R. Rouleau, S. Aggarwal, S. B. Wilton, L. </a:t>
            </a:r>
            <a:r>
              <a:rPr lang="en-US" dirty="0" err="1">
                <a:effectLst/>
                <a:latin typeface="Times New Roman" panose="02020603050405020304" pitchFamily="18" charset="0"/>
                <a:ea typeface="SimSun" panose="02010600030101010101" pitchFamily="2" charset="-122"/>
              </a:rPr>
              <a:t>Austford</a:t>
            </a:r>
            <a:r>
              <a:rPr lang="en-US" dirty="0">
                <a:effectLst/>
                <a:latin typeface="Times New Roman" panose="02020603050405020304" pitchFamily="18" charset="0"/>
                <a:ea typeface="SimSun" panose="02010600030101010101" pitchFamily="2" charset="-122"/>
              </a:rPr>
              <a:t>, T. Hauer, and J. Myers, “Prediction of mortality in coronary artery disease: Role of machine learning and maximal exercise capacity,” Mayo Clinic Proc., vol. 97, no. 8, pp. 14721482, Aug. 2022. </a:t>
            </a:r>
          </a:p>
          <a:p>
            <a:pPr algn="just">
              <a:spcBef>
                <a:spcPts val="1200"/>
              </a:spcBef>
              <a:spcAft>
                <a:spcPts val="1000"/>
              </a:spcAft>
            </a:pPr>
            <a:r>
              <a:rPr lang="en-US" dirty="0">
                <a:effectLst/>
                <a:latin typeface="Times New Roman" panose="02020603050405020304" pitchFamily="18" charset="0"/>
                <a:ea typeface="SimSun" panose="02010600030101010101" pitchFamily="2" charset="-122"/>
              </a:rPr>
              <a:t>[2] </a:t>
            </a:r>
            <a:r>
              <a:rPr lang="en-GB" dirty="0">
                <a:latin typeface="Times New Roman" panose="02020603050405020304" pitchFamily="18" charset="0"/>
                <a:cs typeface="Times New Roman" panose="02020603050405020304" pitchFamily="18" charset="0"/>
              </a:rPr>
              <a:t>M. M. Nishat, F. Faisal, I. J. Ratul, A. Al-</a:t>
            </a:r>
            <a:r>
              <a:rPr lang="en-GB" dirty="0" err="1">
                <a:latin typeface="Times New Roman" panose="02020603050405020304" pitchFamily="18" charset="0"/>
                <a:cs typeface="Times New Roman" panose="02020603050405020304" pitchFamily="18" charset="0"/>
              </a:rPr>
              <a:t>Monsur</a:t>
            </a:r>
            <a:r>
              <a:rPr lang="en-GB" dirty="0">
                <a:latin typeface="Times New Roman" panose="02020603050405020304" pitchFamily="18" charset="0"/>
                <a:cs typeface="Times New Roman" panose="02020603050405020304" pitchFamily="18" charset="0"/>
              </a:rPr>
              <a:t>, A. M. </a:t>
            </a:r>
            <a:r>
              <a:rPr lang="en-GB" dirty="0" err="1">
                <a:latin typeface="Times New Roman" panose="02020603050405020304" pitchFamily="18" charset="0"/>
                <a:cs typeface="Times New Roman" panose="02020603050405020304" pitchFamily="18" charset="0"/>
              </a:rPr>
              <a:t>Ar</a:t>
            </a:r>
            <a:r>
              <a:rPr lang="en-GB" dirty="0">
                <a:latin typeface="Times New Roman" panose="02020603050405020304" pitchFamily="18" charset="0"/>
                <a:cs typeface="Times New Roman" panose="02020603050405020304" pitchFamily="18" charset="0"/>
              </a:rPr>
              <a:t>-Rafi, S. M. Nasrullah, M. T. Reza, and M. R. H. Khan, “A comprehensive investigation of the per- </a:t>
            </a:r>
            <a:r>
              <a:rPr lang="en-GB" dirty="0" err="1">
                <a:latin typeface="Times New Roman" panose="02020603050405020304" pitchFamily="18" charset="0"/>
                <a:cs typeface="Times New Roman" panose="02020603050405020304" pitchFamily="18" charset="0"/>
              </a:rPr>
              <a:t>formances</a:t>
            </a:r>
            <a:r>
              <a:rPr lang="en-GB" dirty="0">
                <a:latin typeface="Times New Roman" panose="02020603050405020304" pitchFamily="18" charset="0"/>
                <a:cs typeface="Times New Roman" panose="02020603050405020304" pitchFamily="18" charset="0"/>
              </a:rPr>
              <a:t> of different machine learning classifiers with SMOTE-ENN oversampling technique and </a:t>
            </a:r>
            <a:r>
              <a:rPr lang="en-GB" dirty="0" err="1">
                <a:latin typeface="Times New Roman" panose="02020603050405020304" pitchFamily="18" charset="0"/>
                <a:cs typeface="Times New Roman" panose="02020603050405020304" pitchFamily="18" charset="0"/>
              </a:rPr>
              <a:t>hyperparame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ter</a:t>
            </a:r>
            <a:r>
              <a:rPr lang="en-GB" dirty="0">
                <a:latin typeface="Times New Roman" panose="02020603050405020304" pitchFamily="18" charset="0"/>
                <a:cs typeface="Times New Roman" panose="02020603050405020304" pitchFamily="18" charset="0"/>
              </a:rPr>
              <a:t> optimization for imbalanced heart failure dataset,” Sci. Program., vol. 2022, pp. 1–17, Mar. 2022. </a:t>
            </a:r>
          </a:p>
          <a:p>
            <a:pPr algn="just">
              <a:spcBef>
                <a:spcPts val="1200"/>
              </a:spcBef>
              <a:spcAft>
                <a:spcPts val="1000"/>
              </a:spcAft>
            </a:pPr>
            <a:r>
              <a:rPr lang="en-US" dirty="0">
                <a:effectLst/>
                <a:latin typeface="Times New Roman" panose="02020603050405020304" pitchFamily="18" charset="0"/>
                <a:ea typeface="SimSun" panose="02010600030101010101" pitchFamily="2" charset="-122"/>
              </a:rPr>
              <a:t>[3]</a:t>
            </a:r>
            <a:r>
              <a:rPr lang="en-US" dirty="0" err="1">
                <a:latin typeface="Times New Roman" panose="02020603050405020304" pitchFamily="18" charset="0"/>
                <a:cs typeface="Times New Roman" panose="02020603050405020304" pitchFamily="18" charset="0"/>
              </a:rPr>
              <a:t>WorldHealthOrganization</a:t>
            </a:r>
            <a:r>
              <a:rPr lang="en-US" dirty="0">
                <a:latin typeface="Times New Roman" panose="02020603050405020304" pitchFamily="18" charset="0"/>
                <a:cs typeface="Times New Roman" panose="02020603050405020304" pitchFamily="18" charset="0"/>
              </a:rPr>
              <a:t>.(2009).</a:t>
            </a:r>
            <a:r>
              <a:rPr lang="en-US" dirty="0" err="1">
                <a:latin typeface="Times New Roman" panose="02020603050405020304" pitchFamily="18" charset="0"/>
                <a:cs typeface="Times New Roman" panose="02020603050405020304" pitchFamily="18" charset="0"/>
              </a:rPr>
              <a:t>CardiovascularDiseases</a:t>
            </a:r>
            <a:r>
              <a:rPr lang="en-US" dirty="0">
                <a:latin typeface="Times New Roman" panose="02020603050405020304" pitchFamily="18" charset="0"/>
                <a:cs typeface="Times New Roman" panose="02020603050405020304" pitchFamily="18" charset="0"/>
              </a:rPr>
              <a:t>(CVDS).[Online].</a:t>
            </a:r>
            <a:r>
              <a:rPr lang="en-US" dirty="0" err="1">
                <a:latin typeface="Times New Roman" panose="02020603050405020304" pitchFamily="18" charset="0"/>
                <a:cs typeface="Times New Roman" panose="02020603050405020304" pitchFamily="18" charset="0"/>
              </a:rPr>
              <a:t>Available:http</a:t>
            </a:r>
            <a:r>
              <a:rPr lang="en-US" dirty="0">
                <a:latin typeface="Times New Roman" panose="02020603050405020304" pitchFamily="18" charset="0"/>
                <a:cs typeface="Times New Roman" panose="02020603050405020304" pitchFamily="18" charset="0"/>
              </a:rPr>
              <a:t>://www.who.int/mediacentre/factsheets/fs317/en/index.html</a:t>
            </a:r>
          </a:p>
          <a:p>
            <a:pPr algn="just">
              <a:spcBef>
                <a:spcPts val="1200"/>
              </a:spcBef>
              <a:spcAft>
                <a:spcPts val="1000"/>
              </a:spcAft>
            </a:pPr>
            <a:r>
              <a:rPr lang="en-US" dirty="0">
                <a:effectLst/>
                <a:latin typeface="Times New Roman" panose="02020603050405020304" pitchFamily="18" charset="0"/>
                <a:ea typeface="SimSun" panose="02010600030101010101" pitchFamily="2" charset="-122"/>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M. </a:t>
            </a:r>
            <a:r>
              <a:rPr lang="en-US" dirty="0" err="1">
                <a:latin typeface="Times New Roman" panose="02020603050405020304" pitchFamily="18" charset="0"/>
                <a:cs typeface="Times New Roman" panose="02020603050405020304" pitchFamily="18" charset="0"/>
              </a:rPr>
              <a:t>Ozcan</a:t>
            </a:r>
            <a:r>
              <a:rPr lang="en-US" dirty="0">
                <a:latin typeface="Times New Roman" panose="02020603050405020304" pitchFamily="18" charset="0"/>
                <a:cs typeface="Times New Roman" panose="02020603050405020304" pitchFamily="18" charset="0"/>
              </a:rPr>
              <a:t> and S. </a:t>
            </a:r>
            <a:r>
              <a:rPr lang="en-US" dirty="0" err="1">
                <a:latin typeface="Times New Roman" panose="02020603050405020304" pitchFamily="18" charset="0"/>
                <a:cs typeface="Times New Roman" panose="02020603050405020304" pitchFamily="18" charset="0"/>
              </a:rPr>
              <a:t>Peker</a:t>
            </a:r>
            <a:r>
              <a:rPr lang="en-US" dirty="0">
                <a:latin typeface="Times New Roman" panose="02020603050405020304" pitchFamily="18" charset="0"/>
                <a:cs typeface="Times New Roman" panose="02020603050405020304" pitchFamily="18" charset="0"/>
              </a:rPr>
              <a:t>, “A classification and re- </a:t>
            </a:r>
            <a:r>
              <a:rPr lang="en-US" dirty="0" err="1">
                <a:latin typeface="Times New Roman" panose="02020603050405020304" pitchFamily="18" charset="0"/>
                <a:cs typeface="Times New Roman" panose="02020603050405020304" pitchFamily="18" charset="0"/>
              </a:rPr>
              <a:t>gression</a:t>
            </a:r>
            <a:r>
              <a:rPr lang="en-US" dirty="0">
                <a:latin typeface="Times New Roman" panose="02020603050405020304" pitchFamily="18" charset="0"/>
                <a:cs typeface="Times New Roman" panose="02020603050405020304" pitchFamily="18" charset="0"/>
              </a:rPr>
              <a:t> tree algorithm for heart disease modeling and prediction,” Healthcare Anal., vol. 3, Nov. 2023</a:t>
            </a:r>
          </a:p>
        </p:txBody>
      </p:sp>
    </p:spTree>
    <p:extLst>
      <p:ext uri="{BB962C8B-B14F-4D97-AF65-F5344CB8AC3E}">
        <p14:creationId xmlns:p14="http://schemas.microsoft.com/office/powerpoint/2010/main" val="741439250"/>
      </p:ext>
    </p:extLst>
  </p:cSld>
  <p:clrMapOvr>
    <a:masterClrMapping/>
  </p:clrMapOvr>
</p:sld>
</file>

<file path=ppt/theme/theme1.xml><?xml version="1.0" encoding="utf-8"?>
<a:theme xmlns:a="http://schemas.openxmlformats.org/drawingml/2006/main" name="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360</TotalTime>
  <Words>1268</Words>
  <Application>Microsoft Office PowerPoint</Application>
  <PresentationFormat>On-screen Show (4:3)</PresentationFormat>
  <Paragraphs>122</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International Conference on  “Global Convergence in Technology, Entrepreneurship, Computing and Value Engineering: Principles and Practices” (ICGCP—2024)  27th  – 29th April 2024</vt:lpstr>
      <vt:lpstr>Contents</vt:lpstr>
      <vt:lpstr>PowerPoint Presentation</vt:lpstr>
      <vt:lpstr>Introduction</vt:lpstr>
      <vt:lpstr>Literature Review</vt:lpstr>
      <vt:lpstr>PowerPoint Presentation</vt:lpstr>
      <vt:lpstr>Materials </vt:lpstr>
      <vt:lpstr>MODULES DESCRIPTION</vt:lpstr>
      <vt:lpstr>PowerPoint Presentation</vt:lpstr>
      <vt:lpstr>PowerPoint Presentation</vt:lpstr>
      <vt:lpstr>Results </vt:lpstr>
      <vt:lpstr>PowerPoint Presentation</vt:lpstr>
      <vt:lpstr>PowerPoint Presentation</vt:lpstr>
      <vt:lpstr>Conclusion</vt:lpstr>
      <vt:lpstr>Acknowledgement</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Divya N</dc:creator>
  <cp:lastModifiedBy>Shravan L _SG20CS100</cp:lastModifiedBy>
  <cp:revision>20</cp:revision>
  <dcterms:created xsi:type="dcterms:W3CDTF">2006-08-16T00:00:00Z</dcterms:created>
  <dcterms:modified xsi:type="dcterms:W3CDTF">2024-04-27T06:35:26Z</dcterms:modified>
</cp:coreProperties>
</file>
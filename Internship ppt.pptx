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959" r:id="rId1"/>
  </p:sldMasterIdLst>
  <p:notesMasterIdLst>
    <p:notesMasterId r:id="rId29"/>
  </p:notesMasterIdLst>
  <p:handoutMasterIdLst>
    <p:handoutMasterId r:id="rId30"/>
  </p:handoutMasterIdLst>
  <p:sldIdLst>
    <p:sldId id="290" r:id="rId2"/>
    <p:sldId id="291" r:id="rId3"/>
    <p:sldId id="294" r:id="rId4"/>
    <p:sldId id="293" r:id="rId5"/>
    <p:sldId id="295" r:id="rId6"/>
    <p:sldId id="301" r:id="rId7"/>
    <p:sldId id="315" r:id="rId8"/>
    <p:sldId id="296" r:id="rId9"/>
    <p:sldId id="297" r:id="rId10"/>
    <p:sldId id="298" r:id="rId11"/>
    <p:sldId id="302" r:id="rId12"/>
    <p:sldId id="304" r:id="rId13"/>
    <p:sldId id="305" r:id="rId14"/>
    <p:sldId id="307" r:id="rId15"/>
    <p:sldId id="306" r:id="rId16"/>
    <p:sldId id="308" r:id="rId17"/>
    <p:sldId id="267" r:id="rId18"/>
    <p:sldId id="313" r:id="rId19"/>
    <p:sldId id="314" r:id="rId20"/>
    <p:sldId id="309" r:id="rId21"/>
    <p:sldId id="310" r:id="rId22"/>
    <p:sldId id="311" r:id="rId23"/>
    <p:sldId id="270" r:id="rId24"/>
    <p:sldId id="278" r:id="rId25"/>
    <p:sldId id="299" r:id="rId26"/>
    <p:sldId id="312" r:id="rId27"/>
    <p:sldId id="300" r:id="rId28"/>
  </p:sldIdLst>
  <p:sldSz cx="12192000" cy="6858000"/>
  <p:notesSz cx="12192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3741" autoAdjust="0"/>
  </p:normalViewPr>
  <p:slideViewPr>
    <p:cSldViewPr>
      <p:cViewPr varScale="1">
        <p:scale>
          <a:sx n="80" d="100"/>
          <a:sy n="80" d="100"/>
        </p:scale>
        <p:origin x="773" y="4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Accuracy Score</c:v>
                </c:pt>
              </c:strCache>
            </c:strRef>
          </c:tx>
          <c:explosion val="5"/>
          <c:dPt>
            <c:idx val="0"/>
            <c:bubble3D val="0"/>
            <c:explosion val="4"/>
            <c:spPr>
              <a:solidFill>
                <a:schemeClr val="accent6"/>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2CFD-474A-B4DC-EE194CA10EAE}"/>
              </c:ext>
            </c:extLst>
          </c:dPt>
          <c:dPt>
            <c:idx val="1"/>
            <c:bubble3D val="0"/>
            <c:spPr>
              <a:solidFill>
                <a:schemeClr val="accent5"/>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2CFD-474A-B4DC-EE194CA10EAE}"/>
              </c:ext>
            </c:extLst>
          </c:dPt>
          <c:dPt>
            <c:idx val="2"/>
            <c:bubble3D val="0"/>
            <c:spPr>
              <a:solidFill>
                <a:schemeClr val="accent4"/>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5-2CFD-474A-B4DC-EE194CA10EAE}"/>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33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Sheet1!$A$2:$A$4</c:f>
              <c:strCache>
                <c:ptCount val="3"/>
                <c:pt idx="0">
                  <c:v>Logistic Regression</c:v>
                </c:pt>
                <c:pt idx="1">
                  <c:v>Naïve Bayes</c:v>
                </c:pt>
                <c:pt idx="2">
                  <c:v>Random Forest</c:v>
                </c:pt>
              </c:strCache>
            </c:strRef>
          </c:cat>
          <c:val>
            <c:numRef>
              <c:f>Sheet1!$B$2:$B$4</c:f>
              <c:numCache>
                <c:formatCode>General</c:formatCode>
                <c:ptCount val="3"/>
                <c:pt idx="0">
                  <c:v>0.94331122512819998</c:v>
                </c:pt>
                <c:pt idx="1">
                  <c:v>0.93567763729999998</c:v>
                </c:pt>
                <c:pt idx="2">
                  <c:v>0.94268552121000004</c:v>
                </c:pt>
              </c:numCache>
            </c:numRef>
          </c:val>
          <c:extLst>
            <c:ext xmlns:c16="http://schemas.microsoft.com/office/drawing/2014/chart" uri="{C3380CC4-5D6E-409C-BE32-E72D297353CC}">
              <c16:uniqueId val="{00000006-2CFD-474A-B4DC-EE194CA10EAE}"/>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33DB652A-B8BC-4A9F-AFDE-541B0C610B08}" type="datetimeFigureOut">
              <a:rPr lang="en-IN" smtClean="0"/>
              <a:pPr/>
              <a:t>16-04-2024</a:t>
            </a:fld>
            <a:endParaRPr lang="en-IN"/>
          </a:p>
        </p:txBody>
      </p:sp>
      <p:sp>
        <p:nvSpPr>
          <p:cNvPr id="4" name="Footer Placeholder 3"/>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r>
              <a:rPr lang="en-IN"/>
              <a:t>Spam Text Detection</a:t>
            </a:r>
          </a:p>
        </p:txBody>
      </p:sp>
      <p:sp>
        <p:nvSpPr>
          <p:cNvPr id="5" name="Slide Number Placeholder 4"/>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2BB03F7C-B95D-46DE-B77B-7D83A1EB7AF4}" type="slidenum">
              <a:rPr lang="en-IN" smtClean="0"/>
              <a:pPr/>
              <a:t>‹#›</a:t>
            </a:fld>
            <a:endParaRPr lang="en-IN"/>
          </a:p>
        </p:txBody>
      </p:sp>
    </p:spTree>
    <p:extLst>
      <p:ext uri="{BB962C8B-B14F-4D97-AF65-F5344CB8AC3E}">
        <p14:creationId xmlns:p14="http://schemas.microsoft.com/office/powerpoint/2010/main" val="848316062"/>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45BE0DD3-4EAA-4853-85A8-706472752C71}" type="datetimeFigureOut">
              <a:rPr lang="en-IN" smtClean="0"/>
              <a:pPr/>
              <a:t>16-04-2024</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r>
              <a:rPr lang="en-IN"/>
              <a:t>Spam Text Detection</a:t>
            </a:r>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A0125E42-798C-4A5D-98CB-30EBC1612B41}" type="slidenum">
              <a:rPr lang="en-IN" smtClean="0"/>
              <a:pPr/>
              <a:t>‹#›</a:t>
            </a:fld>
            <a:endParaRPr lang="en-IN"/>
          </a:p>
        </p:txBody>
      </p:sp>
    </p:spTree>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Footer Placeholder 3"/>
          <p:cNvSpPr>
            <a:spLocks noGrp="1"/>
          </p:cNvSpPr>
          <p:nvPr>
            <p:ph type="ftr" sz="quarter" idx="4"/>
          </p:nvPr>
        </p:nvSpPr>
        <p:spPr/>
        <p:txBody>
          <a:bodyPr/>
          <a:lstStyle/>
          <a:p>
            <a:r>
              <a:rPr lang="en-IN"/>
              <a:t>Spam Text Detection</a:t>
            </a:r>
          </a:p>
        </p:txBody>
      </p:sp>
      <p:sp>
        <p:nvSpPr>
          <p:cNvPr id="5" name="Slide Number Placeholder 4"/>
          <p:cNvSpPr>
            <a:spLocks noGrp="1"/>
          </p:cNvSpPr>
          <p:nvPr>
            <p:ph type="sldNum" sz="quarter" idx="5"/>
          </p:nvPr>
        </p:nvSpPr>
        <p:spPr/>
        <p:txBody>
          <a:bodyPr/>
          <a:lstStyle/>
          <a:p>
            <a:fld id="{A0125E42-798C-4A5D-98CB-30EBC1612B41}" type="slidenum">
              <a:rPr lang="en-IN" smtClean="0"/>
              <a:pPr/>
              <a:t>10</a:t>
            </a:fld>
            <a:endParaRPr lang="en-IN"/>
          </a:p>
        </p:txBody>
      </p:sp>
    </p:spTree>
    <p:extLst>
      <p:ext uri="{BB962C8B-B14F-4D97-AF65-F5344CB8AC3E}">
        <p14:creationId xmlns:p14="http://schemas.microsoft.com/office/powerpoint/2010/main" val="14836531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94C95D9-520F-4887-B45E-CF906F700CE9}" type="datetime1">
              <a:rPr lang="en-US" smtClean="0"/>
              <a:pPr/>
              <a:t>4/16/2024</a:t>
            </a:fld>
            <a:endParaRPr lang="en-US"/>
          </a:p>
        </p:txBody>
      </p:sp>
      <p:sp>
        <p:nvSpPr>
          <p:cNvPr id="5" name="Footer Placeholder 4"/>
          <p:cNvSpPr>
            <a:spLocks noGrp="1"/>
          </p:cNvSpPr>
          <p:nvPr>
            <p:ph type="ftr" sz="quarter" idx="11"/>
          </p:nvPr>
        </p:nvSpPr>
        <p:spPr/>
        <p:txBody>
          <a:bodyPr/>
          <a:lstStyle/>
          <a:p>
            <a:r>
              <a:rPr lang="en-IN"/>
              <a:t>spam</a:t>
            </a:r>
          </a:p>
        </p:txBody>
      </p:sp>
      <p:sp>
        <p:nvSpPr>
          <p:cNvPr id="6" name="Slide Number Placeholder 5"/>
          <p:cNvSpPr>
            <a:spLocks noGrp="1"/>
          </p:cNvSpPr>
          <p:nvPr>
            <p:ph type="sldNum" sz="quarter" idx="12"/>
          </p:nvPr>
        </p:nvSpPr>
        <p:spPr/>
        <p:txBody>
          <a:bodyPr/>
          <a:lstStyle/>
          <a:p>
            <a:fld id="{B6F15528-21DE-4FAA-801E-634DDDAF4B2B}" type="slidenum">
              <a:rPr lang="en-IN" smtClean="0"/>
              <a:pPr/>
              <a:t>‹#›</a:t>
            </a:fld>
            <a:endParaRPr lang="en-IN"/>
          </a:p>
        </p:txBody>
      </p:sp>
    </p:spTree>
    <p:extLst>
      <p:ext uri="{BB962C8B-B14F-4D97-AF65-F5344CB8AC3E}">
        <p14:creationId xmlns:p14="http://schemas.microsoft.com/office/powerpoint/2010/main" val="1290920342"/>
      </p:ext>
    </p:extLst>
  </p:cSld>
  <p:clrMapOvr>
    <a:masterClrMapping/>
  </p:clrMapOvr>
  <p:transition spd="slow">
    <p:comb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D79367-CADE-4D4C-80BD-A7D78992066B}" type="datetime1">
              <a:rPr lang="en-US" smtClean="0"/>
              <a:pPr/>
              <a:t>4/16/2024</a:t>
            </a:fld>
            <a:endParaRPr lang="en-US"/>
          </a:p>
        </p:txBody>
      </p:sp>
      <p:sp>
        <p:nvSpPr>
          <p:cNvPr id="5" name="Footer Placeholder 4"/>
          <p:cNvSpPr>
            <a:spLocks noGrp="1"/>
          </p:cNvSpPr>
          <p:nvPr>
            <p:ph type="ftr" sz="quarter" idx="11"/>
          </p:nvPr>
        </p:nvSpPr>
        <p:spPr/>
        <p:txBody>
          <a:bodyPr/>
          <a:lstStyle/>
          <a:p>
            <a:r>
              <a:rPr lang="en-IN"/>
              <a:t>spam</a:t>
            </a:r>
          </a:p>
        </p:txBody>
      </p:sp>
      <p:sp>
        <p:nvSpPr>
          <p:cNvPr id="6" name="Slide Number Placeholder 5"/>
          <p:cNvSpPr>
            <a:spLocks noGrp="1"/>
          </p:cNvSpPr>
          <p:nvPr>
            <p:ph type="sldNum" sz="quarter" idx="12"/>
          </p:nvPr>
        </p:nvSpPr>
        <p:spPr/>
        <p:txBody>
          <a:bodyPr/>
          <a:lstStyle/>
          <a:p>
            <a:fld id="{B6F15528-21DE-4FAA-801E-634DDDAF4B2B}" type="slidenum">
              <a:rPr lang="en-IN" smtClean="0"/>
              <a:pPr/>
              <a:t>‹#›</a:t>
            </a:fld>
            <a:endParaRPr lang="en-IN"/>
          </a:p>
        </p:txBody>
      </p:sp>
    </p:spTree>
    <p:extLst>
      <p:ext uri="{BB962C8B-B14F-4D97-AF65-F5344CB8AC3E}">
        <p14:creationId xmlns:p14="http://schemas.microsoft.com/office/powerpoint/2010/main" val="2834394622"/>
      </p:ext>
    </p:extLst>
  </p:cSld>
  <p:clrMapOvr>
    <a:masterClrMapping/>
  </p:clrMapOvr>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874E91-F1C0-4AB5-89E0-7FC6D8DF701A}" type="datetime1">
              <a:rPr lang="en-US" smtClean="0"/>
              <a:pPr/>
              <a:t>4/16/2024</a:t>
            </a:fld>
            <a:endParaRPr lang="en-US"/>
          </a:p>
        </p:txBody>
      </p:sp>
      <p:sp>
        <p:nvSpPr>
          <p:cNvPr id="5" name="Footer Placeholder 4"/>
          <p:cNvSpPr>
            <a:spLocks noGrp="1"/>
          </p:cNvSpPr>
          <p:nvPr>
            <p:ph type="ftr" sz="quarter" idx="11"/>
          </p:nvPr>
        </p:nvSpPr>
        <p:spPr/>
        <p:txBody>
          <a:bodyPr/>
          <a:lstStyle/>
          <a:p>
            <a:r>
              <a:rPr lang="en-IN"/>
              <a:t>spam</a:t>
            </a:r>
          </a:p>
        </p:txBody>
      </p:sp>
      <p:sp>
        <p:nvSpPr>
          <p:cNvPr id="6" name="Slide Number Placeholder 5"/>
          <p:cNvSpPr>
            <a:spLocks noGrp="1"/>
          </p:cNvSpPr>
          <p:nvPr>
            <p:ph type="sldNum" sz="quarter" idx="12"/>
          </p:nvPr>
        </p:nvSpPr>
        <p:spPr/>
        <p:txBody>
          <a:bodyPr/>
          <a:lstStyle/>
          <a:p>
            <a:fld id="{B6F15528-21DE-4FAA-801E-634DDDAF4B2B}" type="slidenum">
              <a:rPr lang="en-IN" smtClean="0"/>
              <a:pPr/>
              <a:t>‹#›</a:t>
            </a:fld>
            <a:endParaRPr lang="en-IN"/>
          </a:p>
        </p:txBody>
      </p:sp>
    </p:spTree>
    <p:extLst>
      <p:ext uri="{BB962C8B-B14F-4D97-AF65-F5344CB8AC3E}">
        <p14:creationId xmlns:p14="http://schemas.microsoft.com/office/powerpoint/2010/main" val="2086135681"/>
      </p:ext>
    </p:extLst>
  </p:cSld>
  <p:clrMapOvr>
    <a:masterClrMapping/>
  </p:clrMapOvr>
  <p:transition spd="slow">
    <p:comb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1D79367-CADE-4D4C-80BD-A7D78992066B}" type="datetime1">
              <a:rPr lang="en-US" smtClean="0"/>
              <a:pPr/>
              <a:t>4/16/2024</a:t>
            </a:fld>
            <a:endParaRPr lang="en-US"/>
          </a:p>
        </p:txBody>
      </p:sp>
      <p:sp>
        <p:nvSpPr>
          <p:cNvPr id="6" name="Footer Placeholder 5"/>
          <p:cNvSpPr>
            <a:spLocks noGrp="1"/>
          </p:cNvSpPr>
          <p:nvPr>
            <p:ph type="ftr" sz="quarter" idx="11"/>
          </p:nvPr>
        </p:nvSpPr>
        <p:spPr/>
        <p:txBody>
          <a:bodyPr/>
          <a:lstStyle/>
          <a:p>
            <a:r>
              <a:rPr lang="en-IN"/>
              <a:t>spam</a:t>
            </a:r>
          </a:p>
        </p:txBody>
      </p:sp>
      <p:sp>
        <p:nvSpPr>
          <p:cNvPr id="7" name="Slide Number Placeholder 6"/>
          <p:cNvSpPr>
            <a:spLocks noGrp="1"/>
          </p:cNvSpPr>
          <p:nvPr>
            <p:ph type="sldNum" sz="quarter" idx="12"/>
          </p:nvPr>
        </p:nvSpPr>
        <p:spPr/>
        <p:txBody>
          <a:bodyPr/>
          <a:lstStyle/>
          <a:p>
            <a:fld id="{B6F15528-21DE-4FAA-801E-634DDDAF4B2B}" type="slidenum">
              <a:rPr lang="en-IN" smtClean="0"/>
              <a:pPr/>
              <a:t>‹#›</a:t>
            </a:fld>
            <a:endParaRPr lang="en-IN"/>
          </a:p>
        </p:txBody>
      </p:sp>
    </p:spTree>
    <p:extLst>
      <p:ext uri="{BB962C8B-B14F-4D97-AF65-F5344CB8AC3E}">
        <p14:creationId xmlns:p14="http://schemas.microsoft.com/office/powerpoint/2010/main" val="2554519923"/>
      </p:ext>
    </p:extLst>
  </p:cSld>
  <p:clrMapOvr>
    <a:masterClrMapping/>
  </p:clrMapOvr>
  <p:hf sldNum="0"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1D79367-CADE-4D4C-80BD-A7D78992066B}" type="datetime1">
              <a:rPr lang="en-US" smtClean="0"/>
              <a:pPr/>
              <a:t>4/16/2024</a:t>
            </a:fld>
            <a:endParaRPr lang="en-US"/>
          </a:p>
        </p:txBody>
      </p:sp>
      <p:sp>
        <p:nvSpPr>
          <p:cNvPr id="8" name="Footer Placeholder 7"/>
          <p:cNvSpPr>
            <a:spLocks noGrp="1"/>
          </p:cNvSpPr>
          <p:nvPr>
            <p:ph type="ftr" sz="quarter" idx="11"/>
          </p:nvPr>
        </p:nvSpPr>
        <p:spPr/>
        <p:txBody>
          <a:bodyPr/>
          <a:lstStyle/>
          <a:p>
            <a:r>
              <a:rPr lang="en-IN"/>
              <a:t>spam</a:t>
            </a:r>
          </a:p>
        </p:txBody>
      </p:sp>
      <p:sp>
        <p:nvSpPr>
          <p:cNvPr id="9" name="Slide Number Placeholder 8"/>
          <p:cNvSpPr>
            <a:spLocks noGrp="1"/>
          </p:cNvSpPr>
          <p:nvPr>
            <p:ph type="sldNum" sz="quarter" idx="12"/>
          </p:nvPr>
        </p:nvSpPr>
        <p:spPr/>
        <p:txBody>
          <a:bodyPr/>
          <a:lstStyle/>
          <a:p>
            <a:fld id="{B6F15528-21DE-4FAA-801E-634DDDAF4B2B}" type="slidenum">
              <a:rPr lang="en-IN" smtClean="0"/>
              <a:pPr/>
              <a:t>‹#›</a:t>
            </a:fld>
            <a:endParaRPr lang="en-IN"/>
          </a:p>
        </p:txBody>
      </p:sp>
    </p:spTree>
    <p:extLst>
      <p:ext uri="{BB962C8B-B14F-4D97-AF65-F5344CB8AC3E}">
        <p14:creationId xmlns:p14="http://schemas.microsoft.com/office/powerpoint/2010/main" val="982830336"/>
      </p:ext>
    </p:extLst>
  </p:cSld>
  <p:clrMapOvr>
    <a:masterClrMapping/>
  </p:clrMapOvr>
  <p:hf sldNum="0"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1AEDC89-170B-4012-A754-5F3350BA3432}" type="datetime1">
              <a:rPr lang="en-US" smtClean="0"/>
              <a:pPr/>
              <a:t>4/16/2024</a:t>
            </a:fld>
            <a:endParaRPr lang="en-US"/>
          </a:p>
        </p:txBody>
      </p:sp>
      <p:sp>
        <p:nvSpPr>
          <p:cNvPr id="4" name="Footer Placeholder 3"/>
          <p:cNvSpPr>
            <a:spLocks noGrp="1"/>
          </p:cNvSpPr>
          <p:nvPr>
            <p:ph type="ftr" sz="quarter" idx="11"/>
          </p:nvPr>
        </p:nvSpPr>
        <p:spPr/>
        <p:txBody>
          <a:bodyPr/>
          <a:lstStyle/>
          <a:p>
            <a:r>
              <a:rPr lang="en-IN"/>
              <a:t>spam</a:t>
            </a:r>
          </a:p>
        </p:txBody>
      </p:sp>
      <p:sp>
        <p:nvSpPr>
          <p:cNvPr id="5" name="Slide Number Placeholder 4"/>
          <p:cNvSpPr>
            <a:spLocks noGrp="1"/>
          </p:cNvSpPr>
          <p:nvPr>
            <p:ph type="sldNum" sz="quarter" idx="12"/>
          </p:nvPr>
        </p:nvSpPr>
        <p:spPr/>
        <p:txBody>
          <a:bodyPr/>
          <a:lstStyle/>
          <a:p>
            <a:fld id="{B6F15528-21DE-4FAA-801E-634DDDAF4B2B}" type="slidenum">
              <a:rPr lang="en-IN" smtClean="0"/>
              <a:pPr/>
              <a:t>‹#›</a:t>
            </a:fld>
            <a:endParaRPr lang="en-IN"/>
          </a:p>
        </p:txBody>
      </p:sp>
    </p:spTree>
    <p:extLst>
      <p:ext uri="{BB962C8B-B14F-4D97-AF65-F5344CB8AC3E}">
        <p14:creationId xmlns:p14="http://schemas.microsoft.com/office/powerpoint/2010/main" val="3030747243"/>
      </p:ext>
    </p:extLst>
  </p:cSld>
  <p:clrMapOvr>
    <a:masterClrMapping/>
  </p:clrMapOvr>
  <p:transition spd="slow">
    <p:comb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D51613-17B7-4F42-916F-65CFB08DD746}" type="datetime1">
              <a:rPr lang="en-US" smtClean="0"/>
              <a:pPr/>
              <a:t>4/16/2024</a:t>
            </a:fld>
            <a:endParaRPr lang="en-US"/>
          </a:p>
        </p:txBody>
      </p:sp>
      <p:sp>
        <p:nvSpPr>
          <p:cNvPr id="3" name="Footer Placeholder 2"/>
          <p:cNvSpPr>
            <a:spLocks noGrp="1"/>
          </p:cNvSpPr>
          <p:nvPr>
            <p:ph type="ftr" sz="quarter" idx="11"/>
          </p:nvPr>
        </p:nvSpPr>
        <p:spPr/>
        <p:txBody>
          <a:bodyPr/>
          <a:lstStyle/>
          <a:p>
            <a:r>
              <a:rPr lang="en-IN"/>
              <a:t>spam</a:t>
            </a:r>
          </a:p>
        </p:txBody>
      </p:sp>
      <p:sp>
        <p:nvSpPr>
          <p:cNvPr id="4" name="Slide Number Placeholder 3"/>
          <p:cNvSpPr>
            <a:spLocks noGrp="1"/>
          </p:cNvSpPr>
          <p:nvPr>
            <p:ph type="sldNum" sz="quarter" idx="12"/>
          </p:nvPr>
        </p:nvSpPr>
        <p:spPr/>
        <p:txBody>
          <a:bodyPr/>
          <a:lstStyle/>
          <a:p>
            <a:fld id="{B6F15528-21DE-4FAA-801E-634DDDAF4B2B}" type="slidenum">
              <a:rPr lang="en-IN" smtClean="0"/>
              <a:pPr/>
              <a:t>‹#›</a:t>
            </a:fld>
            <a:endParaRPr lang="en-IN"/>
          </a:p>
        </p:txBody>
      </p:sp>
    </p:spTree>
    <p:extLst>
      <p:ext uri="{BB962C8B-B14F-4D97-AF65-F5344CB8AC3E}">
        <p14:creationId xmlns:p14="http://schemas.microsoft.com/office/powerpoint/2010/main" val="1073101776"/>
      </p:ext>
    </p:extLst>
  </p:cSld>
  <p:clrMapOvr>
    <a:masterClrMapping/>
  </p:clrMapOvr>
  <p:transition spd="slow">
    <p:comb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D79367-CADE-4D4C-80BD-A7D78992066B}" type="datetime1">
              <a:rPr lang="en-US" smtClean="0"/>
              <a:pPr/>
              <a:t>4/16/2024</a:t>
            </a:fld>
            <a:endParaRPr lang="en-US"/>
          </a:p>
        </p:txBody>
      </p:sp>
      <p:sp>
        <p:nvSpPr>
          <p:cNvPr id="6" name="Footer Placeholder 5"/>
          <p:cNvSpPr>
            <a:spLocks noGrp="1"/>
          </p:cNvSpPr>
          <p:nvPr>
            <p:ph type="ftr" sz="quarter" idx="11"/>
          </p:nvPr>
        </p:nvSpPr>
        <p:spPr/>
        <p:txBody>
          <a:bodyPr/>
          <a:lstStyle/>
          <a:p>
            <a:r>
              <a:rPr lang="en-IN"/>
              <a:t>spam</a:t>
            </a:r>
          </a:p>
        </p:txBody>
      </p:sp>
      <p:sp>
        <p:nvSpPr>
          <p:cNvPr id="7" name="Slide Number Placeholder 6"/>
          <p:cNvSpPr>
            <a:spLocks noGrp="1"/>
          </p:cNvSpPr>
          <p:nvPr>
            <p:ph type="sldNum" sz="quarter" idx="12"/>
          </p:nvPr>
        </p:nvSpPr>
        <p:spPr/>
        <p:txBody>
          <a:bodyPr/>
          <a:lstStyle/>
          <a:p>
            <a:fld id="{B6F15528-21DE-4FAA-801E-634DDDAF4B2B}" type="slidenum">
              <a:rPr lang="en-IN" smtClean="0"/>
              <a:pPr/>
              <a:t>‹#›</a:t>
            </a:fld>
            <a:endParaRPr lang="en-IN"/>
          </a:p>
        </p:txBody>
      </p:sp>
    </p:spTree>
    <p:extLst>
      <p:ext uri="{BB962C8B-B14F-4D97-AF65-F5344CB8AC3E}">
        <p14:creationId xmlns:p14="http://schemas.microsoft.com/office/powerpoint/2010/main" val="2327925291"/>
      </p:ext>
    </p:extLst>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CE93436-9CC0-4235-A1D6-7B581440AEC1}" type="datetime1">
              <a:rPr lang="en-US" smtClean="0"/>
              <a:pPr/>
              <a:t>4/16/2024</a:t>
            </a:fld>
            <a:endParaRPr lang="en-US"/>
          </a:p>
        </p:txBody>
      </p:sp>
      <p:sp>
        <p:nvSpPr>
          <p:cNvPr id="6" name="Footer Placeholder 5"/>
          <p:cNvSpPr>
            <a:spLocks noGrp="1"/>
          </p:cNvSpPr>
          <p:nvPr>
            <p:ph type="ftr" sz="quarter" idx="11"/>
          </p:nvPr>
        </p:nvSpPr>
        <p:spPr/>
        <p:txBody>
          <a:bodyPr/>
          <a:lstStyle/>
          <a:p>
            <a:r>
              <a:rPr lang="en-IN"/>
              <a:t>spam</a:t>
            </a:r>
          </a:p>
        </p:txBody>
      </p:sp>
      <p:sp>
        <p:nvSpPr>
          <p:cNvPr id="7" name="Slide Number Placeholder 6"/>
          <p:cNvSpPr>
            <a:spLocks noGrp="1"/>
          </p:cNvSpPr>
          <p:nvPr>
            <p:ph type="sldNum" sz="quarter" idx="12"/>
          </p:nvPr>
        </p:nvSpPr>
        <p:spPr/>
        <p:txBody>
          <a:bodyPr/>
          <a:lstStyle/>
          <a:p>
            <a:fld id="{B6F15528-21DE-4FAA-801E-634DDDAF4B2B}" type="slidenum">
              <a:rPr lang="en-IN" smtClean="0"/>
              <a:pPr/>
              <a:t>‹#›</a:t>
            </a:fld>
            <a:endParaRPr lang="en-IN"/>
          </a:p>
        </p:txBody>
      </p:sp>
    </p:spTree>
    <p:extLst>
      <p:ext uri="{BB962C8B-B14F-4D97-AF65-F5344CB8AC3E}">
        <p14:creationId xmlns:p14="http://schemas.microsoft.com/office/powerpoint/2010/main" val="1314170206"/>
      </p:ext>
    </p:extLst>
  </p:cSld>
  <p:clrMapOvr>
    <a:masterClrMapping/>
  </p:clrMapOvr>
  <p:transition spd="slow">
    <p:comb dir="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1D79367-CADE-4D4C-80BD-A7D78992066B}" type="datetime1">
              <a:rPr lang="en-US" smtClean="0"/>
              <a:pPr/>
              <a:t>4/16/2024</a:t>
            </a:fld>
            <a:endParaRPr lang="en-US"/>
          </a:p>
        </p:txBody>
      </p:sp>
      <p:sp>
        <p:nvSpPr>
          <p:cNvPr id="5" name="Footer Placeholder 4"/>
          <p:cNvSpPr>
            <a:spLocks noGrp="1"/>
          </p:cNvSpPr>
          <p:nvPr>
            <p:ph type="ftr" sz="quarter" idx="11"/>
          </p:nvPr>
        </p:nvSpPr>
        <p:spPr/>
        <p:txBody>
          <a:bodyPr/>
          <a:lstStyle/>
          <a:p>
            <a:r>
              <a:rPr lang="en-IN"/>
              <a:t>spam</a:t>
            </a:r>
          </a:p>
        </p:txBody>
      </p:sp>
      <p:sp>
        <p:nvSpPr>
          <p:cNvPr id="6" name="Slide Number Placeholder 5"/>
          <p:cNvSpPr>
            <a:spLocks noGrp="1"/>
          </p:cNvSpPr>
          <p:nvPr>
            <p:ph type="sldNum" sz="quarter" idx="12"/>
          </p:nvPr>
        </p:nvSpPr>
        <p:spPr/>
        <p:txBody>
          <a:bodyPr/>
          <a:lstStyle/>
          <a:p>
            <a:fld id="{B6F15528-21DE-4FAA-801E-634DDDAF4B2B}" type="slidenum">
              <a:rPr lang="en-IN" smtClean="0"/>
              <a:pPr/>
              <a:t>‹#›</a:t>
            </a:fld>
            <a:endParaRPr lang="en-IN"/>
          </a:p>
        </p:txBody>
      </p:sp>
    </p:spTree>
    <p:extLst>
      <p:ext uri="{BB962C8B-B14F-4D97-AF65-F5344CB8AC3E}">
        <p14:creationId xmlns:p14="http://schemas.microsoft.com/office/powerpoint/2010/main" val="310580240"/>
      </p:ext>
    </p:extLst>
  </p:cSld>
  <p:clrMapOvr>
    <a:masterClrMapping/>
  </p:clrMapOvr>
  <p:hf sldNum="0"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1D79367-CADE-4D4C-80BD-A7D78992066B}" type="datetime1">
              <a:rPr lang="en-US" smtClean="0"/>
              <a:pPr/>
              <a:t>4/16/2024</a:t>
            </a:fld>
            <a:endParaRPr lang="en-US"/>
          </a:p>
        </p:txBody>
      </p:sp>
      <p:sp>
        <p:nvSpPr>
          <p:cNvPr id="5" name="Footer Placeholder 4"/>
          <p:cNvSpPr>
            <a:spLocks noGrp="1"/>
          </p:cNvSpPr>
          <p:nvPr>
            <p:ph type="ftr" sz="quarter" idx="11"/>
          </p:nvPr>
        </p:nvSpPr>
        <p:spPr/>
        <p:txBody>
          <a:bodyPr/>
          <a:lstStyle/>
          <a:p>
            <a:r>
              <a:rPr lang="en-IN"/>
              <a:t>spam</a:t>
            </a:r>
          </a:p>
        </p:txBody>
      </p:sp>
      <p:sp>
        <p:nvSpPr>
          <p:cNvPr id="6" name="Slide Number Placeholder 5"/>
          <p:cNvSpPr>
            <a:spLocks noGrp="1"/>
          </p:cNvSpPr>
          <p:nvPr>
            <p:ph type="sldNum" sz="quarter" idx="12"/>
          </p:nvPr>
        </p:nvSpPr>
        <p:spPr/>
        <p:txBody>
          <a:bodyPr/>
          <a:lstStyle/>
          <a:p>
            <a:fld id="{B6F15528-21DE-4FAA-801E-634DDDAF4B2B}" type="slidenum">
              <a:rPr lang="en-IN" smtClean="0"/>
              <a:pPr/>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763402949"/>
      </p:ext>
    </p:extLst>
  </p:cSld>
  <p:clrMapOvr>
    <a:masterClrMapping/>
  </p:clrMapOvr>
  <p:hf sldNum="0"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1D79367-CADE-4D4C-80BD-A7D78992066B}" type="datetime1">
              <a:rPr lang="en-US" smtClean="0"/>
              <a:pPr/>
              <a:t>4/16/2024</a:t>
            </a:fld>
            <a:endParaRPr lang="en-US"/>
          </a:p>
        </p:txBody>
      </p:sp>
      <p:sp>
        <p:nvSpPr>
          <p:cNvPr id="5" name="Footer Placeholder 4"/>
          <p:cNvSpPr>
            <a:spLocks noGrp="1"/>
          </p:cNvSpPr>
          <p:nvPr>
            <p:ph type="ftr" sz="quarter" idx="11"/>
          </p:nvPr>
        </p:nvSpPr>
        <p:spPr/>
        <p:txBody>
          <a:bodyPr/>
          <a:lstStyle/>
          <a:p>
            <a:r>
              <a:rPr lang="en-IN"/>
              <a:t>spam</a:t>
            </a:r>
          </a:p>
        </p:txBody>
      </p:sp>
      <p:sp>
        <p:nvSpPr>
          <p:cNvPr id="6" name="Slide Number Placeholder 5"/>
          <p:cNvSpPr>
            <a:spLocks noGrp="1"/>
          </p:cNvSpPr>
          <p:nvPr>
            <p:ph type="sldNum" sz="quarter" idx="12"/>
          </p:nvPr>
        </p:nvSpPr>
        <p:spPr/>
        <p:txBody>
          <a:bodyPr/>
          <a:lstStyle/>
          <a:p>
            <a:fld id="{B6F15528-21DE-4FAA-801E-634DDDAF4B2B}" type="slidenum">
              <a:rPr lang="en-IN" smtClean="0"/>
              <a:pPr/>
              <a:t>‹#›</a:t>
            </a:fld>
            <a:endParaRPr lang="en-IN"/>
          </a:p>
        </p:txBody>
      </p:sp>
    </p:spTree>
    <p:extLst>
      <p:ext uri="{BB962C8B-B14F-4D97-AF65-F5344CB8AC3E}">
        <p14:creationId xmlns:p14="http://schemas.microsoft.com/office/powerpoint/2010/main" val="2689479003"/>
      </p:ext>
    </p:extLst>
  </p:cSld>
  <p:clrMapOvr>
    <a:masterClrMapping/>
  </p:clrMapOvr>
  <p:hf sldNum="0" hd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1D79367-CADE-4D4C-80BD-A7D78992066B}" type="datetime1">
              <a:rPr lang="en-US" smtClean="0"/>
              <a:pPr/>
              <a:t>4/16/2024</a:t>
            </a:fld>
            <a:endParaRPr lang="en-US"/>
          </a:p>
        </p:txBody>
      </p:sp>
      <p:sp>
        <p:nvSpPr>
          <p:cNvPr id="5" name="Footer Placeholder 4"/>
          <p:cNvSpPr>
            <a:spLocks noGrp="1"/>
          </p:cNvSpPr>
          <p:nvPr>
            <p:ph type="ftr" sz="quarter" idx="11"/>
          </p:nvPr>
        </p:nvSpPr>
        <p:spPr/>
        <p:txBody>
          <a:bodyPr/>
          <a:lstStyle/>
          <a:p>
            <a:r>
              <a:rPr lang="en-IN"/>
              <a:t>spam</a:t>
            </a:r>
          </a:p>
        </p:txBody>
      </p:sp>
      <p:sp>
        <p:nvSpPr>
          <p:cNvPr id="6" name="Slide Number Placeholder 5"/>
          <p:cNvSpPr>
            <a:spLocks noGrp="1"/>
          </p:cNvSpPr>
          <p:nvPr>
            <p:ph type="sldNum" sz="quarter" idx="12"/>
          </p:nvPr>
        </p:nvSpPr>
        <p:spPr/>
        <p:txBody>
          <a:bodyPr/>
          <a:lstStyle/>
          <a:p>
            <a:fld id="{B6F15528-21DE-4FAA-801E-634DDDAF4B2B}" type="slidenum">
              <a:rPr lang="en-IN" smtClean="0"/>
              <a:pPr/>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124475457"/>
      </p:ext>
    </p:extLst>
  </p:cSld>
  <p:clrMapOvr>
    <a:masterClrMapping/>
  </p:clrMapOvr>
  <p:hf sldNum="0"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1D79367-CADE-4D4C-80BD-A7D78992066B}" type="datetime1">
              <a:rPr lang="en-US" smtClean="0"/>
              <a:pPr/>
              <a:t>4/16/2024</a:t>
            </a:fld>
            <a:endParaRPr lang="en-US"/>
          </a:p>
        </p:txBody>
      </p:sp>
      <p:sp>
        <p:nvSpPr>
          <p:cNvPr id="5" name="Footer Placeholder 4"/>
          <p:cNvSpPr>
            <a:spLocks noGrp="1"/>
          </p:cNvSpPr>
          <p:nvPr>
            <p:ph type="ftr" sz="quarter" idx="11"/>
          </p:nvPr>
        </p:nvSpPr>
        <p:spPr/>
        <p:txBody>
          <a:bodyPr/>
          <a:lstStyle/>
          <a:p>
            <a:r>
              <a:rPr lang="en-IN"/>
              <a:t>spam</a:t>
            </a:r>
          </a:p>
        </p:txBody>
      </p:sp>
      <p:sp>
        <p:nvSpPr>
          <p:cNvPr id="6" name="Slide Number Placeholder 5"/>
          <p:cNvSpPr>
            <a:spLocks noGrp="1"/>
          </p:cNvSpPr>
          <p:nvPr>
            <p:ph type="sldNum" sz="quarter" idx="12"/>
          </p:nvPr>
        </p:nvSpPr>
        <p:spPr/>
        <p:txBody>
          <a:bodyPr/>
          <a:lstStyle/>
          <a:p>
            <a:fld id="{B6F15528-21DE-4FAA-801E-634DDDAF4B2B}" type="slidenum">
              <a:rPr lang="en-IN" smtClean="0"/>
              <a:pPr/>
              <a:t>‹#›</a:t>
            </a:fld>
            <a:endParaRPr lang="en-IN"/>
          </a:p>
        </p:txBody>
      </p:sp>
    </p:spTree>
    <p:extLst>
      <p:ext uri="{BB962C8B-B14F-4D97-AF65-F5344CB8AC3E}">
        <p14:creationId xmlns:p14="http://schemas.microsoft.com/office/powerpoint/2010/main" val="3006824554"/>
      </p:ext>
    </p:extLst>
  </p:cSld>
  <p:clrMapOvr>
    <a:masterClrMapping/>
  </p:clrMapOvr>
  <p:hf sldNum="0"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D79367-CADE-4D4C-80BD-A7D78992066B}" type="datetime1">
              <a:rPr lang="en-US" smtClean="0"/>
              <a:pPr/>
              <a:t>4/16/2024</a:t>
            </a:fld>
            <a:endParaRPr lang="en-US"/>
          </a:p>
        </p:txBody>
      </p:sp>
      <p:sp>
        <p:nvSpPr>
          <p:cNvPr id="5" name="Footer Placeholder 4"/>
          <p:cNvSpPr>
            <a:spLocks noGrp="1"/>
          </p:cNvSpPr>
          <p:nvPr>
            <p:ph type="ftr" sz="quarter" idx="11"/>
          </p:nvPr>
        </p:nvSpPr>
        <p:spPr/>
        <p:txBody>
          <a:bodyPr/>
          <a:lstStyle/>
          <a:p>
            <a:r>
              <a:rPr lang="en-IN"/>
              <a:t>spam</a:t>
            </a:r>
          </a:p>
        </p:txBody>
      </p:sp>
      <p:sp>
        <p:nvSpPr>
          <p:cNvPr id="6" name="Slide Number Placeholder 5"/>
          <p:cNvSpPr>
            <a:spLocks noGrp="1"/>
          </p:cNvSpPr>
          <p:nvPr>
            <p:ph type="sldNum" sz="quarter" idx="12"/>
          </p:nvPr>
        </p:nvSpPr>
        <p:spPr/>
        <p:txBody>
          <a:bodyPr/>
          <a:lstStyle/>
          <a:p>
            <a:fld id="{B6F15528-21DE-4FAA-801E-634DDDAF4B2B}" type="slidenum">
              <a:rPr lang="en-IN" smtClean="0"/>
              <a:pPr/>
              <a:t>‹#›</a:t>
            </a:fld>
            <a:endParaRPr lang="en-IN"/>
          </a:p>
        </p:txBody>
      </p:sp>
    </p:spTree>
    <p:extLst>
      <p:ext uri="{BB962C8B-B14F-4D97-AF65-F5344CB8AC3E}">
        <p14:creationId xmlns:p14="http://schemas.microsoft.com/office/powerpoint/2010/main" val="3315242504"/>
      </p:ext>
    </p:extLst>
  </p:cSld>
  <p:clrMapOvr>
    <a:masterClrMapping/>
  </p:clrMapOvr>
  <p:hf sldNum="0"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D79367-CADE-4D4C-80BD-A7D78992066B}" type="datetime1">
              <a:rPr lang="en-US" smtClean="0"/>
              <a:pPr/>
              <a:t>4/16/2024</a:t>
            </a:fld>
            <a:endParaRPr lang="en-US"/>
          </a:p>
        </p:txBody>
      </p:sp>
      <p:sp>
        <p:nvSpPr>
          <p:cNvPr id="5" name="Footer Placeholder 4"/>
          <p:cNvSpPr>
            <a:spLocks noGrp="1"/>
          </p:cNvSpPr>
          <p:nvPr>
            <p:ph type="ftr" sz="quarter" idx="11"/>
          </p:nvPr>
        </p:nvSpPr>
        <p:spPr/>
        <p:txBody>
          <a:bodyPr/>
          <a:lstStyle/>
          <a:p>
            <a:r>
              <a:rPr lang="en-IN"/>
              <a:t>spam</a:t>
            </a:r>
          </a:p>
        </p:txBody>
      </p:sp>
      <p:sp>
        <p:nvSpPr>
          <p:cNvPr id="6" name="Slide Number Placeholder 5"/>
          <p:cNvSpPr>
            <a:spLocks noGrp="1"/>
          </p:cNvSpPr>
          <p:nvPr>
            <p:ph type="sldNum" sz="quarter" idx="12"/>
          </p:nvPr>
        </p:nvSpPr>
        <p:spPr/>
        <p:txBody>
          <a:bodyPr/>
          <a:lstStyle/>
          <a:p>
            <a:fld id="{B6F15528-21DE-4FAA-801E-634DDDAF4B2B}" type="slidenum">
              <a:rPr lang="en-IN" smtClean="0"/>
              <a:pPr/>
              <a:t>‹#›</a:t>
            </a:fld>
            <a:endParaRPr lang="en-IN"/>
          </a:p>
        </p:txBody>
      </p:sp>
    </p:spTree>
    <p:extLst>
      <p:ext uri="{BB962C8B-B14F-4D97-AF65-F5344CB8AC3E}">
        <p14:creationId xmlns:p14="http://schemas.microsoft.com/office/powerpoint/2010/main" val="777493139"/>
      </p:ext>
    </p:extLst>
  </p:cSld>
  <p:clrMapOvr>
    <a:masterClrMapping/>
  </p:clrMapOvr>
  <p:hf sldNum="0"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21D79367-CADE-4D4C-80BD-A7D78992066B}" type="datetime1">
              <a:rPr lang="en-US" smtClean="0"/>
              <a:pPr/>
              <a:t>4/16/2024</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IN"/>
              <a:t>spam</a:t>
            </a:r>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B6F15528-21DE-4FAA-801E-634DDDAF4B2B}" type="slidenum">
              <a:rPr lang="en-IN" smtClean="0"/>
              <a:pPr/>
              <a:t>‹#›</a:t>
            </a:fld>
            <a:endParaRPr lang="en-IN"/>
          </a:p>
        </p:txBody>
      </p:sp>
    </p:spTree>
    <p:extLst>
      <p:ext uri="{BB962C8B-B14F-4D97-AF65-F5344CB8AC3E}">
        <p14:creationId xmlns:p14="http://schemas.microsoft.com/office/powerpoint/2010/main" val="4058575309"/>
      </p:ext>
    </p:extLst>
  </p:cSld>
  <p:clrMap bg1="lt1" tx1="dk1" bg2="lt2" tx2="dk2" accent1="accent1" accent2="accent2" accent3="accent3" accent4="accent4" accent5="accent5" accent6="accent6" hlink="hlink" folHlink="folHlink"/>
  <p:sldLayoutIdLst>
    <p:sldLayoutId id="2147483960" r:id="rId1"/>
    <p:sldLayoutId id="2147483961" r:id="rId2"/>
    <p:sldLayoutId id="2147483962" r:id="rId3"/>
    <p:sldLayoutId id="2147483963" r:id="rId4"/>
    <p:sldLayoutId id="2147483964" r:id="rId5"/>
    <p:sldLayoutId id="2147483965" r:id="rId6"/>
    <p:sldLayoutId id="2147483966" r:id="rId7"/>
    <p:sldLayoutId id="2147483967" r:id="rId8"/>
    <p:sldLayoutId id="2147483968" r:id="rId9"/>
    <p:sldLayoutId id="2147483969" r:id="rId10"/>
    <p:sldLayoutId id="2147483970" r:id="rId11"/>
    <p:sldLayoutId id="2147483971" r:id="rId12"/>
    <p:sldLayoutId id="2147483972" r:id="rId13"/>
    <p:sldLayoutId id="2147483973" r:id="rId14"/>
    <p:sldLayoutId id="2147483974" r:id="rId15"/>
    <p:sldLayoutId id="2147483975" r:id="rId16"/>
  </p:sldLayoutIdLst>
  <p:transition spd="slow">
    <p:comb dir="vert"/>
  </p:transition>
  <p:hf sldNum="0" hd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hyperlink" Target="https://www.geeksforgeeks.org/project-idea-ai-therapist/amp/" TargetMode="Externa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5A20B02-58BE-4F55-B56E-B1FD7F2074AF}"/>
              </a:ext>
            </a:extLst>
          </p:cNvPr>
          <p:cNvSpPr txBox="1"/>
          <p:nvPr/>
        </p:nvSpPr>
        <p:spPr>
          <a:xfrm>
            <a:off x="1600200" y="762000"/>
            <a:ext cx="9378233" cy="1415772"/>
          </a:xfrm>
          <a:prstGeom prst="rect">
            <a:avLst/>
          </a:prstGeom>
          <a:noFill/>
        </p:spPr>
        <p:txBody>
          <a:bodyPr wrap="square">
            <a:spAutoFit/>
          </a:bodyPr>
          <a:lstStyle/>
          <a:p>
            <a:r>
              <a:rPr lang="en-IN" sz="3600" dirty="0">
                <a:solidFill>
                  <a:srgbClr val="FF0000"/>
                </a:solidFill>
                <a:latin typeface="Times New Roman" panose="02020603050405020304" pitchFamily="18" charset="0"/>
                <a:cs typeface="Times New Roman" panose="02020603050405020304" pitchFamily="18" charset="0"/>
              </a:rPr>
              <a:t> SAPTHAGIRI COLLEGE OF ENGINEERING</a:t>
            </a:r>
            <a:br>
              <a:rPr lang="en-IN" sz="2000" dirty="0">
                <a:solidFill>
                  <a:srgbClr val="FF0000"/>
                </a:solidFill>
                <a:latin typeface="Times New Roman" panose="02020603050405020304" pitchFamily="18" charset="0"/>
                <a:cs typeface="Times New Roman" panose="02020603050405020304" pitchFamily="18" charset="0"/>
              </a:rPr>
            </a:br>
            <a:r>
              <a:rPr lang="en-IN" sz="1800" i="1" dirty="0">
                <a:solidFill>
                  <a:schemeClr val="tx1"/>
                </a:solidFill>
                <a:effectLst/>
                <a:latin typeface="Times New Roman" panose="02020603050405020304" pitchFamily="18" charset="0"/>
                <a:cs typeface="Times New Roman" panose="02020603050405020304" pitchFamily="18" charset="0"/>
              </a:rPr>
              <a:t>(Affiliated to Visvesvaraya Technological University, Belagavi &amp; Approved by AICTE, New Delhi)</a:t>
            </a:r>
            <a:br>
              <a:rPr lang="en-IN" sz="2000" dirty="0">
                <a:solidFill>
                  <a:srgbClr val="FF0000"/>
                </a:solidFill>
                <a:latin typeface="Times New Roman" panose="02020603050405020304" pitchFamily="18" charset="0"/>
                <a:cs typeface="Times New Roman" panose="02020603050405020304" pitchFamily="18" charset="0"/>
              </a:rPr>
            </a:br>
            <a:r>
              <a:rPr lang="en-IN" sz="2000" dirty="0">
                <a:solidFill>
                  <a:srgbClr val="FF0000"/>
                </a:solidFill>
                <a:latin typeface="Times New Roman" panose="02020603050405020304" pitchFamily="18" charset="0"/>
                <a:cs typeface="Times New Roman" panose="02020603050405020304" pitchFamily="18" charset="0"/>
              </a:rPr>
              <a:t>       </a:t>
            </a:r>
            <a:r>
              <a:rPr lang="en-IN" sz="3200" b="0" dirty="0">
                <a:solidFill>
                  <a:srgbClr val="00B0F0"/>
                </a:solidFill>
                <a:latin typeface="Times New Roman" panose="02020603050405020304" pitchFamily="18" charset="0"/>
                <a:cs typeface="Times New Roman" panose="02020603050405020304" pitchFamily="18" charset="0"/>
              </a:rPr>
              <a:t>Department of </a:t>
            </a:r>
            <a:r>
              <a:rPr lang="en-IN" sz="3200" dirty="0">
                <a:solidFill>
                  <a:srgbClr val="00B0F0"/>
                </a:solidFill>
                <a:latin typeface="Times New Roman" panose="02020603050405020304" pitchFamily="18" charset="0"/>
                <a:cs typeface="Times New Roman" panose="02020603050405020304" pitchFamily="18" charset="0"/>
              </a:rPr>
              <a:t>Computer</a:t>
            </a:r>
            <a:r>
              <a:rPr lang="en-IN" sz="3200" b="0" dirty="0">
                <a:solidFill>
                  <a:srgbClr val="00B0F0"/>
                </a:solidFill>
                <a:latin typeface="Times New Roman" panose="02020603050405020304" pitchFamily="18" charset="0"/>
                <a:cs typeface="Times New Roman" panose="02020603050405020304" pitchFamily="18" charset="0"/>
              </a:rPr>
              <a:t> Science &amp; Engineering </a:t>
            </a:r>
            <a:endParaRPr lang="en-US" dirty="0"/>
          </a:p>
        </p:txBody>
      </p:sp>
      <p:pic>
        <p:nvPicPr>
          <p:cNvPr id="3" name="Picture 2">
            <a:extLst>
              <a:ext uri="{FF2B5EF4-FFF2-40B4-BE49-F238E27FC236}">
                <a16:creationId xmlns:a16="http://schemas.microsoft.com/office/drawing/2014/main" id="{81F4D22D-4321-4669-BF6E-13B5ECBA82CC}"/>
              </a:ext>
            </a:extLst>
          </p:cNvPr>
          <p:cNvPicPr>
            <a:picLocks noChangeAspect="1"/>
          </p:cNvPicPr>
          <p:nvPr/>
        </p:nvPicPr>
        <p:blipFill>
          <a:blip r:embed="rId2" cstate="print"/>
          <a:stretch>
            <a:fillRect/>
          </a:stretch>
        </p:blipFill>
        <p:spPr>
          <a:xfrm>
            <a:off x="0" y="14729"/>
            <a:ext cx="1211330" cy="1218949"/>
          </a:xfrm>
          <a:prstGeom prst="rect">
            <a:avLst/>
          </a:prstGeom>
        </p:spPr>
      </p:pic>
      <p:pic>
        <p:nvPicPr>
          <p:cNvPr id="4" name="Picture 3">
            <a:extLst>
              <a:ext uri="{FF2B5EF4-FFF2-40B4-BE49-F238E27FC236}">
                <a16:creationId xmlns:a16="http://schemas.microsoft.com/office/drawing/2014/main" id="{00EF5A82-473F-42E4-A9D1-18C500313476}"/>
              </a:ext>
            </a:extLst>
          </p:cNvPr>
          <p:cNvPicPr>
            <a:picLocks noChangeAspect="1"/>
          </p:cNvPicPr>
          <p:nvPr/>
        </p:nvPicPr>
        <p:blipFill>
          <a:blip r:embed="rId3" cstate="print"/>
          <a:stretch>
            <a:fillRect/>
          </a:stretch>
        </p:blipFill>
        <p:spPr>
          <a:xfrm>
            <a:off x="11218789" y="88870"/>
            <a:ext cx="896190" cy="926672"/>
          </a:xfrm>
          <a:prstGeom prst="rect">
            <a:avLst/>
          </a:prstGeom>
        </p:spPr>
      </p:pic>
      <p:sp>
        <p:nvSpPr>
          <p:cNvPr id="5" name="Subtitle 3"/>
          <p:cNvSpPr txBox="1">
            <a:spLocks/>
          </p:cNvSpPr>
          <p:nvPr/>
        </p:nvSpPr>
        <p:spPr>
          <a:xfrm>
            <a:off x="269512" y="2119504"/>
            <a:ext cx="11525324" cy="1995296"/>
          </a:xfrm>
          <a:prstGeom prst="rect">
            <a:avLst/>
          </a:prstGeom>
        </p:spPr>
        <p:txBody>
          <a:bodyPr>
            <a:noAutofit/>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914400">
              <a:buNone/>
            </a:pPr>
            <a:r>
              <a:rPr lang="en-US" dirty="0">
                <a:solidFill>
                  <a:schemeClr val="tx2">
                    <a:lumMod val="75000"/>
                  </a:schemeClr>
                </a:solidFill>
                <a:latin typeface="Times New Roman" panose="02020603050405020304" pitchFamily="18" charset="0"/>
                <a:cs typeface="Times New Roman" panose="02020603050405020304" pitchFamily="18" charset="0"/>
              </a:rPr>
              <a:t>Internship presentation </a:t>
            </a:r>
          </a:p>
          <a:p>
            <a:pPr marL="0" indent="0" algn="ctr" defTabSz="914400">
              <a:buNone/>
            </a:pPr>
            <a:r>
              <a:rPr lang="en-US" sz="2400" i="1" dirty="0">
                <a:solidFill>
                  <a:schemeClr val="tx2">
                    <a:lumMod val="75000"/>
                  </a:schemeClr>
                </a:solidFill>
                <a:latin typeface="Times New Roman" panose="02020603050405020304" pitchFamily="18" charset="0"/>
                <a:cs typeface="Times New Roman" panose="02020603050405020304" pitchFamily="18" charset="0"/>
              </a:rPr>
              <a:t>On</a:t>
            </a:r>
            <a:r>
              <a:rPr lang="en-US" i="1" dirty="0">
                <a:solidFill>
                  <a:schemeClr val="bg2">
                    <a:lumMod val="50000"/>
                  </a:schemeClr>
                </a:solidFill>
                <a:latin typeface="Times New Roman" panose="02020603050405020304" pitchFamily="18" charset="0"/>
                <a:cs typeface="Times New Roman" panose="02020603050405020304" pitchFamily="18" charset="0"/>
              </a:rPr>
              <a:t> </a:t>
            </a:r>
          </a:p>
          <a:p>
            <a:pPr marL="570230" marR="608965" indent="0" algn="ctr" defTabSz="914400">
              <a:spcBef>
                <a:spcPts val="765"/>
              </a:spcBef>
              <a:buNone/>
            </a:pPr>
            <a:r>
              <a:rPr lang="en-US" sz="2800" b="1" dirty="0">
                <a:solidFill>
                  <a:srgbClr val="800000"/>
                </a:solidFill>
                <a:latin typeface="Times New Roman" panose="02020603050405020304" pitchFamily="18" charset="0"/>
                <a:ea typeface="Times New Roman" panose="02020603050405020304" pitchFamily="18" charset="0"/>
              </a:rPr>
              <a:t> TWITTER SENTIMENTAL ANALYSIS USING NLP AND ML MODELS</a:t>
            </a:r>
          </a:p>
        </p:txBody>
      </p:sp>
      <p:sp>
        <p:nvSpPr>
          <p:cNvPr id="7" name="object 8"/>
          <p:cNvSpPr txBox="1"/>
          <p:nvPr/>
        </p:nvSpPr>
        <p:spPr>
          <a:xfrm>
            <a:off x="838200" y="4328986"/>
            <a:ext cx="3657600" cy="1705595"/>
          </a:xfrm>
          <a:prstGeom prst="rect">
            <a:avLst/>
          </a:prstGeom>
        </p:spPr>
        <p:txBody>
          <a:bodyPr vert="horz" wrap="square" lIns="0" tIns="12700" rIns="0" bIns="0" rtlCol="0">
            <a:spAutoFit/>
          </a:bodyPr>
          <a:lstStyle/>
          <a:p>
            <a:pPr marL="32385" algn="just">
              <a:lnSpc>
                <a:spcPct val="150000"/>
              </a:lnSpc>
              <a:spcBef>
                <a:spcPts val="100"/>
              </a:spcBef>
            </a:pPr>
            <a:r>
              <a:rPr sz="1800" b="1" i="1" dirty="0">
                <a:solidFill>
                  <a:srgbClr val="C96E05"/>
                </a:solidFill>
                <a:latin typeface="Times New Roman" panose="02020603050405020304" pitchFamily="18" charset="0"/>
                <a:cs typeface="Times New Roman" panose="02020603050405020304" pitchFamily="18" charset="0"/>
              </a:rPr>
              <a:t>Presented</a:t>
            </a:r>
            <a:r>
              <a:rPr sz="1800" b="1" i="1" spc="-45" dirty="0">
                <a:solidFill>
                  <a:srgbClr val="C96E05"/>
                </a:solidFill>
                <a:latin typeface="Times New Roman" panose="02020603050405020304" pitchFamily="18" charset="0"/>
                <a:cs typeface="Times New Roman" panose="02020603050405020304" pitchFamily="18" charset="0"/>
              </a:rPr>
              <a:t> </a:t>
            </a:r>
            <a:r>
              <a:rPr sz="1800" b="1" i="1" spc="-25" dirty="0">
                <a:solidFill>
                  <a:srgbClr val="C96E05"/>
                </a:solidFill>
                <a:latin typeface="Times New Roman" panose="02020603050405020304" pitchFamily="18" charset="0"/>
                <a:cs typeface="Times New Roman" panose="02020603050405020304" pitchFamily="18" charset="0"/>
              </a:rPr>
              <a:t>By</a:t>
            </a:r>
            <a:r>
              <a:rPr sz="1600" b="1" i="1" spc="-25" dirty="0">
                <a:solidFill>
                  <a:srgbClr val="C96E05"/>
                </a:solidFill>
                <a:latin typeface="Times New Roman" panose="02020603050405020304" pitchFamily="18" charset="0"/>
                <a:cs typeface="Times New Roman" panose="02020603050405020304" pitchFamily="18" charset="0"/>
              </a:rPr>
              <a:t>:</a:t>
            </a:r>
            <a:endParaRPr sz="1600" b="1" dirty="0">
              <a:latin typeface="Times New Roman" panose="02020603050405020304" pitchFamily="18" charset="0"/>
              <a:cs typeface="Times New Roman" panose="02020603050405020304" pitchFamily="18" charset="0"/>
            </a:endParaRPr>
          </a:p>
          <a:p>
            <a:pPr marL="38100" marR="5080" indent="-26035" algn="just">
              <a:lnSpc>
                <a:spcPct val="150000"/>
              </a:lnSpc>
              <a:spcBef>
                <a:spcPts val="235"/>
              </a:spcBef>
            </a:pPr>
            <a:r>
              <a:rPr lang="en-IN" sz="2000" spc="-150" dirty="0">
                <a:latin typeface="Times New Roman" panose="02020603050405020304" pitchFamily="18" charset="0"/>
                <a:cs typeface="Times New Roman" panose="02020603050405020304" pitchFamily="18" charset="0"/>
              </a:rPr>
              <a:t>Shravan L  </a:t>
            </a:r>
            <a:r>
              <a:rPr lang="en-US" sz="2000" spc="-150" dirty="0">
                <a:latin typeface="Times New Roman" panose="02020603050405020304" pitchFamily="18" charset="0"/>
                <a:cs typeface="Times New Roman" panose="02020603050405020304" pitchFamily="18" charset="0"/>
              </a:rPr>
              <a:t>(1SG20CS100)</a:t>
            </a:r>
            <a:endParaRPr lang="en-IN" sz="2000" spc="-110" dirty="0">
              <a:latin typeface="Times New Roman" panose="02020603050405020304" pitchFamily="18" charset="0"/>
              <a:cs typeface="Times New Roman" panose="02020603050405020304" pitchFamily="18" charset="0"/>
            </a:endParaRPr>
          </a:p>
          <a:p>
            <a:pPr marL="38100" marR="5080" indent="-26035">
              <a:lnSpc>
                <a:spcPct val="150000"/>
              </a:lnSpc>
              <a:spcBef>
                <a:spcPts val="235"/>
              </a:spcBef>
            </a:pPr>
            <a:endParaRPr lang="en-IN" sz="1600" b="1" spc="-110" dirty="0">
              <a:latin typeface="Verdana" panose="020B0604030504040204"/>
              <a:cs typeface="Times New Roman" panose="02020603050405020304" pitchFamily="18" charset="0"/>
            </a:endParaRPr>
          </a:p>
          <a:p>
            <a:pPr marL="38100" marR="5080" indent="-26035">
              <a:lnSpc>
                <a:spcPct val="150000"/>
              </a:lnSpc>
              <a:spcBef>
                <a:spcPts val="235"/>
              </a:spcBef>
            </a:pPr>
            <a:endParaRPr sz="1600" dirty="0">
              <a:latin typeface="Verdana" panose="020B0604030504040204"/>
              <a:cs typeface="Verdana" panose="020B0604030504040204"/>
            </a:endParaRPr>
          </a:p>
        </p:txBody>
      </p:sp>
      <p:sp>
        <p:nvSpPr>
          <p:cNvPr id="8" name="object 6"/>
          <p:cNvSpPr txBox="1"/>
          <p:nvPr/>
        </p:nvSpPr>
        <p:spPr>
          <a:xfrm>
            <a:off x="8305800" y="4398197"/>
            <a:ext cx="2533015" cy="1827423"/>
          </a:xfrm>
          <a:prstGeom prst="rect">
            <a:avLst/>
          </a:prstGeom>
        </p:spPr>
        <p:txBody>
          <a:bodyPr vert="horz" wrap="square" lIns="0" tIns="11430" rIns="0" bIns="0" rtlCol="0">
            <a:spAutoFit/>
          </a:bodyPr>
          <a:lstStyle/>
          <a:p>
            <a:pPr marL="12700" marR="5080" algn="just">
              <a:lnSpc>
                <a:spcPct val="150000"/>
              </a:lnSpc>
              <a:spcBef>
                <a:spcPts val="90"/>
              </a:spcBef>
            </a:pPr>
            <a:r>
              <a:rPr sz="1600" b="1" i="1" spc="-185" dirty="0">
                <a:solidFill>
                  <a:srgbClr val="C96E05"/>
                </a:solidFill>
                <a:latin typeface="Times New Roman" panose="02020603050405020304" pitchFamily="18" charset="0"/>
                <a:cs typeface="Times New Roman" panose="02020603050405020304" pitchFamily="18" charset="0"/>
              </a:rPr>
              <a:t>Under</a:t>
            </a:r>
            <a:r>
              <a:rPr sz="1600" b="1" i="1" spc="-105" dirty="0">
                <a:solidFill>
                  <a:srgbClr val="C96E05"/>
                </a:solidFill>
                <a:latin typeface="Times New Roman" panose="02020603050405020304" pitchFamily="18" charset="0"/>
                <a:cs typeface="Times New Roman" panose="02020603050405020304" pitchFamily="18" charset="0"/>
              </a:rPr>
              <a:t> </a:t>
            </a:r>
            <a:r>
              <a:rPr sz="1600" b="1" i="1" spc="-175" dirty="0">
                <a:solidFill>
                  <a:srgbClr val="C96E05"/>
                </a:solidFill>
                <a:latin typeface="Times New Roman" panose="02020603050405020304" pitchFamily="18" charset="0"/>
                <a:cs typeface="Times New Roman" panose="02020603050405020304" pitchFamily="18" charset="0"/>
              </a:rPr>
              <a:t>the</a:t>
            </a:r>
            <a:r>
              <a:rPr sz="1600" b="1" i="1" spc="-100" dirty="0">
                <a:solidFill>
                  <a:srgbClr val="C96E05"/>
                </a:solidFill>
                <a:latin typeface="Times New Roman" panose="02020603050405020304" pitchFamily="18" charset="0"/>
                <a:cs typeface="Times New Roman" panose="02020603050405020304" pitchFamily="18" charset="0"/>
              </a:rPr>
              <a:t> </a:t>
            </a:r>
            <a:r>
              <a:rPr sz="1600" b="1" i="1" spc="-75" dirty="0">
                <a:solidFill>
                  <a:srgbClr val="C96E05"/>
                </a:solidFill>
                <a:latin typeface="Times New Roman" panose="02020603050405020304" pitchFamily="18" charset="0"/>
                <a:cs typeface="Times New Roman" panose="02020603050405020304" pitchFamily="18" charset="0"/>
              </a:rPr>
              <a:t>Guidance</a:t>
            </a:r>
            <a:r>
              <a:rPr sz="1600" b="1" i="1" spc="-100" dirty="0">
                <a:solidFill>
                  <a:srgbClr val="C96E05"/>
                </a:solidFill>
                <a:latin typeface="Times New Roman" panose="02020603050405020304" pitchFamily="18" charset="0"/>
                <a:cs typeface="Times New Roman" panose="02020603050405020304" pitchFamily="18" charset="0"/>
              </a:rPr>
              <a:t> </a:t>
            </a:r>
            <a:r>
              <a:rPr sz="1600" b="1" i="1" spc="-165" dirty="0">
                <a:solidFill>
                  <a:srgbClr val="C96E05"/>
                </a:solidFill>
                <a:latin typeface="Times New Roman" panose="02020603050405020304" pitchFamily="18" charset="0"/>
                <a:cs typeface="Times New Roman" panose="02020603050405020304" pitchFamily="18" charset="0"/>
              </a:rPr>
              <a:t>of</a:t>
            </a:r>
            <a:r>
              <a:rPr sz="1600" b="1" i="1" spc="-95" dirty="0">
                <a:solidFill>
                  <a:srgbClr val="C96E05"/>
                </a:solidFill>
                <a:latin typeface="Times New Roman" panose="02020603050405020304" pitchFamily="18" charset="0"/>
                <a:cs typeface="Times New Roman" panose="02020603050405020304" pitchFamily="18" charset="0"/>
              </a:rPr>
              <a:t> </a:t>
            </a:r>
            <a:r>
              <a:rPr sz="1700" b="1" i="1" spc="-75" dirty="0">
                <a:solidFill>
                  <a:srgbClr val="C96E05"/>
                </a:solidFill>
                <a:latin typeface="Times New Roman" panose="02020603050405020304" pitchFamily="18" charset="0"/>
                <a:cs typeface="Times New Roman" panose="02020603050405020304" pitchFamily="18" charset="0"/>
              </a:rPr>
              <a:t>: </a:t>
            </a:r>
            <a:endParaRPr lang="en-IN" sz="1700" b="1" i="1" spc="-75" dirty="0">
              <a:solidFill>
                <a:srgbClr val="C96E05"/>
              </a:solidFill>
              <a:latin typeface="Times New Roman" panose="02020603050405020304" pitchFamily="18" charset="0"/>
              <a:cs typeface="Times New Roman" panose="02020603050405020304" pitchFamily="18" charset="0"/>
            </a:endParaRPr>
          </a:p>
          <a:p>
            <a:pPr marL="12700" marR="5080">
              <a:lnSpc>
                <a:spcPct val="150000"/>
              </a:lnSpc>
              <a:spcBef>
                <a:spcPts val="90"/>
              </a:spcBef>
            </a:pPr>
            <a:r>
              <a:rPr lang="en-US" sz="2000" spc="-204" dirty="0">
                <a:latin typeface="Times New Roman" panose="02020603050405020304" pitchFamily="18" charset="0"/>
                <a:cs typeface="Times New Roman" panose="02020603050405020304" pitchFamily="18" charset="0"/>
              </a:rPr>
              <a:t>Prof .  </a:t>
            </a:r>
            <a:r>
              <a:rPr lang="en-US" sz="2000" spc="-204" dirty="0" err="1">
                <a:latin typeface="Times New Roman" panose="02020603050405020304" pitchFamily="18" charset="0"/>
                <a:cs typeface="Times New Roman" panose="02020603050405020304" pitchFamily="18" charset="0"/>
              </a:rPr>
              <a:t>Hemalatha</a:t>
            </a:r>
            <a:r>
              <a:rPr lang="en-US" sz="2000" spc="-204" dirty="0">
                <a:latin typeface="Times New Roman" panose="02020603050405020304" pitchFamily="18" charset="0"/>
                <a:cs typeface="Times New Roman" panose="02020603050405020304" pitchFamily="18" charset="0"/>
              </a:rPr>
              <a:t> K</a:t>
            </a:r>
          </a:p>
          <a:p>
            <a:pPr marL="12700" marR="5080">
              <a:lnSpc>
                <a:spcPct val="150000"/>
              </a:lnSpc>
              <a:spcBef>
                <a:spcPts val="90"/>
              </a:spcBef>
            </a:pPr>
            <a:r>
              <a:rPr sz="2000" spc="-204" dirty="0">
                <a:latin typeface="Times New Roman" panose="02020603050405020304" pitchFamily="18" charset="0"/>
                <a:cs typeface="Times New Roman" panose="02020603050405020304" pitchFamily="18" charset="0"/>
              </a:rPr>
              <a:t>Assistant</a:t>
            </a:r>
            <a:r>
              <a:rPr sz="2000" spc="-70" dirty="0">
                <a:latin typeface="Times New Roman" panose="02020603050405020304" pitchFamily="18" charset="0"/>
                <a:cs typeface="Times New Roman" panose="02020603050405020304" pitchFamily="18" charset="0"/>
              </a:rPr>
              <a:t> </a:t>
            </a:r>
            <a:r>
              <a:rPr sz="2000" spc="-120" dirty="0">
                <a:latin typeface="Times New Roman" panose="02020603050405020304" pitchFamily="18" charset="0"/>
                <a:cs typeface="Times New Roman" panose="02020603050405020304" pitchFamily="18" charset="0"/>
              </a:rPr>
              <a:t>Professsor</a:t>
            </a:r>
          </a:p>
          <a:p>
            <a:pPr marL="12700" marR="5080">
              <a:lnSpc>
                <a:spcPct val="150000"/>
              </a:lnSpc>
              <a:spcBef>
                <a:spcPts val="90"/>
              </a:spcBef>
            </a:pPr>
            <a:r>
              <a:rPr sz="2000" spc="-155" dirty="0">
                <a:latin typeface="Times New Roman" panose="02020603050405020304" pitchFamily="18" charset="0"/>
                <a:cs typeface="Times New Roman" panose="02020603050405020304" pitchFamily="18" charset="0"/>
              </a:rPr>
              <a:t>Dept.</a:t>
            </a:r>
            <a:r>
              <a:rPr sz="2000" spc="-90" dirty="0">
                <a:latin typeface="Times New Roman" panose="02020603050405020304" pitchFamily="18" charset="0"/>
                <a:cs typeface="Times New Roman" panose="02020603050405020304" pitchFamily="18" charset="0"/>
              </a:rPr>
              <a:t> </a:t>
            </a:r>
            <a:r>
              <a:rPr sz="2000" spc="-160" dirty="0">
                <a:latin typeface="Times New Roman" panose="02020603050405020304" pitchFamily="18" charset="0"/>
                <a:cs typeface="Times New Roman" panose="02020603050405020304" pitchFamily="18" charset="0"/>
              </a:rPr>
              <a:t>of</a:t>
            </a:r>
            <a:r>
              <a:rPr sz="2000" spc="-105" dirty="0">
                <a:latin typeface="Times New Roman" panose="02020603050405020304" pitchFamily="18" charset="0"/>
                <a:cs typeface="Times New Roman" panose="02020603050405020304" pitchFamily="18" charset="0"/>
              </a:rPr>
              <a:t> </a:t>
            </a:r>
            <a:r>
              <a:rPr lang="en-US" sz="2000" spc="-105" dirty="0">
                <a:latin typeface="Times New Roman" panose="02020603050405020304" pitchFamily="18" charset="0"/>
                <a:cs typeface="Times New Roman" panose="02020603050405020304" pitchFamily="18" charset="0"/>
              </a:rPr>
              <a:t> CSE.,SCE</a:t>
            </a:r>
          </a:p>
        </p:txBody>
      </p:sp>
    </p:spTree>
    <p:extLst>
      <p:ext uri="{BB962C8B-B14F-4D97-AF65-F5344CB8AC3E}">
        <p14:creationId xmlns:p14="http://schemas.microsoft.com/office/powerpoint/2010/main" val="2622516023"/>
      </p:ext>
    </p:extLst>
  </p:cSld>
  <p:clrMapOvr>
    <a:masterClrMapping/>
  </p:clrMapOvr>
  <p:transition spd="slow">
    <p:comb dir="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3885D-999F-49F2-99A6-827D3DDAFCCD}"/>
              </a:ext>
            </a:extLst>
          </p:cNvPr>
          <p:cNvSpPr txBox="1">
            <a:spLocks/>
          </p:cNvSpPr>
          <p:nvPr/>
        </p:nvSpPr>
        <p:spPr>
          <a:xfrm>
            <a:off x="1127464" y="304800"/>
            <a:ext cx="10377148" cy="780803"/>
          </a:xfrm>
          <a:prstGeom prst="rect">
            <a:avLst/>
          </a:prstGeom>
        </p:spPr>
        <p:txBody>
          <a:bodyPr>
            <a:normAutofit/>
          </a:bodyPr>
          <a:lst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a:lstStyle>
          <a:p>
            <a:pPr algn="ctr" defTabSz="914400"/>
            <a:r>
              <a:rPr lang="en-US" b="1" dirty="0">
                <a:latin typeface="Times New Roman" panose="02020603050405020304" pitchFamily="18" charset="0"/>
                <a:cs typeface="Times New Roman" panose="02020603050405020304" pitchFamily="18" charset="0"/>
              </a:rPr>
              <a:t>CONTENTS</a:t>
            </a:r>
          </a:p>
          <a:p>
            <a:pPr algn="ctr" defTabSz="914400"/>
            <a:endParaRPr lang="en-US" sz="3200" b="1" dirty="0">
              <a:latin typeface="Times New Roman" panose="02020603050405020304" pitchFamily="18" charset="0"/>
              <a:cs typeface="Times New Roman" panose="02020603050405020304" pitchFamily="18" charset="0"/>
            </a:endParaRPr>
          </a:p>
        </p:txBody>
      </p:sp>
      <p:sp>
        <p:nvSpPr>
          <p:cNvPr id="5" name="Subtitle 2">
            <a:extLst>
              <a:ext uri="{FF2B5EF4-FFF2-40B4-BE49-F238E27FC236}">
                <a16:creationId xmlns:a16="http://schemas.microsoft.com/office/drawing/2014/main" id="{784D3ED4-37FE-49C0-8DEA-8E8F9E654D5E}"/>
              </a:ext>
            </a:extLst>
          </p:cNvPr>
          <p:cNvSpPr txBox="1">
            <a:spLocks/>
          </p:cNvSpPr>
          <p:nvPr/>
        </p:nvSpPr>
        <p:spPr>
          <a:xfrm>
            <a:off x="685800" y="1219200"/>
            <a:ext cx="11195147" cy="4794956"/>
          </a:xfrm>
          <a:prstGeom prst="rect">
            <a:avLst/>
          </a:prstGeom>
        </p:spPr>
        <p:txBody>
          <a:bodyPr>
            <a:normAutofit/>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defTabSz="914400">
              <a:lnSpc>
                <a:spcPct val="120000"/>
              </a:lnSpc>
              <a:buNone/>
            </a:pPr>
            <a:r>
              <a:rPr lang="en-US" sz="2800" dirty="0">
                <a:latin typeface="Times New Roman" panose="02020603050405020304" pitchFamily="18" charset="0"/>
                <a:cs typeface="Times New Roman" panose="02020603050405020304" pitchFamily="18" charset="0"/>
              </a:rPr>
              <a:t>1. Abstract</a:t>
            </a:r>
          </a:p>
          <a:p>
            <a:pPr marL="0" indent="0" algn="just" defTabSz="914400">
              <a:lnSpc>
                <a:spcPct val="120000"/>
              </a:lnSpc>
              <a:buNone/>
            </a:pPr>
            <a:r>
              <a:rPr lang="en-US" sz="2800" dirty="0">
                <a:latin typeface="Times New Roman" panose="02020603050405020304" pitchFamily="18" charset="0"/>
                <a:cs typeface="Times New Roman" panose="02020603050405020304" pitchFamily="18" charset="0"/>
              </a:rPr>
              <a:t>2. Introduction about the company</a:t>
            </a:r>
          </a:p>
          <a:p>
            <a:pPr marL="0" indent="0" algn="just" defTabSz="914400">
              <a:lnSpc>
                <a:spcPct val="120000"/>
              </a:lnSpc>
              <a:buNone/>
            </a:pPr>
            <a:r>
              <a:rPr lang="en-US" sz="2800" dirty="0">
                <a:latin typeface="Times New Roman" panose="02020603050405020304" pitchFamily="18" charset="0"/>
                <a:cs typeface="Times New Roman" panose="02020603050405020304" pitchFamily="18" charset="0"/>
              </a:rPr>
              <a:t>3. Internship Domain</a:t>
            </a:r>
          </a:p>
          <a:p>
            <a:pPr marL="0" indent="0" algn="just" defTabSz="914400">
              <a:lnSpc>
                <a:spcPct val="120000"/>
              </a:lnSpc>
              <a:buNone/>
            </a:pPr>
            <a:r>
              <a:rPr lang="en-US" sz="2800" dirty="0">
                <a:latin typeface="Times New Roman" panose="02020603050405020304" pitchFamily="18" charset="0"/>
                <a:cs typeface="Times New Roman" panose="02020603050405020304" pitchFamily="18" charset="0"/>
              </a:rPr>
              <a:t>4. Project Introduction</a:t>
            </a:r>
          </a:p>
          <a:p>
            <a:pPr marL="0" indent="0" algn="just" defTabSz="914400">
              <a:lnSpc>
                <a:spcPct val="120000"/>
              </a:lnSpc>
              <a:buNone/>
            </a:pPr>
            <a:r>
              <a:rPr lang="en-US" sz="2800" dirty="0">
                <a:latin typeface="Times New Roman" panose="02020603050405020304" pitchFamily="18" charset="0"/>
                <a:cs typeface="Times New Roman" panose="02020603050405020304" pitchFamily="18" charset="0"/>
              </a:rPr>
              <a:t>5. Methodology</a:t>
            </a:r>
          </a:p>
          <a:p>
            <a:pPr marL="0" indent="0" algn="just" defTabSz="914400">
              <a:lnSpc>
                <a:spcPct val="120000"/>
              </a:lnSpc>
              <a:buNone/>
            </a:pPr>
            <a:r>
              <a:rPr lang="en-US" sz="2800" dirty="0">
                <a:latin typeface="Times New Roman" panose="02020603050405020304" pitchFamily="18" charset="0"/>
                <a:cs typeface="Times New Roman" panose="02020603050405020304" pitchFamily="18" charset="0"/>
              </a:rPr>
              <a:t>6. Results</a:t>
            </a:r>
          </a:p>
          <a:p>
            <a:pPr marL="0" indent="0" algn="just" defTabSz="914400">
              <a:lnSpc>
                <a:spcPct val="120000"/>
              </a:lnSpc>
              <a:buNone/>
            </a:pPr>
            <a:r>
              <a:rPr lang="en-US" sz="2800" dirty="0">
                <a:latin typeface="Times New Roman" panose="02020603050405020304" pitchFamily="18" charset="0"/>
                <a:cs typeface="Times New Roman" panose="02020603050405020304" pitchFamily="18" charset="0"/>
              </a:rPr>
              <a:t>7. Conclusion</a:t>
            </a:r>
          </a:p>
          <a:p>
            <a:pPr marL="0" indent="0" algn="just" defTabSz="914400">
              <a:lnSpc>
                <a:spcPct val="120000"/>
              </a:lnSpc>
              <a:buNone/>
            </a:pPr>
            <a:r>
              <a:rPr lang="en-US" sz="2800" dirty="0">
                <a:latin typeface="Times New Roman" panose="02020603050405020304" pitchFamily="18" charset="0"/>
                <a:cs typeface="Times New Roman" panose="02020603050405020304" pitchFamily="18" charset="0"/>
              </a:rPr>
              <a:t>8. References</a:t>
            </a:r>
          </a:p>
          <a:p>
            <a:pPr marL="0" indent="0" algn="just" defTabSz="914400">
              <a:lnSpc>
                <a:spcPct val="120000"/>
              </a:lnSpc>
              <a:buNone/>
            </a:pPr>
            <a:endParaRPr lang="en-US" dirty="0">
              <a:latin typeface="Times New Roman" panose="02020603050405020304" pitchFamily="18" charset="0"/>
              <a:cs typeface="Times New Roman" panose="02020603050405020304" pitchFamily="18" charset="0"/>
            </a:endParaRPr>
          </a:p>
        </p:txBody>
      </p:sp>
      <p:cxnSp>
        <p:nvCxnSpPr>
          <p:cNvPr id="3" name="Straight Connector 2">
            <a:extLst>
              <a:ext uri="{FF2B5EF4-FFF2-40B4-BE49-F238E27FC236}">
                <a16:creationId xmlns:a16="http://schemas.microsoft.com/office/drawing/2014/main" id="{BD87DC45-62BB-3E9E-B25F-215AF6B0FC3F}"/>
              </a:ext>
            </a:extLst>
          </p:cNvPr>
          <p:cNvCxnSpPr>
            <a:cxnSpLocks/>
          </p:cNvCxnSpPr>
          <p:nvPr/>
        </p:nvCxnSpPr>
        <p:spPr>
          <a:xfrm>
            <a:off x="686594" y="1085603"/>
            <a:ext cx="10818812" cy="41894"/>
          </a:xfrm>
          <a:prstGeom prst="line">
            <a:avLst/>
          </a:prstGeom>
          <a:ln w="76200">
            <a:solidFill>
              <a:srgbClr val="F62610"/>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14946798"/>
      </p:ext>
    </p:extLst>
  </p:cSld>
  <p:clrMapOvr>
    <a:masterClrMapping/>
  </p:clrMapOvr>
  <p:transition spd="slow">
    <p:comb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FF3885D-999F-49F2-99A6-827D3DDAFCCD}"/>
              </a:ext>
            </a:extLst>
          </p:cNvPr>
          <p:cNvSpPr txBox="1">
            <a:spLocks/>
          </p:cNvSpPr>
          <p:nvPr/>
        </p:nvSpPr>
        <p:spPr>
          <a:xfrm>
            <a:off x="671852" y="353836"/>
            <a:ext cx="10668000" cy="752599"/>
          </a:xfrm>
          <a:prstGeom prst="rect">
            <a:avLst/>
          </a:prstGeom>
        </p:spPr>
        <p:txBody>
          <a:bodyPr>
            <a:normAutofit/>
          </a:bodyPr>
          <a:lst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a:lstStyle>
          <a:p>
            <a:pPr algn="ctr" defTabSz="914400"/>
            <a:r>
              <a:rPr lang="en-US" b="1" dirty="0">
                <a:latin typeface="Times New Roman" panose="02020603050405020304" pitchFamily="18" charset="0"/>
                <a:cs typeface="Times New Roman" panose="02020603050405020304" pitchFamily="18" charset="0"/>
              </a:rPr>
              <a:t>ABSTRACT</a:t>
            </a:r>
          </a:p>
        </p:txBody>
      </p:sp>
      <p:sp>
        <p:nvSpPr>
          <p:cNvPr id="6" name="Title 1">
            <a:extLst>
              <a:ext uri="{FF2B5EF4-FFF2-40B4-BE49-F238E27FC236}">
                <a16:creationId xmlns:a16="http://schemas.microsoft.com/office/drawing/2014/main" id="{3FF3885D-999F-49F2-99A6-827D3DDAFCCD}"/>
              </a:ext>
            </a:extLst>
          </p:cNvPr>
          <p:cNvSpPr txBox="1">
            <a:spLocks/>
          </p:cNvSpPr>
          <p:nvPr/>
        </p:nvSpPr>
        <p:spPr>
          <a:xfrm>
            <a:off x="1143000" y="457200"/>
            <a:ext cx="10377148" cy="780803"/>
          </a:xfrm>
          <a:prstGeom prst="rect">
            <a:avLst/>
          </a:prstGeom>
        </p:spPr>
        <p:txBody>
          <a:bodyPr>
            <a:normAutofit/>
          </a:bodyPr>
          <a:lst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a:lstStyle>
          <a:p>
            <a:pPr algn="ctr" defTabSz="914400"/>
            <a:endParaRPr lang="en-US" sz="3200" b="1" dirty="0">
              <a:latin typeface="Times New Roman" panose="02020603050405020304" pitchFamily="18" charset="0"/>
              <a:cs typeface="Times New Roman" panose="02020603050405020304" pitchFamily="18" charset="0"/>
            </a:endParaRPr>
          </a:p>
        </p:txBody>
      </p:sp>
      <p:sp>
        <p:nvSpPr>
          <p:cNvPr id="7" name="Subtitle 2">
            <a:extLst>
              <a:ext uri="{FF2B5EF4-FFF2-40B4-BE49-F238E27FC236}">
                <a16:creationId xmlns:a16="http://schemas.microsoft.com/office/drawing/2014/main" id="{1509FA20-F37C-45EA-8E48-5E39EF7E8263}"/>
              </a:ext>
            </a:extLst>
          </p:cNvPr>
          <p:cNvSpPr txBox="1">
            <a:spLocks/>
          </p:cNvSpPr>
          <p:nvPr/>
        </p:nvSpPr>
        <p:spPr>
          <a:xfrm>
            <a:off x="934720" y="1600200"/>
            <a:ext cx="9123680" cy="4846926"/>
          </a:xfrm>
          <a:prstGeom prst="rect">
            <a:avLst/>
          </a:prstGeom>
        </p:spPr>
        <p:txBody>
          <a:bodyPr>
            <a:noAutofit/>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defTabSz="9144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Twitter provides a rich source of user-generated data, including opinions and sentiments. Analyzing sentiment in tweets can offer valuable insights but manual analysis is impractical. This project aims to develop an automated system for classifying tweet sentiment as positive or negative.</a:t>
            </a:r>
          </a:p>
          <a:p>
            <a:pPr algn="just" defTabSz="9144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system employs natural language processing techniques for text preprocessing and feature engineering. Machine learning models like logistic regression , multinomial NB and random forest. </a:t>
            </a:r>
          </a:p>
        </p:txBody>
      </p:sp>
      <p:cxnSp>
        <p:nvCxnSpPr>
          <p:cNvPr id="2" name="Straight Connector 1">
            <a:extLst>
              <a:ext uri="{FF2B5EF4-FFF2-40B4-BE49-F238E27FC236}">
                <a16:creationId xmlns:a16="http://schemas.microsoft.com/office/drawing/2014/main" id="{B6A419F2-24D6-7B16-ED15-4E8566FE37F5}"/>
              </a:ext>
            </a:extLst>
          </p:cNvPr>
          <p:cNvCxnSpPr>
            <a:cxnSpLocks/>
          </p:cNvCxnSpPr>
          <p:nvPr/>
        </p:nvCxnSpPr>
        <p:spPr>
          <a:xfrm>
            <a:off x="952500" y="1305296"/>
            <a:ext cx="10567648" cy="56903"/>
          </a:xfrm>
          <a:prstGeom prst="line">
            <a:avLst/>
          </a:prstGeom>
          <a:ln w="76200">
            <a:solidFill>
              <a:srgbClr val="F62610"/>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638924367"/>
      </p:ext>
    </p:extLst>
  </p:cSld>
  <p:clrMapOvr>
    <a:masterClrMapping/>
  </p:clrMapOvr>
  <p:transition spd="slow">
    <p:comb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FF3885D-999F-49F2-99A6-827D3DDAFCCD}"/>
              </a:ext>
            </a:extLst>
          </p:cNvPr>
          <p:cNvSpPr txBox="1">
            <a:spLocks/>
          </p:cNvSpPr>
          <p:nvPr/>
        </p:nvSpPr>
        <p:spPr>
          <a:xfrm>
            <a:off x="686594" y="214792"/>
            <a:ext cx="10818812" cy="662709"/>
          </a:xfrm>
          <a:prstGeom prst="rect">
            <a:avLst/>
          </a:prstGeom>
        </p:spPr>
        <p:txBody>
          <a:bodyPr>
            <a:normAutofit/>
          </a:bodyPr>
          <a:lst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a:lstStyle>
          <a:p>
            <a:pPr algn="ctr" defTabSz="914400"/>
            <a:r>
              <a:rPr lang="en-US" b="1" dirty="0">
                <a:latin typeface="Times New Roman" panose="02020603050405020304" pitchFamily="18" charset="0"/>
                <a:cs typeface="Times New Roman" panose="02020603050405020304" pitchFamily="18" charset="0"/>
              </a:rPr>
              <a:t>Internship Domain </a:t>
            </a:r>
          </a:p>
        </p:txBody>
      </p:sp>
      <p:sp>
        <p:nvSpPr>
          <p:cNvPr id="4" name="Subtitle 2">
            <a:extLst>
              <a:ext uri="{FF2B5EF4-FFF2-40B4-BE49-F238E27FC236}">
                <a16:creationId xmlns:a16="http://schemas.microsoft.com/office/drawing/2014/main" id="{3A192EDD-E8FA-4173-A2D5-A3BA4CDC128C}"/>
              </a:ext>
            </a:extLst>
          </p:cNvPr>
          <p:cNvSpPr txBox="1">
            <a:spLocks/>
          </p:cNvSpPr>
          <p:nvPr/>
        </p:nvSpPr>
        <p:spPr>
          <a:xfrm>
            <a:off x="685800" y="1032721"/>
            <a:ext cx="10668000" cy="5390771"/>
          </a:xfrm>
          <a:prstGeom prst="rect">
            <a:avLst/>
          </a:prstGeom>
        </p:spPr>
        <p:txBody>
          <a:bodyPr>
            <a:noAutofit/>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defTabSz="914400">
              <a:lnSpc>
                <a:spcPct val="150000"/>
              </a:lnSpc>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p:txBody>
      </p:sp>
      <p:sp>
        <p:nvSpPr>
          <p:cNvPr id="6" name="Footer Placeholder 4"/>
          <p:cNvSpPr>
            <a:spLocks noGrp="1"/>
          </p:cNvSpPr>
          <p:nvPr>
            <p:ph type="ftr" sz="quarter" idx="11"/>
          </p:nvPr>
        </p:nvSpPr>
        <p:spPr>
          <a:xfrm>
            <a:off x="228600" y="6567853"/>
            <a:ext cx="11734800" cy="380999"/>
          </a:xfrm>
        </p:spPr>
        <p:txBody>
          <a:bodyPr/>
          <a:lstStyle/>
          <a:p>
            <a:pPr algn="l"/>
            <a:r>
              <a:rPr lang="en-IN" sz="1400" dirty="0">
                <a:latin typeface="Times New Roman" panose="02020603050405020304" pitchFamily="18" charset="0"/>
                <a:cs typeface="Times New Roman" panose="02020603050405020304" pitchFamily="18" charset="0"/>
              </a:rPr>
              <a:t>                                                                                                                                                                                             </a:t>
            </a:r>
          </a:p>
        </p:txBody>
      </p:sp>
      <p:sp>
        <p:nvSpPr>
          <p:cNvPr id="5" name="TextBox 4">
            <a:extLst>
              <a:ext uri="{FF2B5EF4-FFF2-40B4-BE49-F238E27FC236}">
                <a16:creationId xmlns:a16="http://schemas.microsoft.com/office/drawing/2014/main" id="{72FA7B64-297A-3F75-8F5B-4DD7081CBD3F}"/>
              </a:ext>
            </a:extLst>
          </p:cNvPr>
          <p:cNvSpPr txBox="1"/>
          <p:nvPr/>
        </p:nvSpPr>
        <p:spPr>
          <a:xfrm>
            <a:off x="876300" y="934652"/>
            <a:ext cx="10134600" cy="5597943"/>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NLP:</a:t>
            </a:r>
          </a:p>
          <a:p>
            <a:pPr marL="285750" indent="-28575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Natural Language Processing (NLP) is a field of artificial intelligence (AI) that focuses on the interaction between computers and human language.</a:t>
            </a:r>
          </a:p>
          <a:p>
            <a:pPr marL="285750" indent="-28575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It involves the development of algorithms and models to enable machines to understand, interpret, and generate human-like language.</a:t>
            </a:r>
          </a:p>
          <a:p>
            <a:pPr marL="285750" indent="-28575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NLP applications include language translation, sentiment analysis, chatbots, and text summarization. </a:t>
            </a:r>
          </a:p>
          <a:p>
            <a:pPr>
              <a:lnSpc>
                <a:spcPct val="150000"/>
              </a:lnSpc>
            </a:pPr>
            <a:r>
              <a:rPr lang="en-US" sz="2400" b="1" dirty="0">
                <a:latin typeface="Times New Roman" panose="02020603050405020304" pitchFamily="18" charset="0"/>
                <a:cs typeface="Times New Roman" panose="02020603050405020304" pitchFamily="18" charset="0"/>
              </a:rPr>
              <a:t>Key components of NLP include:</a:t>
            </a:r>
          </a:p>
          <a:p>
            <a:pPr marL="285750" indent="-28575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Tokenization: Breaking down text into individual words or units, known as tokens, to facilitate analysis.</a:t>
            </a:r>
          </a:p>
          <a:p>
            <a:pPr marL="285750" indent="-28575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Named Entity Recognition (NER): Identifying and classifying entities (such as names, locations, and dates) within text</a:t>
            </a:r>
          </a:p>
          <a:p>
            <a:pPr marL="285750" indent="-28575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Part-of-Speech Tagging (POS): Assigning grammatical tags to words, indicating their syntactic roles in a sentence.</a:t>
            </a:r>
          </a:p>
          <a:p>
            <a:pPr marL="285750" indent="-28575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Sentiment Analysis: Determining the sentiment or emotional tone expressed in a piece of text.</a:t>
            </a:r>
          </a:p>
        </p:txBody>
      </p:sp>
      <p:cxnSp>
        <p:nvCxnSpPr>
          <p:cNvPr id="7" name="Straight Connector 6">
            <a:extLst>
              <a:ext uri="{FF2B5EF4-FFF2-40B4-BE49-F238E27FC236}">
                <a16:creationId xmlns:a16="http://schemas.microsoft.com/office/drawing/2014/main" id="{25105769-B442-4662-86D2-1D925C34DD62}"/>
              </a:ext>
            </a:extLst>
          </p:cNvPr>
          <p:cNvCxnSpPr>
            <a:cxnSpLocks/>
          </p:cNvCxnSpPr>
          <p:nvPr/>
        </p:nvCxnSpPr>
        <p:spPr>
          <a:xfrm>
            <a:off x="952500" y="896551"/>
            <a:ext cx="10248900" cy="0"/>
          </a:xfrm>
          <a:prstGeom prst="line">
            <a:avLst/>
          </a:prstGeom>
          <a:ln w="76200">
            <a:solidFill>
              <a:srgbClr val="F62610"/>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787088589"/>
      </p:ext>
    </p:extLst>
  </p:cSld>
  <p:clrMapOvr>
    <a:masterClrMapping/>
  </p:clrMapOvr>
  <p:transition spd="slow">
    <p:comb dir="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FF3885D-999F-49F2-99A6-827D3DDAFCCD}"/>
              </a:ext>
            </a:extLst>
          </p:cNvPr>
          <p:cNvSpPr txBox="1">
            <a:spLocks/>
          </p:cNvSpPr>
          <p:nvPr/>
        </p:nvSpPr>
        <p:spPr>
          <a:xfrm>
            <a:off x="756225" y="327891"/>
            <a:ext cx="10742612" cy="738909"/>
          </a:xfrm>
          <a:prstGeom prst="rect">
            <a:avLst/>
          </a:prstGeom>
        </p:spPr>
        <p:txBody>
          <a:bodyPr>
            <a:normAutofit/>
          </a:bodyPr>
          <a:lst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a:lstStyle>
          <a:p>
            <a:pPr algn="ctr" defTabSz="914400"/>
            <a:r>
              <a:rPr lang="en-US" b="1" dirty="0">
                <a:latin typeface="Times New Roman" panose="02020603050405020304" pitchFamily="18" charset="0"/>
                <a:cs typeface="Times New Roman" panose="02020603050405020304" pitchFamily="18" charset="0"/>
              </a:rPr>
              <a:t>Project Introduction</a:t>
            </a:r>
          </a:p>
        </p:txBody>
      </p:sp>
      <p:sp>
        <p:nvSpPr>
          <p:cNvPr id="7" name="Subtitle 2">
            <a:extLst>
              <a:ext uri="{FF2B5EF4-FFF2-40B4-BE49-F238E27FC236}">
                <a16:creationId xmlns:a16="http://schemas.microsoft.com/office/drawing/2014/main" id="{526396C3-0E28-4191-B80E-E00084B836B8}"/>
              </a:ext>
            </a:extLst>
          </p:cNvPr>
          <p:cNvSpPr txBox="1">
            <a:spLocks/>
          </p:cNvSpPr>
          <p:nvPr/>
        </p:nvSpPr>
        <p:spPr>
          <a:xfrm>
            <a:off x="914400" y="1066800"/>
            <a:ext cx="10426262" cy="5160579"/>
          </a:xfrm>
          <a:prstGeom prst="rect">
            <a:avLst/>
          </a:prstGeom>
        </p:spPr>
        <p:txBody>
          <a:bodyPr>
            <a:noAutofit/>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defTabSz="914400">
              <a:lnSpc>
                <a:spcPct val="150000"/>
              </a:lnSpc>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marL="285750" indent="-285750" algn="just" defTabSz="914400">
              <a:lnSpc>
                <a:spcPct val="150000"/>
              </a:lnSpc>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algn="just" defTabSz="914400">
              <a:lnSpc>
                <a:spcPct val="150000"/>
              </a:lnSpc>
            </a:pPr>
            <a:endParaRPr lang="en-US" sz="18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C47D26AB-7844-415A-0BBB-258253CFFB93}"/>
              </a:ext>
            </a:extLst>
          </p:cNvPr>
          <p:cNvSpPr txBox="1"/>
          <p:nvPr/>
        </p:nvSpPr>
        <p:spPr>
          <a:xfrm>
            <a:off x="533400" y="1343025"/>
            <a:ext cx="9525000" cy="4191981"/>
          </a:xfrm>
          <a:prstGeom prst="rect">
            <a:avLst/>
          </a:prstGeom>
          <a:noFill/>
        </p:spPr>
        <p:txBody>
          <a:bodyPr wrap="square">
            <a:spAutoFit/>
          </a:bodyPr>
          <a:lstStyle/>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 The rapid growth of social media platforms like Twitter, there is an abundance of user-generated content in the form of tweets, posts, and comments. Analyzing the sentiment expressed in this data can provide valuable insights into public opinion, brand perception, customer satisfaction, and various other areas of interest.</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primary objective of this project is to develop an automated system capable of accurately classifying the sentiment expressed in tweets as positive or negative.</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system utilizes natural language processing (NLP) techniques, machine learning algorithms, and text classification models to process and analyze the textual content of tweets.</a:t>
            </a:r>
            <a:endParaRPr lang="en-IN" sz="2000" dirty="0">
              <a:latin typeface="Times New Roman" panose="02020603050405020304" pitchFamily="18" charset="0"/>
              <a:cs typeface="Times New Roman" panose="02020603050405020304" pitchFamily="18" charset="0"/>
            </a:endParaRPr>
          </a:p>
        </p:txBody>
      </p:sp>
      <p:cxnSp>
        <p:nvCxnSpPr>
          <p:cNvPr id="5" name="Straight Connector 4">
            <a:extLst>
              <a:ext uri="{FF2B5EF4-FFF2-40B4-BE49-F238E27FC236}">
                <a16:creationId xmlns:a16="http://schemas.microsoft.com/office/drawing/2014/main" id="{6B5665EB-3158-053A-AE0D-368C9144684F}"/>
              </a:ext>
            </a:extLst>
          </p:cNvPr>
          <p:cNvCxnSpPr>
            <a:cxnSpLocks/>
          </p:cNvCxnSpPr>
          <p:nvPr/>
        </p:nvCxnSpPr>
        <p:spPr>
          <a:xfrm>
            <a:off x="914400" y="1181100"/>
            <a:ext cx="10590212" cy="38100"/>
          </a:xfrm>
          <a:prstGeom prst="line">
            <a:avLst/>
          </a:prstGeom>
          <a:ln w="76200">
            <a:solidFill>
              <a:srgbClr val="F62610"/>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943482550"/>
      </p:ext>
    </p:extLst>
  </p:cSld>
  <p:clrMapOvr>
    <a:masterClrMapping/>
  </p:clrMapOvr>
  <p:transition spd="slow">
    <p:comb dir="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FF3885D-999F-49F2-99A6-827D3DDAFCCD}"/>
              </a:ext>
            </a:extLst>
          </p:cNvPr>
          <p:cNvSpPr txBox="1">
            <a:spLocks/>
          </p:cNvSpPr>
          <p:nvPr/>
        </p:nvSpPr>
        <p:spPr>
          <a:xfrm>
            <a:off x="457200" y="480291"/>
            <a:ext cx="11047412" cy="738909"/>
          </a:xfrm>
          <a:prstGeom prst="rect">
            <a:avLst/>
          </a:prstGeom>
        </p:spPr>
        <p:txBody>
          <a:bodyPr>
            <a:normAutofit/>
          </a:bodyPr>
          <a:lst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a:lstStyle>
          <a:p>
            <a:pPr algn="ctr" defTabSz="914400"/>
            <a:r>
              <a:rPr lang="en-US" b="1" dirty="0">
                <a:latin typeface="Times New Roman" panose="02020603050405020304" pitchFamily="18" charset="0"/>
                <a:cs typeface="Times New Roman" panose="02020603050405020304" pitchFamily="18" charset="0"/>
              </a:rPr>
              <a:t>Methodology</a:t>
            </a:r>
          </a:p>
        </p:txBody>
      </p:sp>
      <p:sp>
        <p:nvSpPr>
          <p:cNvPr id="4" name="TextBox 3">
            <a:extLst>
              <a:ext uri="{FF2B5EF4-FFF2-40B4-BE49-F238E27FC236}">
                <a16:creationId xmlns:a16="http://schemas.microsoft.com/office/drawing/2014/main" id="{EE35EB87-B8D9-B6E1-85A2-DBE0A9F331D4}"/>
              </a:ext>
            </a:extLst>
          </p:cNvPr>
          <p:cNvSpPr txBox="1"/>
          <p:nvPr/>
        </p:nvSpPr>
        <p:spPr>
          <a:xfrm>
            <a:off x="838200" y="1447800"/>
            <a:ext cx="10515600" cy="4062651"/>
          </a:xfrm>
          <a:prstGeom prst="rect">
            <a:avLst/>
          </a:prstGeom>
          <a:noFill/>
        </p:spPr>
        <p:txBody>
          <a:bodyPr wrap="square">
            <a:spAutoFit/>
          </a:bodyPr>
          <a:lstStyle/>
          <a:p>
            <a:pPr>
              <a:lnSpc>
                <a:spcPct val="200000"/>
              </a:lnSpc>
            </a:pPr>
            <a:r>
              <a:rPr lang="en-US" sz="2400" dirty="0">
                <a:latin typeface="Times New Roman" panose="02020603050405020304" pitchFamily="18" charset="0"/>
                <a:cs typeface="Times New Roman" panose="02020603050405020304" pitchFamily="18" charset="0"/>
              </a:rPr>
              <a:t>1. Data Collection</a:t>
            </a:r>
          </a:p>
          <a:p>
            <a:pPr>
              <a:lnSpc>
                <a:spcPct val="200000"/>
              </a:lnSpc>
            </a:pPr>
            <a:r>
              <a:rPr lang="en-US" sz="2400" dirty="0">
                <a:latin typeface="Times New Roman" panose="02020603050405020304" pitchFamily="18" charset="0"/>
                <a:cs typeface="Times New Roman" panose="02020603050405020304" pitchFamily="18" charset="0"/>
              </a:rPr>
              <a:t>2. Data Preprocessing</a:t>
            </a:r>
          </a:p>
          <a:p>
            <a:pPr algn="just" eaLnBrk="1" fontAlgn="auto" hangingPunct="1">
              <a:lnSpc>
                <a:spcPct val="200000"/>
              </a:lnSpc>
              <a:spcBef>
                <a:spcPts val="0"/>
              </a:spcBef>
              <a:spcAft>
                <a:spcPts val="0"/>
              </a:spcAft>
              <a:buClr>
                <a:schemeClr val="tx1"/>
              </a:buClr>
              <a:defRPr/>
            </a:pPr>
            <a:r>
              <a:rPr lang="en-US" sz="2400" dirty="0">
                <a:latin typeface="Times New Roman" panose="02020603050405020304" pitchFamily="18" charset="0"/>
                <a:cs typeface="Times New Roman" panose="02020603050405020304" pitchFamily="18" charset="0"/>
              </a:rPr>
              <a:t>3. Exploratory Data Analysis (EDA)</a:t>
            </a:r>
            <a:endParaRPr lang="en-IN" sz="240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endParaRPr>
          </a:p>
          <a:p>
            <a:pPr algn="just" eaLnBrk="1" fontAlgn="auto" hangingPunct="1">
              <a:lnSpc>
                <a:spcPct val="200000"/>
              </a:lnSpc>
              <a:spcBef>
                <a:spcPts val="0"/>
              </a:spcBef>
              <a:spcAft>
                <a:spcPts val="0"/>
              </a:spcAft>
              <a:buClr>
                <a:schemeClr val="tx1"/>
              </a:buClr>
              <a:defRPr/>
            </a:pPr>
            <a:r>
              <a:rPr lang="en-US" sz="240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4. </a:t>
            </a:r>
            <a:r>
              <a:rPr lang="en-IN" sz="2400" dirty="0">
                <a:latin typeface="Times New Roman" panose="02020603050405020304" pitchFamily="18" charset="0"/>
                <a:cs typeface="Times New Roman" panose="02020603050405020304" pitchFamily="18" charset="0"/>
              </a:rPr>
              <a:t>Model Selection and Training </a:t>
            </a:r>
          </a:p>
          <a:p>
            <a:pPr algn="just" eaLnBrk="1" fontAlgn="auto" hangingPunct="1">
              <a:lnSpc>
                <a:spcPct val="200000"/>
              </a:lnSpc>
              <a:spcBef>
                <a:spcPts val="0"/>
              </a:spcBef>
              <a:spcAft>
                <a:spcPts val="0"/>
              </a:spcAft>
              <a:buClr>
                <a:schemeClr val="tx1"/>
              </a:buClr>
              <a:defRPr/>
            </a:pPr>
            <a:r>
              <a:rPr lang="en-IN" sz="2400" kern="0" dirty="0">
                <a:solidFill>
                  <a:sysClr val="windowText" lastClr="000000"/>
                </a:solidFill>
                <a:latin typeface="Times New Roman" panose="02020603050405020304" pitchFamily="18" charset="0"/>
                <a:cs typeface="Times New Roman" pitchFamily="18" charset="0"/>
              </a:rPr>
              <a:t>5. </a:t>
            </a:r>
            <a:r>
              <a:rPr lang="en-IN" sz="2400" dirty="0">
                <a:latin typeface="Times New Roman" panose="02020603050405020304" pitchFamily="18" charset="0"/>
                <a:cs typeface="Times New Roman" panose="02020603050405020304" pitchFamily="18" charset="0"/>
              </a:rPr>
              <a:t>Performance Evaluation</a:t>
            </a:r>
            <a:endParaRPr lang="en-US" sz="2400" kern="0" dirty="0">
              <a:solidFill>
                <a:sysClr val="windowText" lastClr="000000"/>
              </a:solidFill>
              <a:latin typeface="Times New Roman" panose="02020603050405020304" pitchFamily="18" charset="0"/>
              <a:cs typeface="Times New Roman" pitchFamily="18" charset="0"/>
            </a:endParaRPr>
          </a:p>
          <a:p>
            <a:endParaRPr lang="en-IN" dirty="0"/>
          </a:p>
        </p:txBody>
      </p:sp>
      <p:cxnSp>
        <p:nvCxnSpPr>
          <p:cNvPr id="2" name="Straight Connector 1">
            <a:extLst>
              <a:ext uri="{FF2B5EF4-FFF2-40B4-BE49-F238E27FC236}">
                <a16:creationId xmlns:a16="http://schemas.microsoft.com/office/drawing/2014/main" id="{51E0FB1B-8010-DD0B-C9D4-15509C0693ED}"/>
              </a:ext>
            </a:extLst>
          </p:cNvPr>
          <p:cNvCxnSpPr>
            <a:cxnSpLocks/>
          </p:cNvCxnSpPr>
          <p:nvPr/>
        </p:nvCxnSpPr>
        <p:spPr>
          <a:xfrm>
            <a:off x="687388" y="1219200"/>
            <a:ext cx="10817224" cy="0"/>
          </a:xfrm>
          <a:prstGeom prst="line">
            <a:avLst/>
          </a:prstGeom>
          <a:ln w="76200">
            <a:solidFill>
              <a:srgbClr val="F62610"/>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5264100"/>
      </p:ext>
    </p:extLst>
  </p:cSld>
  <p:clrMapOvr>
    <a:masterClrMapping/>
  </p:clrMapOvr>
  <p:transition spd="slow">
    <p:comb dir="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E4557DF-8A2A-293C-FC39-257A1B1AB778}"/>
              </a:ext>
            </a:extLst>
          </p:cNvPr>
          <p:cNvSpPr txBox="1"/>
          <p:nvPr/>
        </p:nvSpPr>
        <p:spPr>
          <a:xfrm>
            <a:off x="685800" y="1167825"/>
            <a:ext cx="10817224" cy="4191981"/>
          </a:xfrm>
          <a:prstGeom prst="rect">
            <a:avLst/>
          </a:prstGeom>
          <a:noFill/>
        </p:spPr>
        <p:txBody>
          <a:bodyPr wrap="square">
            <a:spAutoFit/>
          </a:bodyPr>
          <a:lstStyle/>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dataset used in this project was obtained from a reputable source (e.g., Kaggle, academic repositories, or web scraping). It consists of a total of [31962] tweets, providing a substantial amount of data for training and evaluating the sentiment analysis models.</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dataset is structured as a table or a CSV file, with each row representing a single tweet. The key attributes present in the dataset are:</a:t>
            </a:r>
          </a:p>
          <a:p>
            <a:pPr marL="800100" lvl="1"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id: A unique identifier for each tweet.</a:t>
            </a:r>
          </a:p>
          <a:p>
            <a:pPr marL="800100" lvl="1"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tweet: The textual content of the tweet.</a:t>
            </a:r>
          </a:p>
          <a:p>
            <a:pPr marL="800100" lvl="1"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label: The sentiment label associated with the tweet, typically binary (0 for positive sentiment, 1 for negative sentiment).</a:t>
            </a:r>
            <a:endParaRPr lang="en-GB" sz="2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15263396-F2E2-AB61-3D60-E10A9579066E}"/>
              </a:ext>
            </a:extLst>
          </p:cNvPr>
          <p:cNvSpPr txBox="1"/>
          <p:nvPr/>
        </p:nvSpPr>
        <p:spPr>
          <a:xfrm>
            <a:off x="3598068" y="457200"/>
            <a:ext cx="4992688"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DATASET OVERVIEW</a:t>
            </a:r>
            <a:endParaRPr lang="en-GB" sz="3600" b="1" dirty="0">
              <a:latin typeface="Times New Roman" panose="02020603050405020304" pitchFamily="18" charset="0"/>
              <a:cs typeface="Times New Roman" panose="02020603050405020304" pitchFamily="18" charset="0"/>
            </a:endParaRPr>
          </a:p>
        </p:txBody>
      </p:sp>
      <p:cxnSp>
        <p:nvCxnSpPr>
          <p:cNvPr id="2" name="Straight Connector 1">
            <a:extLst>
              <a:ext uri="{FF2B5EF4-FFF2-40B4-BE49-F238E27FC236}">
                <a16:creationId xmlns:a16="http://schemas.microsoft.com/office/drawing/2014/main" id="{AED90B4D-EE8E-E6F6-CE50-F0A48EE68C2B}"/>
              </a:ext>
            </a:extLst>
          </p:cNvPr>
          <p:cNvCxnSpPr>
            <a:cxnSpLocks/>
          </p:cNvCxnSpPr>
          <p:nvPr/>
        </p:nvCxnSpPr>
        <p:spPr>
          <a:xfrm>
            <a:off x="685800" y="1198305"/>
            <a:ext cx="10817224" cy="0"/>
          </a:xfrm>
          <a:prstGeom prst="line">
            <a:avLst/>
          </a:prstGeom>
          <a:ln w="76200">
            <a:solidFill>
              <a:srgbClr val="F62610"/>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724140482"/>
      </p:ext>
    </p:extLst>
  </p:cSld>
  <p:clrMapOvr>
    <a:masterClrMapping/>
  </p:clrMapOvr>
  <p:transition spd="slow">
    <p:comb dir="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FF3885D-999F-49F2-99A6-827D3DDAFCCD}"/>
              </a:ext>
            </a:extLst>
          </p:cNvPr>
          <p:cNvSpPr txBox="1">
            <a:spLocks/>
          </p:cNvSpPr>
          <p:nvPr/>
        </p:nvSpPr>
        <p:spPr>
          <a:xfrm>
            <a:off x="457200" y="480291"/>
            <a:ext cx="11047412" cy="738909"/>
          </a:xfrm>
          <a:prstGeom prst="rect">
            <a:avLst/>
          </a:prstGeom>
        </p:spPr>
        <p:txBody>
          <a:bodyPr>
            <a:normAutofit/>
          </a:bodyPr>
          <a:lst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a:lstStyle>
          <a:p>
            <a:pPr algn="ctr" defTabSz="914400"/>
            <a:endParaRPr lang="en-US" sz="32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EE35EB87-B8D9-B6E1-85A2-DBE0A9F331D4}"/>
              </a:ext>
            </a:extLst>
          </p:cNvPr>
          <p:cNvSpPr txBox="1"/>
          <p:nvPr/>
        </p:nvSpPr>
        <p:spPr>
          <a:xfrm>
            <a:off x="609600" y="849745"/>
            <a:ext cx="9753600" cy="4745979"/>
          </a:xfrm>
          <a:prstGeom prst="rect">
            <a:avLst/>
          </a:prstGeom>
          <a:noFill/>
        </p:spPr>
        <p:txBody>
          <a:bodyPr wrap="square">
            <a:spAutoFit/>
          </a:bodyPr>
          <a:lstStyle/>
          <a:p>
            <a:pPr marL="342900" indent="-342900">
              <a:buAutoNum type="arabicPeriod"/>
            </a:pPr>
            <a:r>
              <a:rPr lang="en-US" sz="2400" b="1" dirty="0">
                <a:latin typeface="Times New Roman" panose="02020603050405020304" pitchFamily="18" charset="0"/>
                <a:cs typeface="Times New Roman" panose="02020603050405020304" pitchFamily="18" charset="0"/>
              </a:rPr>
              <a:t>Data Collection</a:t>
            </a:r>
          </a:p>
          <a:p>
            <a:pPr marL="285750" indent="-28575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Obtain a dataset of tweets with sentiment labels (positive, negative) from sources like Kaggle, academic repositories, or web scraping.</a:t>
            </a:r>
          </a:p>
          <a:p>
            <a:pPr marL="285750" indent="-28575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Ensure the dataset is representative of the domain and has sufficient samples for both sentiment classes.</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Data Preprocessing </a:t>
            </a:r>
            <a:endParaRPr lang="en-US" sz="2400"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Clean the tweet text by removing URLs, usernames, hashtags, and irrelevant content.</a:t>
            </a:r>
          </a:p>
          <a:p>
            <a:pPr marL="285750" indent="-285750">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Handle noise like misspellings, slang, and abbreviations using techniques like regex substitution or lookups.</a:t>
            </a:r>
          </a:p>
          <a:p>
            <a:pPr marL="285750" indent="-28575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Tokenize the text into individual </a:t>
            </a:r>
            <a:r>
              <a:rPr lang="en-US" sz="2000" dirty="0" err="1">
                <a:latin typeface="Times New Roman" panose="02020603050405020304" pitchFamily="18" charset="0"/>
                <a:cs typeface="Times New Roman" panose="02020603050405020304" pitchFamily="18" charset="0"/>
              </a:rPr>
              <a:t>words,removing</a:t>
            </a:r>
            <a:r>
              <a:rPr lang="en-US" sz="2000" dirty="0">
                <a:latin typeface="Times New Roman" panose="02020603050405020304" pitchFamily="18" charset="0"/>
                <a:cs typeface="Times New Roman" panose="02020603050405020304" pitchFamily="18" charset="0"/>
              </a:rPr>
              <a:t> stop words and stemming.</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2079509"/>
      </p:ext>
    </p:extLst>
  </p:cSld>
  <p:clrMapOvr>
    <a:masterClrMapping/>
  </p:clrMapOvr>
  <p:transition spd="slow">
    <p:comb dir="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FF3885D-999F-49F2-99A6-827D3DDAFCCD}"/>
              </a:ext>
            </a:extLst>
          </p:cNvPr>
          <p:cNvSpPr txBox="1">
            <a:spLocks/>
          </p:cNvSpPr>
          <p:nvPr/>
        </p:nvSpPr>
        <p:spPr>
          <a:xfrm>
            <a:off x="1127464" y="480291"/>
            <a:ext cx="10377148" cy="780803"/>
          </a:xfrm>
          <a:prstGeom prst="rect">
            <a:avLst/>
          </a:prstGeom>
        </p:spPr>
        <p:txBody>
          <a:bodyPr>
            <a:normAutofit/>
          </a:bodyPr>
          <a:lst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a:lstStyle>
          <a:p>
            <a:pPr algn="ctr" defTabSz="914400"/>
            <a:endParaRPr lang="en-US" sz="3200" b="1" dirty="0">
              <a:latin typeface="Times New Roman" panose="02020603050405020304" pitchFamily="18" charset="0"/>
              <a:cs typeface="Times New Roman" panose="02020603050405020304" pitchFamily="18" charset="0"/>
            </a:endParaRPr>
          </a:p>
        </p:txBody>
      </p:sp>
      <p:sp>
        <p:nvSpPr>
          <p:cNvPr id="4" name="Subtitle 2">
            <a:extLst>
              <a:ext uri="{FF2B5EF4-FFF2-40B4-BE49-F238E27FC236}">
                <a16:creationId xmlns:a16="http://schemas.microsoft.com/office/drawing/2014/main" id="{3A192EDD-E8FA-4173-A2D5-A3BA4CDC128C}"/>
              </a:ext>
            </a:extLst>
          </p:cNvPr>
          <p:cNvSpPr txBox="1">
            <a:spLocks/>
          </p:cNvSpPr>
          <p:nvPr/>
        </p:nvSpPr>
        <p:spPr>
          <a:xfrm>
            <a:off x="838200" y="1317299"/>
            <a:ext cx="10591800" cy="5007301"/>
          </a:xfrm>
          <a:prstGeom prst="rect">
            <a:avLst/>
          </a:prstGeom>
        </p:spPr>
        <p:txBody>
          <a:bodyPr>
            <a:noAutofit/>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defTabSz="914400">
              <a:lnSpc>
                <a:spcPct val="150000"/>
              </a:lnSpc>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lgn="just" defTabSz="914400">
              <a:lnSpc>
                <a:spcPct val="150000"/>
              </a:lnSpc>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lgn="just" defTabSz="914400">
              <a:lnSpc>
                <a:spcPct val="150000"/>
              </a:lnSpc>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marL="0" indent="0" algn="just" defTabSz="914400">
              <a:lnSpc>
                <a:spcPct val="150000"/>
              </a:lnSpc>
              <a:buNone/>
            </a:pPr>
            <a:endParaRPr lang="en-US" sz="16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580F95FA-B946-7623-21FE-FFF401B70089}"/>
              </a:ext>
            </a:extLst>
          </p:cNvPr>
          <p:cNvSpPr txBox="1"/>
          <p:nvPr/>
        </p:nvSpPr>
        <p:spPr>
          <a:xfrm>
            <a:off x="706438" y="870692"/>
            <a:ext cx="10971212" cy="5115311"/>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3. </a:t>
            </a:r>
            <a:r>
              <a:rPr lang="en-IN" sz="2400" b="1" dirty="0">
                <a:latin typeface="Times New Roman" panose="02020603050405020304" pitchFamily="18" charset="0"/>
                <a:cs typeface="Times New Roman" panose="02020603050405020304" pitchFamily="18" charset="0"/>
              </a:rPr>
              <a:t>Exploratory Data Analysis (EDA)</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Analyze the distribution of sentiment labels in the dataset.</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Investigate potential class imbalance and handle it appropriately .</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Visualize word frequencies, word clouds, and other characteristics of the text data.</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Identify and address any data quality issues or outliers. </a:t>
            </a:r>
          </a:p>
          <a:p>
            <a:pPr>
              <a:lnSpc>
                <a:spcPct val="150000"/>
              </a:lnSpc>
            </a:pPr>
            <a:r>
              <a:rPr lang="en-US" sz="2400" b="1" dirty="0">
                <a:latin typeface="Times New Roman" panose="02020603050405020304" pitchFamily="18" charset="0"/>
                <a:cs typeface="Times New Roman" panose="02020603050405020304" pitchFamily="18" charset="0"/>
              </a:rPr>
              <a:t>4. Model Selection and Training</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Select appropriate machine learning algorithms for sentiment classification, such as:</a:t>
            </a:r>
          </a:p>
          <a:p>
            <a:pPr marL="800100" lvl="1" indent="-342900">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Naive Bayes</a:t>
            </a:r>
          </a:p>
          <a:p>
            <a:pPr marL="800100" lvl="1" indent="-342900">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Logistic Regression</a:t>
            </a:r>
          </a:p>
          <a:p>
            <a:pPr marL="800100" lvl="1" indent="-342900">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Random Forest</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Train the selected models on the training data using the feature vectors and sentiment labels.</a:t>
            </a:r>
          </a:p>
        </p:txBody>
      </p:sp>
    </p:spTree>
    <p:extLst>
      <p:ext uri="{BB962C8B-B14F-4D97-AF65-F5344CB8AC3E}">
        <p14:creationId xmlns:p14="http://schemas.microsoft.com/office/powerpoint/2010/main" val="2859550948"/>
      </p:ext>
    </p:extLst>
  </p:cSld>
  <p:clrMapOvr>
    <a:masterClrMapping/>
  </p:clrMapOvr>
  <p:transition spd="slow">
    <p:comb dir="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FF3885D-999F-49F2-99A6-827D3DDAFCCD}"/>
              </a:ext>
            </a:extLst>
          </p:cNvPr>
          <p:cNvSpPr txBox="1">
            <a:spLocks/>
          </p:cNvSpPr>
          <p:nvPr/>
        </p:nvSpPr>
        <p:spPr>
          <a:xfrm>
            <a:off x="1127464" y="480291"/>
            <a:ext cx="10377148" cy="780803"/>
          </a:xfrm>
          <a:prstGeom prst="rect">
            <a:avLst/>
          </a:prstGeom>
        </p:spPr>
        <p:txBody>
          <a:bodyPr>
            <a:normAutofit/>
          </a:bodyPr>
          <a:lst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a:lstStyle>
          <a:p>
            <a:pPr algn="ctr" defTabSz="914400"/>
            <a:endParaRPr lang="en-US" sz="32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6A92593D-50B9-E0F2-35D8-AE8E60810086}"/>
              </a:ext>
            </a:extLst>
          </p:cNvPr>
          <p:cNvSpPr txBox="1"/>
          <p:nvPr/>
        </p:nvSpPr>
        <p:spPr>
          <a:xfrm>
            <a:off x="1295401" y="1143001"/>
            <a:ext cx="9906000" cy="861774"/>
          </a:xfrm>
          <a:prstGeom prst="rect">
            <a:avLst/>
          </a:prstGeom>
          <a:noFill/>
        </p:spPr>
        <p:txBody>
          <a:bodyPr wrap="square">
            <a:spAutoFit/>
          </a:bodyPr>
          <a:lstStyle/>
          <a:p>
            <a:pPr algn="just"/>
            <a:r>
              <a:rPr lang="en-US" b="1"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       </a:t>
            </a:r>
            <a:endParaRPr lang="en-IN" sz="16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ECD27062-20BE-7EE1-DA1B-151CD7E453BF}"/>
              </a:ext>
            </a:extLst>
          </p:cNvPr>
          <p:cNvSpPr txBox="1"/>
          <p:nvPr/>
        </p:nvSpPr>
        <p:spPr>
          <a:xfrm>
            <a:off x="1028699" y="870692"/>
            <a:ext cx="9105901" cy="2899320"/>
          </a:xfrm>
          <a:prstGeom prst="rect">
            <a:avLst/>
          </a:prstGeom>
          <a:noFill/>
        </p:spPr>
        <p:txBody>
          <a:bodyPr wrap="square">
            <a:spAutoFit/>
          </a:bodyPr>
          <a:lstStyle/>
          <a:p>
            <a:pPr algn="just" eaLnBrk="1" hangingPunct="1">
              <a:lnSpc>
                <a:spcPct val="150000"/>
              </a:lnSpc>
              <a:buClr>
                <a:schemeClr val="tx1"/>
              </a:buClr>
            </a:pPr>
            <a:r>
              <a:rPr lang="en-US" altLang="en-US" sz="2400" b="1" dirty="0">
                <a:solidFill>
                  <a:srgbClr val="000000"/>
                </a:solidFill>
                <a:latin typeface="Times New Roman" panose="02020603050405020304" pitchFamily="18" charset="0"/>
                <a:cs typeface="Times New Roman" panose="02020603050405020304" pitchFamily="18" charset="0"/>
              </a:rPr>
              <a:t>5. Performance Evaluation</a:t>
            </a:r>
          </a:p>
          <a:p>
            <a:pPr marL="342900" indent="-342900" algn="just" eaLnBrk="1" hangingPunct="1">
              <a:lnSpc>
                <a:spcPct val="150000"/>
              </a:lnSpc>
              <a:buClr>
                <a:schemeClr val="tx1"/>
              </a:buClr>
              <a:buFont typeface="Wingdings" panose="05000000000000000000" pitchFamily="2" charset="2"/>
              <a:buChar char="Ø"/>
            </a:pPr>
            <a:r>
              <a:rPr lang="en-US" altLang="en-US" sz="2000" dirty="0">
                <a:solidFill>
                  <a:srgbClr val="000000"/>
                </a:solidFill>
                <a:latin typeface="Times New Roman" panose="02020603050405020304" pitchFamily="18" charset="0"/>
                <a:cs typeface="Times New Roman" panose="02020603050405020304" pitchFamily="18" charset="0"/>
              </a:rPr>
              <a:t>Evaluate the trained models on the test set using appropriate metrics like:</a:t>
            </a:r>
          </a:p>
          <a:p>
            <a:pPr marL="800100" lvl="1" indent="-342900" algn="just">
              <a:lnSpc>
                <a:spcPct val="150000"/>
              </a:lnSpc>
              <a:buClr>
                <a:schemeClr val="tx1"/>
              </a:buClr>
              <a:buFont typeface="Wingdings" panose="05000000000000000000" pitchFamily="2" charset="2"/>
              <a:buChar char="§"/>
            </a:pPr>
            <a:r>
              <a:rPr lang="en-US" altLang="en-US" sz="2000" dirty="0">
                <a:solidFill>
                  <a:srgbClr val="000000"/>
                </a:solidFill>
                <a:latin typeface="Times New Roman" panose="02020603050405020304" pitchFamily="18" charset="0"/>
                <a:cs typeface="Times New Roman" panose="02020603050405020304" pitchFamily="18" charset="0"/>
              </a:rPr>
              <a:t>Accuracy</a:t>
            </a:r>
          </a:p>
          <a:p>
            <a:pPr marL="800100" lvl="1" indent="-342900" algn="just">
              <a:lnSpc>
                <a:spcPct val="150000"/>
              </a:lnSpc>
              <a:buClr>
                <a:schemeClr val="tx1"/>
              </a:buClr>
              <a:buFont typeface="Wingdings" panose="05000000000000000000" pitchFamily="2" charset="2"/>
              <a:buChar char="§"/>
            </a:pPr>
            <a:r>
              <a:rPr lang="en-US" altLang="en-US" sz="2000" dirty="0">
                <a:solidFill>
                  <a:srgbClr val="000000"/>
                </a:solidFill>
                <a:latin typeface="Times New Roman" panose="02020603050405020304" pitchFamily="18" charset="0"/>
                <a:cs typeface="Times New Roman" panose="02020603050405020304" pitchFamily="18" charset="0"/>
              </a:rPr>
              <a:t>F1-score</a:t>
            </a:r>
          </a:p>
          <a:p>
            <a:pPr marL="342900" indent="-342900" algn="just" eaLnBrk="1" hangingPunct="1">
              <a:lnSpc>
                <a:spcPct val="150000"/>
              </a:lnSpc>
              <a:buClr>
                <a:schemeClr val="tx1"/>
              </a:buClr>
              <a:buFont typeface="Wingdings" panose="05000000000000000000" pitchFamily="2" charset="2"/>
              <a:buChar char="Ø"/>
            </a:pPr>
            <a:r>
              <a:rPr lang="en-US" altLang="en-US" sz="2000" dirty="0">
                <a:solidFill>
                  <a:srgbClr val="000000"/>
                </a:solidFill>
                <a:latin typeface="Times New Roman" panose="02020603050405020304" pitchFamily="18" charset="0"/>
                <a:cs typeface="Times New Roman" panose="02020603050405020304" pitchFamily="18" charset="0"/>
              </a:rPr>
              <a:t>Analyze misclassified instances and potential sources of error.</a:t>
            </a:r>
          </a:p>
          <a:p>
            <a:pPr marL="342900" indent="-342900" algn="just" eaLnBrk="1" hangingPunct="1">
              <a:lnSpc>
                <a:spcPct val="150000"/>
              </a:lnSpc>
              <a:buClr>
                <a:schemeClr val="tx1"/>
              </a:buClr>
              <a:buFont typeface="Wingdings" panose="05000000000000000000" pitchFamily="2" charset="2"/>
              <a:buChar char="Ø"/>
            </a:pPr>
            <a:r>
              <a:rPr lang="en-US" altLang="en-US" sz="2000" dirty="0">
                <a:solidFill>
                  <a:srgbClr val="000000"/>
                </a:solidFill>
                <a:latin typeface="Times New Roman" panose="02020603050405020304" pitchFamily="18" charset="0"/>
                <a:cs typeface="Times New Roman" panose="02020603050405020304" pitchFamily="18" charset="0"/>
              </a:rPr>
              <a:t>Compare the performance of different models and select the best-performing one(s).</a:t>
            </a:r>
          </a:p>
        </p:txBody>
      </p:sp>
    </p:spTree>
    <p:extLst>
      <p:ext uri="{BB962C8B-B14F-4D97-AF65-F5344CB8AC3E}">
        <p14:creationId xmlns:p14="http://schemas.microsoft.com/office/powerpoint/2010/main" val="807207832"/>
      </p:ext>
    </p:extLst>
  </p:cSld>
  <p:clrMapOvr>
    <a:masterClrMapping/>
  </p:clrMapOvr>
  <p:transition spd="slow">
    <p:comb dir="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FF3885D-999F-49F2-99A6-827D3DDAFCCD}"/>
              </a:ext>
            </a:extLst>
          </p:cNvPr>
          <p:cNvSpPr txBox="1">
            <a:spLocks/>
          </p:cNvSpPr>
          <p:nvPr/>
        </p:nvSpPr>
        <p:spPr>
          <a:xfrm>
            <a:off x="1127464" y="480291"/>
            <a:ext cx="10377148" cy="780803"/>
          </a:xfrm>
          <a:prstGeom prst="rect">
            <a:avLst/>
          </a:prstGeom>
        </p:spPr>
        <p:txBody>
          <a:bodyPr>
            <a:normAutofit/>
          </a:bodyPr>
          <a:lst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a:lstStyle>
          <a:p>
            <a:pPr algn="ctr" defTabSz="914400"/>
            <a:endParaRPr lang="en-US" sz="32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6A92593D-50B9-E0F2-35D8-AE8E60810086}"/>
              </a:ext>
            </a:extLst>
          </p:cNvPr>
          <p:cNvSpPr txBox="1"/>
          <p:nvPr/>
        </p:nvSpPr>
        <p:spPr>
          <a:xfrm>
            <a:off x="1295401" y="1143001"/>
            <a:ext cx="9906000" cy="861774"/>
          </a:xfrm>
          <a:prstGeom prst="rect">
            <a:avLst/>
          </a:prstGeom>
          <a:noFill/>
        </p:spPr>
        <p:txBody>
          <a:bodyPr wrap="square">
            <a:spAutoFit/>
          </a:bodyPr>
          <a:lstStyle/>
          <a:p>
            <a:pPr algn="just"/>
            <a:r>
              <a:rPr lang="en-US" b="1"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       </a:t>
            </a:r>
            <a:endParaRPr lang="en-IN" sz="16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ECD27062-20BE-7EE1-DA1B-151CD7E453BF}"/>
              </a:ext>
            </a:extLst>
          </p:cNvPr>
          <p:cNvSpPr txBox="1"/>
          <p:nvPr/>
        </p:nvSpPr>
        <p:spPr>
          <a:xfrm>
            <a:off x="1028699" y="870692"/>
            <a:ext cx="9601198" cy="2908489"/>
          </a:xfrm>
          <a:prstGeom prst="rect">
            <a:avLst/>
          </a:prstGeom>
          <a:noFill/>
        </p:spPr>
        <p:txBody>
          <a:bodyPr wrap="square">
            <a:spAutoFit/>
          </a:bodyPr>
          <a:lstStyle/>
          <a:p>
            <a:r>
              <a:rPr lang="en-US" altLang="en-US" sz="2800" b="1" dirty="0">
                <a:solidFill>
                  <a:srgbClr val="000000"/>
                </a:solidFill>
                <a:latin typeface="Times New Roman" panose="02020603050405020304" pitchFamily="18" charset="0"/>
                <a:cs typeface="Times New Roman" panose="02020603050405020304" pitchFamily="18" charset="0"/>
              </a:rPr>
              <a:t> ALGORITHMS</a:t>
            </a:r>
            <a:br>
              <a:rPr lang="en-US" altLang="en-US" sz="2800" b="1" dirty="0">
                <a:solidFill>
                  <a:srgbClr val="000000"/>
                </a:solidFill>
                <a:latin typeface="Times New Roman" panose="02020603050405020304" pitchFamily="18" charset="0"/>
                <a:cs typeface="Times New Roman" panose="02020603050405020304" pitchFamily="18" charset="0"/>
              </a:rPr>
            </a:br>
            <a:br>
              <a:rPr lang="en-US" altLang="en-US" sz="2800" b="1" dirty="0">
                <a:solidFill>
                  <a:srgbClr val="000000"/>
                </a:solidFill>
                <a:latin typeface="Times New Roman" panose="02020603050405020304" pitchFamily="18" charset="0"/>
                <a:cs typeface="Times New Roman" panose="02020603050405020304" pitchFamily="18" charset="0"/>
              </a:rPr>
            </a:br>
            <a:r>
              <a:rPr lang="en-US" altLang="en-US" sz="3500" b="1" dirty="0">
                <a:solidFill>
                  <a:srgbClr val="000000"/>
                </a:solidFill>
                <a:latin typeface="Times New Roman" panose="02020603050405020304" pitchFamily="18" charset="0"/>
                <a:cs typeface="Times New Roman" panose="02020603050405020304" pitchFamily="18" charset="0"/>
              </a:rPr>
              <a:t>      </a:t>
            </a:r>
            <a:r>
              <a:rPr lang="en-US" altLang="en-US" sz="2400" b="1" dirty="0">
                <a:solidFill>
                  <a:srgbClr val="000000"/>
                </a:solidFill>
                <a:latin typeface="Times New Roman" panose="02020603050405020304" pitchFamily="18" charset="0"/>
                <a:cs typeface="Times New Roman" panose="02020603050405020304" pitchFamily="18" charset="0"/>
              </a:rPr>
              <a:t>1. </a:t>
            </a:r>
            <a:r>
              <a:rPr lang="en-US" altLang="en-US" sz="2400" b="1" dirty="0" err="1">
                <a:solidFill>
                  <a:srgbClr val="000000"/>
                </a:solidFill>
                <a:latin typeface="Times New Roman" panose="02020603050405020304" pitchFamily="18" charset="0"/>
                <a:cs typeface="Times New Roman" panose="02020603050405020304" pitchFamily="18" charset="0"/>
              </a:rPr>
              <a:t>MultiNomial</a:t>
            </a:r>
            <a:r>
              <a:rPr lang="en-US" altLang="en-US" sz="2400" b="1" dirty="0">
                <a:solidFill>
                  <a:srgbClr val="000000"/>
                </a:solidFill>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Naïve Bayes Classifier: </a:t>
            </a:r>
            <a:br>
              <a:rPr lang="en-IN" sz="2400" b="1" dirty="0"/>
            </a:br>
            <a:endParaRPr lang="en-IN" sz="2000" dirty="0"/>
          </a:p>
          <a:p>
            <a:pPr lvl="2" algn="just"/>
            <a:r>
              <a:rPr lang="en-IN" sz="2500" dirty="0">
                <a:latin typeface="Times New Roman" panose="02020603050405020304" pitchFamily="18" charset="0"/>
                <a:cs typeface="Times New Roman" panose="02020603050405020304" pitchFamily="18" charset="0"/>
              </a:rPr>
              <a:t>FORMULAS:</a:t>
            </a:r>
          </a:p>
          <a:p>
            <a:pPr lvl="2" algn="just"/>
            <a:r>
              <a:rPr lang="en-IN" sz="2500" dirty="0"/>
              <a:t>		  </a:t>
            </a:r>
          </a:p>
          <a:p>
            <a:pPr lvl="2" algn="just"/>
            <a:endParaRPr lang="en-US" altLang="en-US" sz="2200" dirty="0">
              <a:solidFill>
                <a:srgbClr val="000000"/>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8B5B639C-004A-FE62-B0DD-C3144B3A857E}"/>
              </a:ext>
            </a:extLst>
          </p:cNvPr>
          <p:cNvPicPr>
            <a:picLocks noChangeAspect="1"/>
          </p:cNvPicPr>
          <p:nvPr/>
        </p:nvPicPr>
        <p:blipFill>
          <a:blip r:embed="rId2"/>
          <a:stretch>
            <a:fillRect/>
          </a:stretch>
        </p:blipFill>
        <p:spPr>
          <a:xfrm>
            <a:off x="2362200" y="3460833"/>
            <a:ext cx="6706181" cy="2254166"/>
          </a:xfrm>
          <a:prstGeom prst="rect">
            <a:avLst/>
          </a:prstGeom>
        </p:spPr>
      </p:pic>
    </p:spTree>
    <p:extLst>
      <p:ext uri="{BB962C8B-B14F-4D97-AF65-F5344CB8AC3E}">
        <p14:creationId xmlns:p14="http://schemas.microsoft.com/office/powerpoint/2010/main" val="2807663308"/>
      </p:ext>
    </p:extLst>
  </p:cSld>
  <p:clrMapOvr>
    <a:masterClrMapping/>
  </p:clrMapOvr>
  <p:transition spd="slow">
    <p:comb dir="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FF3885D-999F-49F2-99A6-827D3DDAFCCD}"/>
              </a:ext>
            </a:extLst>
          </p:cNvPr>
          <p:cNvSpPr txBox="1">
            <a:spLocks/>
          </p:cNvSpPr>
          <p:nvPr/>
        </p:nvSpPr>
        <p:spPr>
          <a:xfrm>
            <a:off x="1127464" y="480291"/>
            <a:ext cx="10377148" cy="780803"/>
          </a:xfrm>
          <a:prstGeom prst="rect">
            <a:avLst/>
          </a:prstGeom>
        </p:spPr>
        <p:txBody>
          <a:bodyPr>
            <a:normAutofit/>
          </a:bodyPr>
          <a:lst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a:lstStyle>
          <a:p>
            <a:pPr algn="ctr" defTabSz="914400"/>
            <a:endParaRPr lang="en-US" sz="32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6A92593D-50B9-E0F2-35D8-AE8E60810086}"/>
              </a:ext>
            </a:extLst>
          </p:cNvPr>
          <p:cNvSpPr txBox="1"/>
          <p:nvPr/>
        </p:nvSpPr>
        <p:spPr>
          <a:xfrm>
            <a:off x="1295401" y="1143001"/>
            <a:ext cx="9906000" cy="861774"/>
          </a:xfrm>
          <a:prstGeom prst="rect">
            <a:avLst/>
          </a:prstGeom>
          <a:noFill/>
        </p:spPr>
        <p:txBody>
          <a:bodyPr wrap="square">
            <a:spAutoFit/>
          </a:bodyPr>
          <a:lstStyle/>
          <a:p>
            <a:pPr algn="just"/>
            <a:r>
              <a:rPr lang="en-US" b="1"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       </a:t>
            </a:r>
            <a:endParaRPr lang="en-IN" sz="16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ECD27062-20BE-7EE1-DA1B-151CD7E453BF}"/>
              </a:ext>
            </a:extLst>
          </p:cNvPr>
          <p:cNvSpPr txBox="1"/>
          <p:nvPr/>
        </p:nvSpPr>
        <p:spPr>
          <a:xfrm>
            <a:off x="1028699" y="1079480"/>
            <a:ext cx="8686797" cy="5078313"/>
          </a:xfrm>
          <a:prstGeom prst="rect">
            <a:avLst/>
          </a:prstGeom>
          <a:noFill/>
        </p:spPr>
        <p:txBody>
          <a:bodyPr wrap="square">
            <a:spAutoFit/>
          </a:bodyPr>
          <a:lstStyle/>
          <a:p>
            <a:pPr algn="l" rtl="0" eaLnBrk="0" fontAlgn="base" hangingPunct="0">
              <a:spcBef>
                <a:spcPts val="0"/>
              </a:spcBef>
              <a:spcAft>
                <a:spcPts val="0"/>
              </a:spcAft>
            </a:pPr>
            <a:r>
              <a:rPr lang="en-IN" sz="2000" kern="1200" dirty="0">
                <a:solidFill>
                  <a:srgbClr val="000000"/>
                </a:solidFill>
                <a:effectLst/>
                <a:latin typeface="Times New Roman" panose="02020603050405020304" pitchFamily="18" charset="0"/>
                <a:cs typeface="Times New Roman" panose="02020603050405020304" pitchFamily="18" charset="0"/>
              </a:rPr>
              <a:t>CODE:</a:t>
            </a:r>
          </a:p>
          <a:p>
            <a:pPr algn="l" rtl="0" eaLnBrk="0" fontAlgn="base" hangingPunct="0">
              <a:spcBef>
                <a:spcPts val="0"/>
              </a:spcBef>
              <a:spcAft>
                <a:spcPts val="0"/>
              </a:spcAft>
            </a:pPr>
            <a:r>
              <a:rPr lang="en-IN" sz="1800" kern="1200" dirty="0">
                <a:solidFill>
                  <a:srgbClr val="000000"/>
                </a:solidFill>
                <a:effectLst/>
                <a:latin typeface="Times New Roman" panose="02020603050405020304" pitchFamily="18" charset="0"/>
                <a:cs typeface="Times New Roman" panose="02020603050405020304" pitchFamily="18" charset="0"/>
              </a:rPr>
              <a:t>              </a:t>
            </a:r>
          </a:p>
          <a:p>
            <a:pPr algn="l" rtl="0" eaLnBrk="0" fontAlgn="base" hangingPunct="0">
              <a:lnSpc>
                <a:spcPct val="150000"/>
              </a:lnSpc>
              <a:spcBef>
                <a:spcPts val="0"/>
              </a:spcBef>
              <a:spcAft>
                <a:spcPts val="0"/>
              </a:spcAft>
            </a:pPr>
            <a:r>
              <a:rPr lang="en-IN" dirty="0">
                <a:solidFill>
                  <a:srgbClr val="000000"/>
                </a:solidFill>
                <a:latin typeface="Times New Roman" panose="02020603050405020304" pitchFamily="18" charset="0"/>
                <a:cs typeface="Times New Roman" panose="02020603050405020304" pitchFamily="18" charset="0"/>
              </a:rPr>
              <a:t>                   </a:t>
            </a:r>
            <a:r>
              <a:rPr lang="en-IN" sz="2000" dirty="0">
                <a:solidFill>
                  <a:srgbClr val="000000"/>
                </a:solidFill>
                <a:latin typeface="Times New Roman" panose="02020603050405020304" pitchFamily="18" charset="0"/>
                <a:cs typeface="Times New Roman" panose="02020603050405020304" pitchFamily="18" charset="0"/>
              </a:rPr>
              <a:t>from </a:t>
            </a:r>
            <a:r>
              <a:rPr lang="en-IN" sz="2000" dirty="0" err="1">
                <a:solidFill>
                  <a:srgbClr val="000000"/>
                </a:solidFill>
                <a:latin typeface="Times New Roman" panose="02020603050405020304" pitchFamily="18" charset="0"/>
                <a:cs typeface="Times New Roman" panose="02020603050405020304" pitchFamily="18" charset="0"/>
              </a:rPr>
              <a:t>sklearn.naive_bayes</a:t>
            </a:r>
            <a:r>
              <a:rPr lang="en-IN" sz="2000" dirty="0">
                <a:solidFill>
                  <a:srgbClr val="000000"/>
                </a:solidFill>
                <a:latin typeface="Times New Roman" panose="02020603050405020304" pitchFamily="18" charset="0"/>
                <a:cs typeface="Times New Roman" panose="02020603050405020304" pitchFamily="18" charset="0"/>
              </a:rPr>
              <a:t> import </a:t>
            </a:r>
            <a:r>
              <a:rPr lang="en-IN" sz="2000" dirty="0" err="1">
                <a:solidFill>
                  <a:srgbClr val="000000"/>
                </a:solidFill>
                <a:latin typeface="Times New Roman" panose="02020603050405020304" pitchFamily="18" charset="0"/>
                <a:cs typeface="Times New Roman" panose="02020603050405020304" pitchFamily="18" charset="0"/>
              </a:rPr>
              <a:t>MultinomialNB</a:t>
            </a:r>
            <a:endParaRPr lang="en-IN" sz="2000" dirty="0">
              <a:solidFill>
                <a:srgbClr val="000000"/>
              </a:solidFill>
              <a:latin typeface="Times New Roman" panose="02020603050405020304" pitchFamily="18" charset="0"/>
              <a:cs typeface="Times New Roman" panose="02020603050405020304" pitchFamily="18" charset="0"/>
            </a:endParaRPr>
          </a:p>
          <a:p>
            <a:pPr algn="l" rtl="0" eaLnBrk="0" fontAlgn="base" hangingPunct="0">
              <a:lnSpc>
                <a:spcPct val="150000"/>
              </a:lnSpc>
              <a:spcBef>
                <a:spcPts val="0"/>
              </a:spcBef>
              <a:spcAft>
                <a:spcPts val="0"/>
              </a:spcAft>
            </a:pPr>
            <a:r>
              <a:rPr lang="en-IN" sz="2000" dirty="0">
                <a:solidFill>
                  <a:srgbClr val="000000"/>
                </a:solidFill>
                <a:latin typeface="Times New Roman" panose="02020603050405020304" pitchFamily="18" charset="0"/>
                <a:cs typeface="Times New Roman" panose="02020603050405020304" pitchFamily="18" charset="0"/>
              </a:rPr>
              <a:t>                 </a:t>
            </a:r>
            <a:r>
              <a:rPr lang="en-IN" sz="2000" dirty="0" err="1">
                <a:solidFill>
                  <a:srgbClr val="000000"/>
                </a:solidFill>
                <a:latin typeface="Times New Roman" panose="02020603050405020304" pitchFamily="18" charset="0"/>
                <a:cs typeface="Times New Roman" panose="02020603050405020304" pitchFamily="18" charset="0"/>
              </a:rPr>
              <a:t>nb_model</a:t>
            </a:r>
            <a:r>
              <a:rPr lang="en-IN" sz="2000" dirty="0">
                <a:solidFill>
                  <a:srgbClr val="000000"/>
                </a:solidFill>
                <a:latin typeface="Times New Roman" panose="02020603050405020304" pitchFamily="18" charset="0"/>
                <a:cs typeface="Times New Roman" panose="02020603050405020304" pitchFamily="18" charset="0"/>
              </a:rPr>
              <a:t> = </a:t>
            </a:r>
            <a:r>
              <a:rPr lang="en-IN" sz="2000" dirty="0" err="1">
                <a:solidFill>
                  <a:srgbClr val="000000"/>
                </a:solidFill>
                <a:latin typeface="Times New Roman" panose="02020603050405020304" pitchFamily="18" charset="0"/>
                <a:cs typeface="Times New Roman" panose="02020603050405020304" pitchFamily="18" charset="0"/>
              </a:rPr>
              <a:t>MultinomialNB</a:t>
            </a:r>
            <a:r>
              <a:rPr lang="en-IN" sz="2000" dirty="0">
                <a:solidFill>
                  <a:srgbClr val="000000"/>
                </a:solidFill>
                <a:latin typeface="Times New Roman" panose="02020603050405020304" pitchFamily="18" charset="0"/>
                <a:cs typeface="Times New Roman" panose="02020603050405020304" pitchFamily="18" charset="0"/>
              </a:rPr>
              <a:t>()</a:t>
            </a:r>
          </a:p>
          <a:p>
            <a:pPr algn="l" rtl="0" eaLnBrk="0" fontAlgn="base" hangingPunct="0">
              <a:lnSpc>
                <a:spcPct val="150000"/>
              </a:lnSpc>
              <a:spcBef>
                <a:spcPts val="0"/>
              </a:spcBef>
              <a:spcAft>
                <a:spcPts val="0"/>
              </a:spcAft>
            </a:pPr>
            <a:r>
              <a:rPr lang="en-IN" sz="2000" dirty="0">
                <a:solidFill>
                  <a:srgbClr val="000000"/>
                </a:solidFill>
                <a:latin typeface="Times New Roman" panose="02020603050405020304" pitchFamily="18" charset="0"/>
                <a:cs typeface="Times New Roman" panose="02020603050405020304" pitchFamily="18" charset="0"/>
              </a:rPr>
              <a:t>                 </a:t>
            </a:r>
            <a:r>
              <a:rPr lang="en-IN" sz="2000" dirty="0" err="1">
                <a:solidFill>
                  <a:srgbClr val="000000"/>
                </a:solidFill>
                <a:latin typeface="Times New Roman" panose="02020603050405020304" pitchFamily="18" charset="0"/>
                <a:cs typeface="Times New Roman" panose="02020603050405020304" pitchFamily="18" charset="0"/>
              </a:rPr>
              <a:t>nb_model.fit</a:t>
            </a:r>
            <a:r>
              <a:rPr lang="en-IN" sz="2000" dirty="0">
                <a:solidFill>
                  <a:srgbClr val="000000"/>
                </a:solidFill>
                <a:latin typeface="Times New Roman" panose="02020603050405020304" pitchFamily="18" charset="0"/>
                <a:cs typeface="Times New Roman" panose="02020603050405020304" pitchFamily="18" charset="0"/>
              </a:rPr>
              <a:t>(</a:t>
            </a:r>
            <a:r>
              <a:rPr lang="en-IN" sz="2000" dirty="0" err="1">
                <a:solidFill>
                  <a:srgbClr val="000000"/>
                </a:solidFill>
                <a:latin typeface="Times New Roman" panose="02020603050405020304" pitchFamily="18" charset="0"/>
                <a:cs typeface="Times New Roman" panose="02020603050405020304" pitchFamily="18" charset="0"/>
              </a:rPr>
              <a:t>x_train</a:t>
            </a:r>
            <a:r>
              <a:rPr lang="en-IN" sz="2000" dirty="0">
                <a:solidFill>
                  <a:srgbClr val="000000"/>
                </a:solidFill>
                <a:latin typeface="Times New Roman" panose="02020603050405020304" pitchFamily="18" charset="0"/>
                <a:cs typeface="Times New Roman" panose="02020603050405020304" pitchFamily="18" charset="0"/>
              </a:rPr>
              <a:t>, </a:t>
            </a:r>
            <a:r>
              <a:rPr lang="en-IN" sz="2000" dirty="0" err="1">
                <a:solidFill>
                  <a:srgbClr val="000000"/>
                </a:solidFill>
                <a:latin typeface="Times New Roman" panose="02020603050405020304" pitchFamily="18" charset="0"/>
                <a:cs typeface="Times New Roman" panose="02020603050405020304" pitchFamily="18" charset="0"/>
              </a:rPr>
              <a:t>y_train</a:t>
            </a:r>
            <a:r>
              <a:rPr lang="en-IN" sz="2000" dirty="0">
                <a:solidFill>
                  <a:srgbClr val="000000"/>
                </a:solidFill>
                <a:latin typeface="Times New Roman" panose="02020603050405020304" pitchFamily="18" charset="0"/>
                <a:cs typeface="Times New Roman" panose="02020603050405020304" pitchFamily="18" charset="0"/>
              </a:rPr>
              <a:t>)</a:t>
            </a:r>
          </a:p>
          <a:p>
            <a:pPr algn="l" rtl="0" eaLnBrk="0" fontAlgn="base" hangingPunct="0">
              <a:lnSpc>
                <a:spcPct val="150000"/>
              </a:lnSpc>
              <a:spcBef>
                <a:spcPts val="0"/>
              </a:spcBef>
              <a:spcAft>
                <a:spcPts val="0"/>
              </a:spcAft>
            </a:pPr>
            <a:r>
              <a:rPr lang="en-IN" sz="2000" dirty="0">
                <a:solidFill>
                  <a:srgbClr val="000000"/>
                </a:solidFill>
                <a:latin typeface="Times New Roman" panose="02020603050405020304" pitchFamily="18" charset="0"/>
                <a:cs typeface="Times New Roman" panose="02020603050405020304" pitchFamily="18" charset="0"/>
              </a:rPr>
              <a:t>                 </a:t>
            </a:r>
            <a:r>
              <a:rPr lang="en-IN" sz="2000" dirty="0" err="1">
                <a:solidFill>
                  <a:srgbClr val="000000"/>
                </a:solidFill>
                <a:latin typeface="Times New Roman" panose="02020603050405020304" pitchFamily="18" charset="0"/>
                <a:cs typeface="Times New Roman" panose="02020603050405020304" pitchFamily="18" charset="0"/>
              </a:rPr>
              <a:t>nb_pred</a:t>
            </a:r>
            <a:r>
              <a:rPr lang="en-IN" sz="2000" dirty="0">
                <a:solidFill>
                  <a:srgbClr val="000000"/>
                </a:solidFill>
                <a:latin typeface="Times New Roman" panose="02020603050405020304" pitchFamily="18" charset="0"/>
                <a:cs typeface="Times New Roman" panose="02020603050405020304" pitchFamily="18" charset="0"/>
              </a:rPr>
              <a:t> = </a:t>
            </a:r>
            <a:r>
              <a:rPr lang="en-IN" sz="2000" dirty="0" err="1">
                <a:solidFill>
                  <a:srgbClr val="000000"/>
                </a:solidFill>
                <a:latin typeface="Times New Roman" panose="02020603050405020304" pitchFamily="18" charset="0"/>
                <a:cs typeface="Times New Roman" panose="02020603050405020304" pitchFamily="18" charset="0"/>
              </a:rPr>
              <a:t>nb_model.predict</a:t>
            </a:r>
            <a:r>
              <a:rPr lang="en-IN" sz="2000" dirty="0">
                <a:solidFill>
                  <a:srgbClr val="000000"/>
                </a:solidFill>
                <a:latin typeface="Times New Roman" panose="02020603050405020304" pitchFamily="18" charset="0"/>
                <a:cs typeface="Times New Roman" panose="02020603050405020304" pitchFamily="18" charset="0"/>
              </a:rPr>
              <a:t>(</a:t>
            </a:r>
            <a:r>
              <a:rPr lang="en-IN" sz="2000" dirty="0" err="1">
                <a:solidFill>
                  <a:srgbClr val="000000"/>
                </a:solidFill>
                <a:latin typeface="Times New Roman" panose="02020603050405020304" pitchFamily="18" charset="0"/>
                <a:cs typeface="Times New Roman" panose="02020603050405020304" pitchFamily="18" charset="0"/>
              </a:rPr>
              <a:t>x_test</a:t>
            </a:r>
            <a:r>
              <a:rPr lang="en-IN" sz="2000" dirty="0">
                <a:solidFill>
                  <a:srgbClr val="000000"/>
                </a:solidFill>
                <a:latin typeface="Times New Roman" panose="02020603050405020304" pitchFamily="18" charset="0"/>
                <a:cs typeface="Times New Roman" panose="02020603050405020304" pitchFamily="18" charset="0"/>
              </a:rPr>
              <a:t>)</a:t>
            </a:r>
          </a:p>
          <a:p>
            <a:pPr algn="l" rtl="0" eaLnBrk="0" fontAlgn="base" hangingPunct="0">
              <a:lnSpc>
                <a:spcPct val="150000"/>
              </a:lnSpc>
              <a:spcBef>
                <a:spcPts val="0"/>
              </a:spcBef>
              <a:spcAft>
                <a:spcPts val="0"/>
              </a:spcAft>
            </a:pPr>
            <a:r>
              <a:rPr lang="en-IN" sz="2000" dirty="0">
                <a:solidFill>
                  <a:srgbClr val="000000"/>
                </a:solidFill>
                <a:latin typeface="Times New Roman" panose="02020603050405020304" pitchFamily="18" charset="0"/>
                <a:cs typeface="Times New Roman" panose="02020603050405020304" pitchFamily="18" charset="0"/>
              </a:rPr>
              <a:t>                 nb_f1_score = f1_score(</a:t>
            </a:r>
            <a:r>
              <a:rPr lang="en-IN" sz="2000" dirty="0" err="1">
                <a:solidFill>
                  <a:srgbClr val="000000"/>
                </a:solidFill>
                <a:latin typeface="Times New Roman" panose="02020603050405020304" pitchFamily="18" charset="0"/>
                <a:cs typeface="Times New Roman" panose="02020603050405020304" pitchFamily="18" charset="0"/>
              </a:rPr>
              <a:t>y_test</a:t>
            </a:r>
            <a:r>
              <a:rPr lang="en-IN" sz="2000" dirty="0">
                <a:solidFill>
                  <a:srgbClr val="000000"/>
                </a:solidFill>
                <a:latin typeface="Times New Roman" panose="02020603050405020304" pitchFamily="18" charset="0"/>
                <a:cs typeface="Times New Roman" panose="02020603050405020304" pitchFamily="18" charset="0"/>
              </a:rPr>
              <a:t>, </a:t>
            </a:r>
            <a:r>
              <a:rPr lang="en-IN" sz="2000" dirty="0" err="1">
                <a:solidFill>
                  <a:srgbClr val="000000"/>
                </a:solidFill>
                <a:latin typeface="Times New Roman" panose="02020603050405020304" pitchFamily="18" charset="0"/>
                <a:cs typeface="Times New Roman" panose="02020603050405020304" pitchFamily="18" charset="0"/>
              </a:rPr>
              <a:t>nb_pred</a:t>
            </a:r>
            <a:r>
              <a:rPr lang="en-IN" sz="2000" dirty="0">
                <a:solidFill>
                  <a:srgbClr val="000000"/>
                </a:solidFill>
                <a:latin typeface="Times New Roman" panose="02020603050405020304" pitchFamily="18" charset="0"/>
                <a:cs typeface="Times New Roman" panose="02020603050405020304" pitchFamily="18" charset="0"/>
              </a:rPr>
              <a:t>)</a:t>
            </a:r>
          </a:p>
          <a:p>
            <a:pPr algn="l" rtl="0" eaLnBrk="0" fontAlgn="base" hangingPunct="0">
              <a:lnSpc>
                <a:spcPct val="150000"/>
              </a:lnSpc>
              <a:spcBef>
                <a:spcPts val="0"/>
              </a:spcBef>
              <a:spcAft>
                <a:spcPts val="0"/>
              </a:spcAft>
            </a:pPr>
            <a:r>
              <a:rPr lang="en-IN" sz="2000" dirty="0">
                <a:solidFill>
                  <a:srgbClr val="000000"/>
                </a:solidFill>
                <a:latin typeface="Times New Roman" panose="02020603050405020304" pitchFamily="18" charset="0"/>
                <a:cs typeface="Times New Roman" panose="02020603050405020304" pitchFamily="18" charset="0"/>
              </a:rPr>
              <a:t>                 </a:t>
            </a:r>
            <a:r>
              <a:rPr lang="en-IN" sz="2000" dirty="0" err="1">
                <a:solidFill>
                  <a:srgbClr val="000000"/>
                </a:solidFill>
                <a:latin typeface="Times New Roman" panose="02020603050405020304" pitchFamily="18" charset="0"/>
                <a:cs typeface="Times New Roman" panose="02020603050405020304" pitchFamily="18" charset="0"/>
              </a:rPr>
              <a:t>nb_accuracy</a:t>
            </a:r>
            <a:r>
              <a:rPr lang="en-IN" sz="2000" dirty="0">
                <a:solidFill>
                  <a:srgbClr val="000000"/>
                </a:solidFill>
                <a:latin typeface="Times New Roman" panose="02020603050405020304" pitchFamily="18" charset="0"/>
                <a:cs typeface="Times New Roman" panose="02020603050405020304" pitchFamily="18" charset="0"/>
              </a:rPr>
              <a:t> = </a:t>
            </a:r>
            <a:r>
              <a:rPr lang="en-IN" sz="2000" dirty="0" err="1">
                <a:solidFill>
                  <a:srgbClr val="000000"/>
                </a:solidFill>
                <a:latin typeface="Times New Roman" panose="02020603050405020304" pitchFamily="18" charset="0"/>
                <a:cs typeface="Times New Roman" panose="02020603050405020304" pitchFamily="18" charset="0"/>
              </a:rPr>
              <a:t>accuracy_score</a:t>
            </a:r>
            <a:r>
              <a:rPr lang="en-IN" sz="2000" dirty="0">
                <a:solidFill>
                  <a:srgbClr val="000000"/>
                </a:solidFill>
                <a:latin typeface="Times New Roman" panose="02020603050405020304" pitchFamily="18" charset="0"/>
                <a:cs typeface="Times New Roman" panose="02020603050405020304" pitchFamily="18" charset="0"/>
              </a:rPr>
              <a:t>(</a:t>
            </a:r>
            <a:r>
              <a:rPr lang="en-IN" sz="2000" dirty="0" err="1">
                <a:solidFill>
                  <a:srgbClr val="000000"/>
                </a:solidFill>
                <a:latin typeface="Times New Roman" panose="02020603050405020304" pitchFamily="18" charset="0"/>
                <a:cs typeface="Times New Roman" panose="02020603050405020304" pitchFamily="18" charset="0"/>
              </a:rPr>
              <a:t>y_test</a:t>
            </a:r>
            <a:r>
              <a:rPr lang="en-IN" sz="2000" dirty="0">
                <a:solidFill>
                  <a:srgbClr val="000000"/>
                </a:solidFill>
                <a:latin typeface="Times New Roman" panose="02020603050405020304" pitchFamily="18" charset="0"/>
                <a:cs typeface="Times New Roman" panose="02020603050405020304" pitchFamily="18" charset="0"/>
              </a:rPr>
              <a:t>, </a:t>
            </a:r>
            <a:r>
              <a:rPr lang="en-IN" sz="2000" dirty="0" err="1">
                <a:solidFill>
                  <a:srgbClr val="000000"/>
                </a:solidFill>
                <a:latin typeface="Times New Roman" panose="02020603050405020304" pitchFamily="18" charset="0"/>
                <a:cs typeface="Times New Roman" panose="02020603050405020304" pitchFamily="18" charset="0"/>
              </a:rPr>
              <a:t>nb_pred</a:t>
            </a:r>
            <a:r>
              <a:rPr lang="en-IN" sz="2000" dirty="0">
                <a:solidFill>
                  <a:srgbClr val="000000"/>
                </a:solidFill>
                <a:latin typeface="Times New Roman" panose="02020603050405020304" pitchFamily="18" charset="0"/>
                <a:cs typeface="Times New Roman" panose="02020603050405020304" pitchFamily="18" charset="0"/>
              </a:rPr>
              <a:t>)</a:t>
            </a:r>
          </a:p>
          <a:p>
            <a:pPr algn="l" rtl="0" eaLnBrk="0" fontAlgn="base" hangingPunct="0">
              <a:lnSpc>
                <a:spcPct val="150000"/>
              </a:lnSpc>
              <a:spcBef>
                <a:spcPts val="0"/>
              </a:spcBef>
              <a:spcAft>
                <a:spcPts val="0"/>
              </a:spcAft>
            </a:pPr>
            <a:r>
              <a:rPr lang="en-IN" sz="2000" dirty="0">
                <a:solidFill>
                  <a:srgbClr val="000000"/>
                </a:solidFill>
                <a:latin typeface="Times New Roman" panose="02020603050405020304" pitchFamily="18" charset="0"/>
                <a:cs typeface="Times New Roman" panose="02020603050405020304" pitchFamily="18" charset="0"/>
              </a:rPr>
              <a:t>                 print("Multinomial Naive Bayes Model Evaluation:")</a:t>
            </a:r>
          </a:p>
          <a:p>
            <a:pPr algn="l" rtl="0" eaLnBrk="0" fontAlgn="base" hangingPunct="0">
              <a:lnSpc>
                <a:spcPct val="150000"/>
              </a:lnSpc>
              <a:spcBef>
                <a:spcPts val="0"/>
              </a:spcBef>
              <a:spcAft>
                <a:spcPts val="0"/>
              </a:spcAft>
            </a:pPr>
            <a:r>
              <a:rPr lang="en-IN" sz="2000" dirty="0">
                <a:solidFill>
                  <a:srgbClr val="000000"/>
                </a:solidFill>
                <a:latin typeface="Times New Roman" panose="02020603050405020304" pitchFamily="18" charset="0"/>
                <a:cs typeface="Times New Roman" panose="02020603050405020304" pitchFamily="18" charset="0"/>
              </a:rPr>
              <a:t>                 print("F1 Score:", nb_f1_score)</a:t>
            </a:r>
          </a:p>
          <a:p>
            <a:pPr algn="l" rtl="0" eaLnBrk="0" fontAlgn="base" hangingPunct="0">
              <a:lnSpc>
                <a:spcPct val="150000"/>
              </a:lnSpc>
              <a:spcBef>
                <a:spcPts val="0"/>
              </a:spcBef>
              <a:spcAft>
                <a:spcPts val="0"/>
              </a:spcAft>
            </a:pPr>
            <a:r>
              <a:rPr lang="en-IN" sz="2000" dirty="0">
                <a:solidFill>
                  <a:srgbClr val="000000"/>
                </a:solidFill>
                <a:latin typeface="Times New Roman" panose="02020603050405020304" pitchFamily="18" charset="0"/>
                <a:cs typeface="Times New Roman" panose="02020603050405020304" pitchFamily="18" charset="0"/>
              </a:rPr>
              <a:t>                 print("Accuracy Score:", </a:t>
            </a:r>
            <a:r>
              <a:rPr lang="en-IN" sz="2000" dirty="0" err="1">
                <a:solidFill>
                  <a:srgbClr val="000000"/>
                </a:solidFill>
                <a:latin typeface="Times New Roman" panose="02020603050405020304" pitchFamily="18" charset="0"/>
                <a:cs typeface="Times New Roman" panose="02020603050405020304" pitchFamily="18" charset="0"/>
              </a:rPr>
              <a:t>nb_accuracy</a:t>
            </a:r>
            <a:r>
              <a:rPr lang="en-IN" sz="2000" dirty="0">
                <a:solidFill>
                  <a:srgbClr val="000000"/>
                </a:solidFill>
                <a:latin typeface="Times New Roman" panose="02020603050405020304" pitchFamily="18" charset="0"/>
                <a:cs typeface="Times New Roman" panose="02020603050405020304" pitchFamily="18" charset="0"/>
              </a:rPr>
              <a:t>)  </a:t>
            </a:r>
            <a:r>
              <a:rPr lang="en-IN" sz="2000" kern="1200" dirty="0">
                <a:solidFill>
                  <a:srgbClr val="000000"/>
                </a:solidFill>
                <a:effectLst/>
                <a:latin typeface="Times New Roman" panose="02020603050405020304" pitchFamily="18" charset="0"/>
                <a:cs typeface="Times New Roman" panose="02020603050405020304" pitchFamily="18" charset="0"/>
              </a:rPr>
              <a:t> </a:t>
            </a:r>
          </a:p>
          <a:p>
            <a:pPr algn="l" rtl="0" eaLnBrk="0" fontAlgn="base" hangingPunct="0">
              <a:spcBef>
                <a:spcPts val="0"/>
              </a:spcBef>
              <a:spcAft>
                <a:spcPts val="0"/>
              </a:spcAft>
            </a:pPr>
            <a:endParaRPr lang="en-IN" dirty="0">
              <a:effectLst/>
            </a:endParaRPr>
          </a:p>
        </p:txBody>
      </p:sp>
    </p:spTree>
    <p:extLst>
      <p:ext uri="{BB962C8B-B14F-4D97-AF65-F5344CB8AC3E}">
        <p14:creationId xmlns:p14="http://schemas.microsoft.com/office/powerpoint/2010/main" val="3074753170"/>
      </p:ext>
    </p:extLst>
  </p:cSld>
  <p:clrMapOvr>
    <a:masterClrMapping/>
  </p:clrMapOvr>
  <p:transition spd="slow">
    <p:comb dir="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FF3885D-999F-49F2-99A6-827D3DDAFCCD}"/>
              </a:ext>
            </a:extLst>
          </p:cNvPr>
          <p:cNvSpPr txBox="1">
            <a:spLocks/>
          </p:cNvSpPr>
          <p:nvPr/>
        </p:nvSpPr>
        <p:spPr>
          <a:xfrm>
            <a:off x="1127464" y="480291"/>
            <a:ext cx="10377148" cy="780803"/>
          </a:xfrm>
          <a:prstGeom prst="rect">
            <a:avLst/>
          </a:prstGeom>
        </p:spPr>
        <p:txBody>
          <a:bodyPr>
            <a:normAutofit/>
          </a:bodyPr>
          <a:lst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a:lstStyle>
          <a:p>
            <a:pPr algn="ctr" defTabSz="914400"/>
            <a:endParaRPr lang="en-US" sz="32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6A92593D-50B9-E0F2-35D8-AE8E60810086}"/>
              </a:ext>
            </a:extLst>
          </p:cNvPr>
          <p:cNvSpPr txBox="1"/>
          <p:nvPr/>
        </p:nvSpPr>
        <p:spPr>
          <a:xfrm>
            <a:off x="1295401" y="1143001"/>
            <a:ext cx="9906000" cy="861774"/>
          </a:xfrm>
          <a:prstGeom prst="rect">
            <a:avLst/>
          </a:prstGeom>
          <a:noFill/>
        </p:spPr>
        <p:txBody>
          <a:bodyPr wrap="square">
            <a:spAutoFit/>
          </a:bodyPr>
          <a:lstStyle/>
          <a:p>
            <a:pPr algn="just"/>
            <a:r>
              <a:rPr lang="en-US" b="1"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       </a:t>
            </a:r>
            <a:endParaRPr lang="en-IN" sz="16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ECD27062-20BE-7EE1-DA1B-151CD7E453BF}"/>
              </a:ext>
            </a:extLst>
          </p:cNvPr>
          <p:cNvSpPr txBox="1"/>
          <p:nvPr/>
        </p:nvSpPr>
        <p:spPr>
          <a:xfrm>
            <a:off x="668338" y="812273"/>
            <a:ext cx="9601198" cy="2908489"/>
          </a:xfrm>
          <a:prstGeom prst="rect">
            <a:avLst/>
          </a:prstGeom>
          <a:noFill/>
        </p:spPr>
        <p:txBody>
          <a:bodyPr wrap="square">
            <a:spAutoFit/>
          </a:bodyPr>
          <a:lstStyle/>
          <a:p>
            <a:r>
              <a:rPr lang="en-US" altLang="en-US" sz="2800" b="1" dirty="0">
                <a:solidFill>
                  <a:srgbClr val="000000"/>
                </a:solidFill>
                <a:latin typeface="Times New Roman" panose="02020603050405020304" pitchFamily="18" charset="0"/>
                <a:cs typeface="Times New Roman" panose="02020603050405020304" pitchFamily="18" charset="0"/>
              </a:rPr>
              <a:t>ALGORITHMS</a:t>
            </a:r>
            <a:br>
              <a:rPr lang="en-US" altLang="en-US" sz="2800" b="1" dirty="0">
                <a:solidFill>
                  <a:srgbClr val="000000"/>
                </a:solidFill>
                <a:latin typeface="Times New Roman" panose="02020603050405020304" pitchFamily="18" charset="0"/>
                <a:cs typeface="Times New Roman" panose="02020603050405020304" pitchFamily="18" charset="0"/>
              </a:rPr>
            </a:br>
            <a:br>
              <a:rPr lang="en-US" altLang="en-US" sz="2800" b="1" dirty="0">
                <a:solidFill>
                  <a:srgbClr val="000000"/>
                </a:solidFill>
                <a:latin typeface="Times New Roman" panose="02020603050405020304" pitchFamily="18" charset="0"/>
                <a:cs typeface="Times New Roman" panose="02020603050405020304" pitchFamily="18" charset="0"/>
              </a:rPr>
            </a:br>
            <a:r>
              <a:rPr lang="en-US" altLang="en-US" sz="3500" b="1" dirty="0">
                <a:solidFill>
                  <a:srgbClr val="000000"/>
                </a:solidFill>
                <a:latin typeface="Times New Roman" panose="02020603050405020304" pitchFamily="18" charset="0"/>
                <a:cs typeface="Times New Roman" panose="02020603050405020304" pitchFamily="18" charset="0"/>
              </a:rPr>
              <a:t>      </a:t>
            </a:r>
            <a:r>
              <a:rPr lang="en-US" altLang="en-US" sz="2400" b="1" dirty="0">
                <a:solidFill>
                  <a:srgbClr val="000000"/>
                </a:solidFill>
                <a:latin typeface="Times New Roman" panose="02020603050405020304" pitchFamily="18" charset="0"/>
                <a:cs typeface="Times New Roman" panose="02020603050405020304" pitchFamily="18" charset="0"/>
              </a:rPr>
              <a:t>2. </a:t>
            </a:r>
            <a:r>
              <a:rPr lang="en-IN" altLang="en-US" sz="2400" b="1" dirty="0">
                <a:solidFill>
                  <a:srgbClr val="000000"/>
                </a:solidFill>
                <a:latin typeface="Times New Roman" panose="02020603050405020304" pitchFamily="18" charset="0"/>
                <a:cs typeface="Times New Roman" panose="02020603050405020304" pitchFamily="18" charset="0"/>
              </a:rPr>
              <a:t>Logistic Regression</a:t>
            </a:r>
            <a:r>
              <a:rPr lang="en-IN" sz="2400" b="1" dirty="0">
                <a:latin typeface="Times New Roman" panose="02020603050405020304" pitchFamily="18" charset="0"/>
                <a:cs typeface="Times New Roman" panose="02020603050405020304" pitchFamily="18" charset="0"/>
              </a:rPr>
              <a:t>:</a:t>
            </a:r>
            <a:r>
              <a:rPr lang="en-IN" sz="2400" b="1" dirty="0"/>
              <a:t> </a:t>
            </a:r>
            <a:br>
              <a:rPr lang="en-IN" sz="2400" b="1" dirty="0"/>
            </a:br>
            <a:endParaRPr lang="en-IN" sz="2000" dirty="0"/>
          </a:p>
          <a:p>
            <a:pPr lvl="2" algn="just"/>
            <a:r>
              <a:rPr lang="en-IN" sz="2500" dirty="0">
                <a:latin typeface="Times New Roman" panose="02020603050405020304" pitchFamily="18" charset="0"/>
                <a:cs typeface="Times New Roman" panose="02020603050405020304" pitchFamily="18" charset="0"/>
              </a:rPr>
              <a:t>FORMULAS:</a:t>
            </a:r>
          </a:p>
          <a:p>
            <a:pPr lvl="2" algn="just"/>
            <a:r>
              <a:rPr lang="en-IN" sz="2500" dirty="0"/>
              <a:t>		  </a:t>
            </a:r>
          </a:p>
          <a:p>
            <a:pPr lvl="2" algn="just"/>
            <a:endParaRPr lang="en-US" altLang="en-US" sz="2200" dirty="0">
              <a:solidFill>
                <a:srgbClr val="000000"/>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C6CB6DD5-F971-0276-7B6D-4FD049DDFD6E}"/>
              </a:ext>
            </a:extLst>
          </p:cNvPr>
          <p:cNvPicPr>
            <a:picLocks noChangeAspect="1"/>
          </p:cNvPicPr>
          <p:nvPr/>
        </p:nvPicPr>
        <p:blipFill>
          <a:blip r:embed="rId2"/>
          <a:stretch>
            <a:fillRect/>
          </a:stretch>
        </p:blipFill>
        <p:spPr>
          <a:xfrm>
            <a:off x="2407621" y="3248941"/>
            <a:ext cx="6843353" cy="2834886"/>
          </a:xfrm>
          <a:prstGeom prst="rect">
            <a:avLst/>
          </a:prstGeom>
        </p:spPr>
      </p:pic>
    </p:spTree>
    <p:extLst>
      <p:ext uri="{BB962C8B-B14F-4D97-AF65-F5344CB8AC3E}">
        <p14:creationId xmlns:p14="http://schemas.microsoft.com/office/powerpoint/2010/main" val="3015103570"/>
      </p:ext>
    </p:extLst>
  </p:cSld>
  <p:clrMapOvr>
    <a:masterClrMapping/>
  </p:clrMapOvr>
  <p:transition spd="slow">
    <p:comb dir="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FF3885D-999F-49F2-99A6-827D3DDAFCCD}"/>
              </a:ext>
            </a:extLst>
          </p:cNvPr>
          <p:cNvSpPr txBox="1">
            <a:spLocks/>
          </p:cNvSpPr>
          <p:nvPr/>
        </p:nvSpPr>
        <p:spPr>
          <a:xfrm>
            <a:off x="1127464" y="480291"/>
            <a:ext cx="10377148" cy="780803"/>
          </a:xfrm>
          <a:prstGeom prst="rect">
            <a:avLst/>
          </a:prstGeom>
        </p:spPr>
        <p:txBody>
          <a:bodyPr>
            <a:normAutofit/>
          </a:bodyPr>
          <a:lst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a:lstStyle>
          <a:p>
            <a:pPr algn="ctr" defTabSz="914400"/>
            <a:endParaRPr lang="en-US" sz="32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6A92593D-50B9-E0F2-35D8-AE8E60810086}"/>
              </a:ext>
            </a:extLst>
          </p:cNvPr>
          <p:cNvSpPr txBox="1"/>
          <p:nvPr/>
        </p:nvSpPr>
        <p:spPr>
          <a:xfrm>
            <a:off x="1295401" y="1143001"/>
            <a:ext cx="9906000" cy="861774"/>
          </a:xfrm>
          <a:prstGeom prst="rect">
            <a:avLst/>
          </a:prstGeom>
          <a:noFill/>
        </p:spPr>
        <p:txBody>
          <a:bodyPr wrap="square">
            <a:spAutoFit/>
          </a:bodyPr>
          <a:lstStyle/>
          <a:p>
            <a:pPr algn="just"/>
            <a:r>
              <a:rPr lang="en-US" b="1"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       </a:t>
            </a:r>
            <a:endParaRPr lang="en-IN" sz="16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6D3DC06D-50AC-B830-8B21-F5CF822B4E82}"/>
              </a:ext>
            </a:extLst>
          </p:cNvPr>
          <p:cNvSpPr txBox="1"/>
          <p:nvPr/>
        </p:nvSpPr>
        <p:spPr>
          <a:xfrm>
            <a:off x="1127464" y="1066800"/>
            <a:ext cx="7848600" cy="5115311"/>
          </a:xfrm>
          <a:prstGeom prst="rect">
            <a:avLst/>
          </a:prstGeom>
          <a:noFill/>
        </p:spPr>
        <p:txBody>
          <a:bodyPr wrap="square">
            <a:spAutoFit/>
          </a:bodyPr>
          <a:lstStyle/>
          <a:p>
            <a:pPr algn="l" rtl="0" eaLnBrk="0" fontAlgn="base" hangingPunct="0">
              <a:lnSpc>
                <a:spcPct val="150000"/>
              </a:lnSpc>
              <a:spcBef>
                <a:spcPts val="0"/>
              </a:spcBef>
              <a:spcAft>
                <a:spcPts val="0"/>
              </a:spcAft>
            </a:pPr>
            <a:r>
              <a:rPr lang="en-IN" sz="2000" kern="1200" dirty="0">
                <a:solidFill>
                  <a:srgbClr val="000000"/>
                </a:solidFill>
                <a:effectLst/>
                <a:latin typeface="Times New Roman" panose="02020603050405020304" pitchFamily="18" charset="0"/>
                <a:cs typeface="Times New Roman" panose="02020603050405020304" pitchFamily="18" charset="0"/>
              </a:rPr>
              <a:t>CODE:</a:t>
            </a:r>
          </a:p>
          <a:p>
            <a:pPr algn="l" rtl="0" eaLnBrk="0" fontAlgn="base" hangingPunct="0">
              <a:lnSpc>
                <a:spcPct val="150000"/>
              </a:lnSpc>
              <a:spcBef>
                <a:spcPts val="0"/>
              </a:spcBef>
              <a:spcAft>
                <a:spcPts val="0"/>
              </a:spcAft>
            </a:pPr>
            <a:r>
              <a:rPr lang="en-IN" sz="2000" dirty="0">
                <a:solidFill>
                  <a:srgbClr val="000000"/>
                </a:solidFill>
                <a:latin typeface="Times New Roman" panose="02020603050405020304" pitchFamily="18" charset="0"/>
                <a:cs typeface="Times New Roman" panose="02020603050405020304" pitchFamily="18" charset="0"/>
              </a:rPr>
              <a:t>                 from </a:t>
            </a:r>
            <a:r>
              <a:rPr lang="en-IN" sz="2000" dirty="0" err="1">
                <a:solidFill>
                  <a:srgbClr val="000000"/>
                </a:solidFill>
                <a:latin typeface="Times New Roman" panose="02020603050405020304" pitchFamily="18" charset="0"/>
                <a:cs typeface="Times New Roman" panose="02020603050405020304" pitchFamily="18" charset="0"/>
              </a:rPr>
              <a:t>sklearn.linear_model</a:t>
            </a:r>
            <a:r>
              <a:rPr lang="en-IN" sz="2000" dirty="0">
                <a:solidFill>
                  <a:srgbClr val="000000"/>
                </a:solidFill>
                <a:latin typeface="Times New Roman" panose="02020603050405020304" pitchFamily="18" charset="0"/>
                <a:cs typeface="Times New Roman" panose="02020603050405020304" pitchFamily="18" charset="0"/>
              </a:rPr>
              <a:t> import </a:t>
            </a:r>
            <a:r>
              <a:rPr lang="en-IN" sz="2000" dirty="0" err="1">
                <a:solidFill>
                  <a:srgbClr val="000000"/>
                </a:solidFill>
                <a:latin typeface="Times New Roman" panose="02020603050405020304" pitchFamily="18" charset="0"/>
                <a:cs typeface="Times New Roman" panose="02020603050405020304" pitchFamily="18" charset="0"/>
              </a:rPr>
              <a:t>LogisticRegression</a:t>
            </a:r>
            <a:endParaRPr lang="en-IN" sz="2000" dirty="0">
              <a:solidFill>
                <a:srgbClr val="000000"/>
              </a:solidFill>
              <a:latin typeface="Times New Roman" panose="02020603050405020304" pitchFamily="18" charset="0"/>
              <a:cs typeface="Times New Roman" panose="02020603050405020304" pitchFamily="18" charset="0"/>
            </a:endParaRPr>
          </a:p>
          <a:p>
            <a:pPr algn="l" rtl="0" eaLnBrk="0" fontAlgn="base" hangingPunct="0">
              <a:lnSpc>
                <a:spcPct val="150000"/>
              </a:lnSpc>
              <a:spcBef>
                <a:spcPts val="0"/>
              </a:spcBef>
              <a:spcAft>
                <a:spcPts val="0"/>
              </a:spcAft>
            </a:pPr>
            <a:r>
              <a:rPr lang="en-IN" sz="2000" dirty="0">
                <a:solidFill>
                  <a:srgbClr val="000000"/>
                </a:solidFill>
                <a:latin typeface="Times New Roman" panose="02020603050405020304" pitchFamily="18" charset="0"/>
                <a:cs typeface="Times New Roman" panose="02020603050405020304" pitchFamily="18" charset="0"/>
              </a:rPr>
              <a:t>                 from </a:t>
            </a:r>
            <a:r>
              <a:rPr lang="en-IN" sz="2000" dirty="0" err="1">
                <a:solidFill>
                  <a:srgbClr val="000000"/>
                </a:solidFill>
                <a:latin typeface="Times New Roman" panose="02020603050405020304" pitchFamily="18" charset="0"/>
                <a:cs typeface="Times New Roman" panose="02020603050405020304" pitchFamily="18" charset="0"/>
              </a:rPr>
              <a:t>sklearn.metrics</a:t>
            </a:r>
            <a:r>
              <a:rPr lang="en-IN" sz="2000" dirty="0">
                <a:solidFill>
                  <a:srgbClr val="000000"/>
                </a:solidFill>
                <a:latin typeface="Times New Roman" panose="02020603050405020304" pitchFamily="18" charset="0"/>
                <a:cs typeface="Times New Roman" panose="02020603050405020304" pitchFamily="18" charset="0"/>
              </a:rPr>
              <a:t> import f1_score, </a:t>
            </a:r>
            <a:r>
              <a:rPr lang="en-IN" sz="2000" dirty="0" err="1">
                <a:solidFill>
                  <a:srgbClr val="000000"/>
                </a:solidFill>
                <a:latin typeface="Times New Roman" panose="02020603050405020304" pitchFamily="18" charset="0"/>
                <a:cs typeface="Times New Roman" panose="02020603050405020304" pitchFamily="18" charset="0"/>
              </a:rPr>
              <a:t>accuracy_score</a:t>
            </a:r>
            <a:endParaRPr lang="en-IN" sz="2000" dirty="0">
              <a:solidFill>
                <a:srgbClr val="000000"/>
              </a:solidFill>
              <a:latin typeface="Times New Roman" panose="02020603050405020304" pitchFamily="18" charset="0"/>
              <a:cs typeface="Times New Roman" panose="02020603050405020304" pitchFamily="18" charset="0"/>
            </a:endParaRPr>
          </a:p>
          <a:p>
            <a:pPr algn="l" rtl="0" eaLnBrk="0" fontAlgn="base" hangingPunct="0">
              <a:lnSpc>
                <a:spcPct val="150000"/>
              </a:lnSpc>
              <a:spcBef>
                <a:spcPts val="0"/>
              </a:spcBef>
              <a:spcAft>
                <a:spcPts val="0"/>
              </a:spcAft>
            </a:pPr>
            <a:r>
              <a:rPr lang="fr-FR" sz="2000" kern="1200" dirty="0">
                <a:solidFill>
                  <a:srgbClr val="000000"/>
                </a:solidFill>
                <a:effectLst/>
                <a:latin typeface="Times New Roman" panose="02020603050405020304" pitchFamily="18" charset="0"/>
                <a:cs typeface="Times New Roman" panose="02020603050405020304" pitchFamily="18" charset="0"/>
              </a:rPr>
              <a:t>                 model = </a:t>
            </a:r>
            <a:r>
              <a:rPr lang="fr-FR" sz="2000" kern="1200" dirty="0" err="1">
                <a:solidFill>
                  <a:srgbClr val="000000"/>
                </a:solidFill>
                <a:effectLst/>
                <a:latin typeface="Times New Roman" panose="02020603050405020304" pitchFamily="18" charset="0"/>
                <a:cs typeface="Times New Roman" panose="02020603050405020304" pitchFamily="18" charset="0"/>
              </a:rPr>
              <a:t>LogisticRegression</a:t>
            </a:r>
            <a:r>
              <a:rPr lang="fr-FR" sz="2000" kern="1200" dirty="0">
                <a:solidFill>
                  <a:srgbClr val="000000"/>
                </a:solidFill>
                <a:effectLst/>
                <a:latin typeface="Times New Roman" panose="02020603050405020304" pitchFamily="18" charset="0"/>
                <a:cs typeface="Times New Roman" panose="02020603050405020304" pitchFamily="18" charset="0"/>
              </a:rPr>
              <a:t>()</a:t>
            </a:r>
          </a:p>
          <a:p>
            <a:pPr algn="l" rtl="0" eaLnBrk="0" fontAlgn="base" hangingPunct="0">
              <a:lnSpc>
                <a:spcPct val="150000"/>
              </a:lnSpc>
              <a:spcBef>
                <a:spcPts val="0"/>
              </a:spcBef>
              <a:spcAft>
                <a:spcPts val="0"/>
              </a:spcAft>
            </a:pPr>
            <a:r>
              <a:rPr lang="fr-FR" sz="2000" kern="1200" dirty="0">
                <a:solidFill>
                  <a:srgbClr val="000000"/>
                </a:solidFill>
                <a:effectLst/>
                <a:latin typeface="Times New Roman" panose="02020603050405020304" pitchFamily="18" charset="0"/>
                <a:cs typeface="Times New Roman" panose="02020603050405020304" pitchFamily="18" charset="0"/>
              </a:rPr>
              <a:t>                 </a:t>
            </a:r>
            <a:r>
              <a:rPr lang="fr-FR" sz="2000" kern="1200" dirty="0" err="1">
                <a:solidFill>
                  <a:srgbClr val="000000"/>
                </a:solidFill>
                <a:effectLst/>
                <a:latin typeface="Times New Roman" panose="02020603050405020304" pitchFamily="18" charset="0"/>
                <a:cs typeface="Times New Roman" panose="02020603050405020304" pitchFamily="18" charset="0"/>
              </a:rPr>
              <a:t>model.fit</a:t>
            </a:r>
            <a:r>
              <a:rPr lang="fr-FR" sz="2000" kern="1200" dirty="0">
                <a:solidFill>
                  <a:srgbClr val="000000"/>
                </a:solidFill>
                <a:effectLst/>
                <a:latin typeface="Times New Roman" panose="02020603050405020304" pitchFamily="18" charset="0"/>
                <a:cs typeface="Times New Roman" panose="02020603050405020304" pitchFamily="18" charset="0"/>
              </a:rPr>
              <a:t>(</a:t>
            </a:r>
            <a:r>
              <a:rPr lang="fr-FR" sz="2000" kern="1200" dirty="0" err="1">
                <a:solidFill>
                  <a:srgbClr val="000000"/>
                </a:solidFill>
                <a:effectLst/>
                <a:latin typeface="Times New Roman" panose="02020603050405020304" pitchFamily="18" charset="0"/>
                <a:cs typeface="Times New Roman" panose="02020603050405020304" pitchFamily="18" charset="0"/>
              </a:rPr>
              <a:t>x_train</a:t>
            </a:r>
            <a:r>
              <a:rPr lang="fr-FR" sz="2000" kern="1200" dirty="0">
                <a:solidFill>
                  <a:srgbClr val="000000"/>
                </a:solidFill>
                <a:effectLst/>
                <a:latin typeface="Times New Roman" panose="02020603050405020304" pitchFamily="18" charset="0"/>
                <a:cs typeface="Times New Roman" panose="02020603050405020304" pitchFamily="18" charset="0"/>
              </a:rPr>
              <a:t>, </a:t>
            </a:r>
            <a:r>
              <a:rPr lang="fr-FR" sz="2000" kern="1200" dirty="0" err="1">
                <a:solidFill>
                  <a:srgbClr val="000000"/>
                </a:solidFill>
                <a:effectLst/>
                <a:latin typeface="Times New Roman" panose="02020603050405020304" pitchFamily="18" charset="0"/>
                <a:cs typeface="Times New Roman" panose="02020603050405020304" pitchFamily="18" charset="0"/>
              </a:rPr>
              <a:t>y_train</a:t>
            </a:r>
            <a:r>
              <a:rPr lang="fr-FR" sz="2000" kern="1200" dirty="0">
                <a:solidFill>
                  <a:srgbClr val="000000"/>
                </a:solidFill>
                <a:effectLst/>
                <a:latin typeface="Times New Roman" panose="02020603050405020304" pitchFamily="18" charset="0"/>
                <a:cs typeface="Times New Roman" panose="02020603050405020304" pitchFamily="18" charset="0"/>
              </a:rPr>
              <a:t>)</a:t>
            </a:r>
          </a:p>
          <a:p>
            <a:pPr algn="l" rtl="0" eaLnBrk="0" fontAlgn="base" hangingPunct="0">
              <a:lnSpc>
                <a:spcPct val="150000"/>
              </a:lnSpc>
              <a:spcBef>
                <a:spcPts val="0"/>
              </a:spcBef>
              <a:spcAft>
                <a:spcPts val="0"/>
              </a:spcAft>
            </a:pPr>
            <a:r>
              <a:rPr lang="en-US" sz="2000" kern="1200" dirty="0">
                <a:solidFill>
                  <a:srgbClr val="000000"/>
                </a:solidFill>
                <a:effectLst/>
                <a:latin typeface="Times New Roman" panose="02020603050405020304" pitchFamily="18" charset="0"/>
                <a:cs typeface="Times New Roman" panose="02020603050405020304" pitchFamily="18" charset="0"/>
              </a:rPr>
              <a:t>                 pred = </a:t>
            </a:r>
            <a:r>
              <a:rPr lang="en-US" sz="2000" kern="1200" dirty="0" err="1">
                <a:solidFill>
                  <a:srgbClr val="000000"/>
                </a:solidFill>
                <a:effectLst/>
                <a:latin typeface="Times New Roman" panose="02020603050405020304" pitchFamily="18" charset="0"/>
                <a:cs typeface="Times New Roman" panose="02020603050405020304" pitchFamily="18" charset="0"/>
              </a:rPr>
              <a:t>model.predict</a:t>
            </a:r>
            <a:r>
              <a:rPr lang="en-US" sz="2000" kern="1200" dirty="0">
                <a:solidFill>
                  <a:srgbClr val="000000"/>
                </a:solidFill>
                <a:effectLst/>
                <a:latin typeface="Times New Roman" panose="02020603050405020304" pitchFamily="18" charset="0"/>
                <a:cs typeface="Times New Roman" panose="02020603050405020304" pitchFamily="18" charset="0"/>
              </a:rPr>
              <a:t>(</a:t>
            </a:r>
            <a:r>
              <a:rPr lang="en-US" sz="2000" kern="1200" dirty="0" err="1">
                <a:solidFill>
                  <a:srgbClr val="000000"/>
                </a:solidFill>
                <a:effectLst/>
                <a:latin typeface="Times New Roman" panose="02020603050405020304" pitchFamily="18" charset="0"/>
                <a:cs typeface="Times New Roman" panose="02020603050405020304" pitchFamily="18" charset="0"/>
              </a:rPr>
              <a:t>x_test</a:t>
            </a:r>
            <a:r>
              <a:rPr lang="en-US" sz="2000" kern="1200" dirty="0">
                <a:solidFill>
                  <a:srgbClr val="000000"/>
                </a:solidFill>
                <a:effectLst/>
                <a:latin typeface="Times New Roman" panose="02020603050405020304" pitchFamily="18" charset="0"/>
                <a:cs typeface="Times New Roman" panose="02020603050405020304" pitchFamily="18" charset="0"/>
              </a:rPr>
              <a:t>)</a:t>
            </a:r>
          </a:p>
          <a:p>
            <a:pPr algn="l" rtl="0" eaLnBrk="0" fontAlgn="base" hangingPunct="0">
              <a:lnSpc>
                <a:spcPct val="150000"/>
              </a:lnSpc>
              <a:spcBef>
                <a:spcPts val="0"/>
              </a:spcBef>
              <a:spcAft>
                <a:spcPts val="0"/>
              </a:spcAft>
            </a:pPr>
            <a:r>
              <a:rPr lang="en-US" sz="2000" kern="1200" dirty="0">
                <a:solidFill>
                  <a:srgbClr val="000000"/>
                </a:solidFill>
                <a:effectLst/>
                <a:latin typeface="Times New Roman" panose="02020603050405020304" pitchFamily="18" charset="0"/>
                <a:cs typeface="Times New Roman" panose="02020603050405020304" pitchFamily="18" charset="0"/>
              </a:rPr>
              <a:t>                 </a:t>
            </a:r>
            <a:r>
              <a:rPr lang="en-US" sz="2000" kern="1200" dirty="0" err="1">
                <a:solidFill>
                  <a:srgbClr val="000000"/>
                </a:solidFill>
                <a:effectLst/>
                <a:latin typeface="Times New Roman" panose="02020603050405020304" pitchFamily="18" charset="0"/>
                <a:cs typeface="Times New Roman" panose="02020603050405020304" pitchFamily="18" charset="0"/>
              </a:rPr>
              <a:t>f_score</a:t>
            </a:r>
            <a:r>
              <a:rPr lang="en-US" sz="2000" kern="1200" dirty="0">
                <a:solidFill>
                  <a:srgbClr val="000000"/>
                </a:solidFill>
                <a:effectLst/>
                <a:latin typeface="Times New Roman" panose="02020603050405020304" pitchFamily="18" charset="0"/>
                <a:cs typeface="Times New Roman" panose="02020603050405020304" pitchFamily="18" charset="0"/>
              </a:rPr>
              <a:t>=f1_score(</a:t>
            </a:r>
            <a:r>
              <a:rPr lang="en-US" sz="2000" kern="1200" dirty="0" err="1">
                <a:solidFill>
                  <a:srgbClr val="000000"/>
                </a:solidFill>
                <a:effectLst/>
                <a:latin typeface="Times New Roman" panose="02020603050405020304" pitchFamily="18" charset="0"/>
                <a:cs typeface="Times New Roman" panose="02020603050405020304" pitchFamily="18" charset="0"/>
              </a:rPr>
              <a:t>y_test</a:t>
            </a:r>
            <a:r>
              <a:rPr lang="en-US" sz="2000" kern="1200" dirty="0">
                <a:solidFill>
                  <a:srgbClr val="000000"/>
                </a:solidFill>
                <a:effectLst/>
                <a:latin typeface="Times New Roman" panose="02020603050405020304" pitchFamily="18" charset="0"/>
                <a:cs typeface="Times New Roman" panose="02020603050405020304" pitchFamily="18" charset="0"/>
              </a:rPr>
              <a:t>, pred)</a:t>
            </a:r>
          </a:p>
          <a:p>
            <a:pPr algn="l" rtl="0" eaLnBrk="0" fontAlgn="base" hangingPunct="0">
              <a:lnSpc>
                <a:spcPct val="150000"/>
              </a:lnSpc>
              <a:spcBef>
                <a:spcPts val="0"/>
              </a:spcBef>
              <a:spcAft>
                <a:spcPts val="0"/>
              </a:spcAft>
            </a:pPr>
            <a:r>
              <a:rPr lang="en-US" sz="2000" kern="1200" dirty="0">
                <a:solidFill>
                  <a:srgbClr val="000000"/>
                </a:solidFill>
                <a:effectLst/>
                <a:latin typeface="Times New Roman" panose="02020603050405020304" pitchFamily="18" charset="0"/>
                <a:cs typeface="Times New Roman" panose="02020603050405020304" pitchFamily="18" charset="0"/>
              </a:rPr>
              <a:t>                 </a:t>
            </a:r>
            <a:r>
              <a:rPr lang="en-US" sz="2000" kern="1200" dirty="0" err="1">
                <a:solidFill>
                  <a:srgbClr val="000000"/>
                </a:solidFill>
                <a:effectLst/>
                <a:latin typeface="Times New Roman" panose="02020603050405020304" pitchFamily="18" charset="0"/>
                <a:cs typeface="Times New Roman" panose="02020603050405020304" pitchFamily="18" charset="0"/>
              </a:rPr>
              <a:t>a_score</a:t>
            </a:r>
            <a:r>
              <a:rPr lang="en-US" sz="2000" kern="1200" dirty="0">
                <a:solidFill>
                  <a:srgbClr val="000000"/>
                </a:solidFill>
                <a:effectLst/>
                <a:latin typeface="Times New Roman" panose="02020603050405020304" pitchFamily="18" charset="0"/>
                <a:cs typeface="Times New Roman" panose="02020603050405020304" pitchFamily="18" charset="0"/>
              </a:rPr>
              <a:t>=</a:t>
            </a:r>
            <a:r>
              <a:rPr lang="en-US" sz="2000" kern="1200" dirty="0" err="1">
                <a:solidFill>
                  <a:srgbClr val="000000"/>
                </a:solidFill>
                <a:effectLst/>
                <a:latin typeface="Times New Roman" panose="02020603050405020304" pitchFamily="18" charset="0"/>
                <a:cs typeface="Times New Roman" panose="02020603050405020304" pitchFamily="18" charset="0"/>
              </a:rPr>
              <a:t>accuracy_score</a:t>
            </a:r>
            <a:r>
              <a:rPr lang="en-US" sz="2000" kern="1200" dirty="0">
                <a:solidFill>
                  <a:srgbClr val="000000"/>
                </a:solidFill>
                <a:effectLst/>
                <a:latin typeface="Times New Roman" panose="02020603050405020304" pitchFamily="18" charset="0"/>
                <a:cs typeface="Times New Roman" panose="02020603050405020304" pitchFamily="18" charset="0"/>
              </a:rPr>
              <a:t>(</a:t>
            </a:r>
            <a:r>
              <a:rPr lang="en-US" sz="2000" kern="1200" dirty="0" err="1">
                <a:solidFill>
                  <a:srgbClr val="000000"/>
                </a:solidFill>
                <a:effectLst/>
                <a:latin typeface="Times New Roman" panose="02020603050405020304" pitchFamily="18" charset="0"/>
                <a:cs typeface="Times New Roman" panose="02020603050405020304" pitchFamily="18" charset="0"/>
              </a:rPr>
              <a:t>y_test,pred</a:t>
            </a:r>
            <a:r>
              <a:rPr lang="en-US" sz="2000" kern="1200" dirty="0">
                <a:solidFill>
                  <a:srgbClr val="000000"/>
                </a:solidFill>
                <a:effectLst/>
                <a:latin typeface="Times New Roman" panose="02020603050405020304" pitchFamily="18" charset="0"/>
                <a:cs typeface="Times New Roman" panose="02020603050405020304" pitchFamily="18" charset="0"/>
              </a:rPr>
              <a:t>)</a:t>
            </a:r>
          </a:p>
          <a:p>
            <a:pPr algn="l" rtl="0" eaLnBrk="0" fontAlgn="base" hangingPunct="0">
              <a:lnSpc>
                <a:spcPct val="150000"/>
              </a:lnSpc>
              <a:spcBef>
                <a:spcPts val="0"/>
              </a:spcBef>
              <a:spcAft>
                <a:spcPts val="0"/>
              </a:spcAft>
            </a:pPr>
            <a:r>
              <a:rPr lang="en-US" sz="2000" kern="1200" dirty="0">
                <a:solidFill>
                  <a:srgbClr val="000000"/>
                </a:solidFill>
                <a:effectLst/>
                <a:latin typeface="Times New Roman" panose="02020603050405020304" pitchFamily="18" charset="0"/>
                <a:cs typeface="Times New Roman" panose="02020603050405020304" pitchFamily="18" charset="0"/>
              </a:rPr>
              <a:t>                 print("Logistic regression Model Evaluation:")</a:t>
            </a:r>
          </a:p>
          <a:p>
            <a:pPr algn="l" rtl="0" eaLnBrk="0" fontAlgn="base" hangingPunct="0">
              <a:lnSpc>
                <a:spcPct val="150000"/>
              </a:lnSpc>
              <a:spcBef>
                <a:spcPts val="0"/>
              </a:spcBef>
              <a:spcAft>
                <a:spcPts val="0"/>
              </a:spcAft>
            </a:pPr>
            <a:r>
              <a:rPr lang="en-US" sz="2000" kern="1200" dirty="0">
                <a:solidFill>
                  <a:srgbClr val="000000"/>
                </a:solidFill>
                <a:effectLst/>
                <a:latin typeface="Times New Roman" panose="02020603050405020304" pitchFamily="18" charset="0"/>
                <a:cs typeface="Times New Roman" panose="02020603050405020304" pitchFamily="18" charset="0"/>
              </a:rPr>
              <a:t>                 print("F1 Score:",</a:t>
            </a:r>
            <a:r>
              <a:rPr lang="en-US" sz="2000" kern="1200" dirty="0" err="1">
                <a:solidFill>
                  <a:srgbClr val="000000"/>
                </a:solidFill>
                <a:effectLst/>
                <a:latin typeface="Times New Roman" panose="02020603050405020304" pitchFamily="18" charset="0"/>
                <a:cs typeface="Times New Roman" panose="02020603050405020304" pitchFamily="18" charset="0"/>
              </a:rPr>
              <a:t>f_score</a:t>
            </a:r>
            <a:r>
              <a:rPr lang="en-US" sz="2000" kern="1200" dirty="0">
                <a:solidFill>
                  <a:srgbClr val="000000"/>
                </a:solidFill>
                <a:effectLst/>
                <a:latin typeface="Times New Roman" panose="02020603050405020304" pitchFamily="18" charset="0"/>
                <a:cs typeface="Times New Roman" panose="02020603050405020304" pitchFamily="18" charset="0"/>
              </a:rPr>
              <a:t> )</a:t>
            </a:r>
          </a:p>
          <a:p>
            <a:pPr algn="l" rtl="0" eaLnBrk="0" fontAlgn="base" hangingPunct="0">
              <a:lnSpc>
                <a:spcPct val="150000"/>
              </a:lnSpc>
              <a:spcBef>
                <a:spcPts val="0"/>
              </a:spcBef>
              <a:spcAft>
                <a:spcPts val="0"/>
              </a:spcAft>
            </a:pPr>
            <a:r>
              <a:rPr lang="en-US" sz="2000" kern="1200" dirty="0">
                <a:solidFill>
                  <a:srgbClr val="000000"/>
                </a:solidFill>
                <a:effectLst/>
                <a:latin typeface="Times New Roman" panose="02020603050405020304" pitchFamily="18" charset="0"/>
                <a:cs typeface="Times New Roman" panose="02020603050405020304" pitchFamily="18" charset="0"/>
              </a:rPr>
              <a:t>                 print("Accuracy Score:",</a:t>
            </a:r>
            <a:r>
              <a:rPr lang="en-US" sz="2000" kern="1200" dirty="0" err="1">
                <a:solidFill>
                  <a:srgbClr val="000000"/>
                </a:solidFill>
                <a:effectLst/>
                <a:latin typeface="Times New Roman" panose="02020603050405020304" pitchFamily="18" charset="0"/>
                <a:cs typeface="Times New Roman" panose="02020603050405020304" pitchFamily="18" charset="0"/>
              </a:rPr>
              <a:t>a_score</a:t>
            </a:r>
            <a:r>
              <a:rPr lang="en-US" sz="2000" kern="1200" dirty="0">
                <a:solidFill>
                  <a:srgbClr val="000000"/>
                </a:solidFill>
                <a:effectLst/>
                <a:latin typeface="Times New Roman" panose="02020603050405020304" pitchFamily="18" charset="0"/>
                <a:cs typeface="Times New Roman" panose="02020603050405020304" pitchFamily="18" charset="0"/>
              </a:rPr>
              <a:t>)</a:t>
            </a:r>
            <a:endParaRPr lang="en-IN" sz="2000" kern="120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21693817"/>
      </p:ext>
    </p:extLst>
  </p:cSld>
  <p:clrMapOvr>
    <a:masterClrMapping/>
  </p:clrMapOvr>
  <p:transition spd="slow">
    <p:comb dir="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FF3885D-999F-49F2-99A6-827D3DDAFCCD}"/>
              </a:ext>
            </a:extLst>
          </p:cNvPr>
          <p:cNvSpPr txBox="1">
            <a:spLocks/>
          </p:cNvSpPr>
          <p:nvPr/>
        </p:nvSpPr>
        <p:spPr>
          <a:xfrm>
            <a:off x="1127464" y="480291"/>
            <a:ext cx="10377148" cy="780803"/>
          </a:xfrm>
          <a:prstGeom prst="rect">
            <a:avLst/>
          </a:prstGeom>
        </p:spPr>
        <p:txBody>
          <a:bodyPr>
            <a:normAutofit/>
          </a:bodyPr>
          <a:lst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a:lstStyle>
          <a:p>
            <a:pPr algn="ctr" defTabSz="914400"/>
            <a:endParaRPr lang="en-US" sz="32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6A92593D-50B9-E0F2-35D8-AE8E60810086}"/>
              </a:ext>
            </a:extLst>
          </p:cNvPr>
          <p:cNvSpPr txBox="1"/>
          <p:nvPr/>
        </p:nvSpPr>
        <p:spPr>
          <a:xfrm>
            <a:off x="1295401" y="1143001"/>
            <a:ext cx="9906000" cy="861774"/>
          </a:xfrm>
          <a:prstGeom prst="rect">
            <a:avLst/>
          </a:prstGeom>
          <a:noFill/>
        </p:spPr>
        <p:txBody>
          <a:bodyPr wrap="square">
            <a:spAutoFit/>
          </a:bodyPr>
          <a:lstStyle/>
          <a:p>
            <a:pPr algn="just"/>
            <a:r>
              <a:rPr lang="en-US" b="1"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       </a:t>
            </a:r>
            <a:endParaRPr lang="en-IN" sz="16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ECD27062-20BE-7EE1-DA1B-151CD7E453BF}"/>
              </a:ext>
            </a:extLst>
          </p:cNvPr>
          <p:cNvSpPr txBox="1"/>
          <p:nvPr/>
        </p:nvSpPr>
        <p:spPr>
          <a:xfrm>
            <a:off x="658813" y="889743"/>
            <a:ext cx="9601198" cy="2908489"/>
          </a:xfrm>
          <a:prstGeom prst="rect">
            <a:avLst/>
          </a:prstGeom>
          <a:noFill/>
        </p:spPr>
        <p:txBody>
          <a:bodyPr wrap="square">
            <a:spAutoFit/>
          </a:bodyPr>
          <a:lstStyle/>
          <a:p>
            <a:r>
              <a:rPr lang="en-US" altLang="en-US" sz="2800" b="1" dirty="0">
                <a:solidFill>
                  <a:srgbClr val="000000"/>
                </a:solidFill>
                <a:latin typeface="Times New Roman" panose="02020603050405020304" pitchFamily="18" charset="0"/>
                <a:cs typeface="Times New Roman" panose="02020603050405020304" pitchFamily="18" charset="0"/>
              </a:rPr>
              <a:t> ALGORITHMS</a:t>
            </a:r>
            <a:br>
              <a:rPr lang="en-US" altLang="en-US" sz="2800" b="1" dirty="0">
                <a:solidFill>
                  <a:srgbClr val="000000"/>
                </a:solidFill>
                <a:latin typeface="Times New Roman" panose="02020603050405020304" pitchFamily="18" charset="0"/>
                <a:cs typeface="Times New Roman" panose="02020603050405020304" pitchFamily="18" charset="0"/>
              </a:rPr>
            </a:br>
            <a:br>
              <a:rPr lang="en-US" altLang="en-US" sz="2800" b="1" dirty="0">
                <a:solidFill>
                  <a:srgbClr val="000000"/>
                </a:solidFill>
                <a:latin typeface="Times New Roman" panose="02020603050405020304" pitchFamily="18" charset="0"/>
                <a:cs typeface="Times New Roman" panose="02020603050405020304" pitchFamily="18" charset="0"/>
              </a:rPr>
            </a:br>
            <a:r>
              <a:rPr lang="en-US" altLang="en-US" sz="3500" b="1" dirty="0">
                <a:solidFill>
                  <a:srgbClr val="000000"/>
                </a:solidFill>
                <a:latin typeface="Times New Roman" panose="02020603050405020304" pitchFamily="18" charset="0"/>
                <a:cs typeface="Times New Roman" panose="02020603050405020304" pitchFamily="18" charset="0"/>
              </a:rPr>
              <a:t>      </a:t>
            </a:r>
            <a:r>
              <a:rPr lang="en-US" altLang="en-US" sz="2400" b="1" dirty="0">
                <a:solidFill>
                  <a:srgbClr val="000000"/>
                </a:solidFill>
                <a:latin typeface="Times New Roman" panose="02020603050405020304" pitchFamily="18" charset="0"/>
                <a:cs typeface="Times New Roman" panose="02020603050405020304" pitchFamily="18" charset="0"/>
              </a:rPr>
              <a:t>3. </a:t>
            </a:r>
            <a:r>
              <a:rPr lang="en-IN" altLang="en-US" sz="2400" b="1" dirty="0">
                <a:solidFill>
                  <a:srgbClr val="000000"/>
                </a:solidFill>
                <a:latin typeface="Times New Roman" panose="02020603050405020304" pitchFamily="18" charset="0"/>
                <a:cs typeface="Times New Roman" panose="02020603050405020304" pitchFamily="18" charset="0"/>
              </a:rPr>
              <a:t>Random forest</a:t>
            </a:r>
            <a:r>
              <a:rPr lang="en-IN" sz="2400" b="1" dirty="0">
                <a:latin typeface="Times New Roman" panose="02020603050405020304" pitchFamily="18" charset="0"/>
                <a:cs typeface="Times New Roman" panose="02020603050405020304" pitchFamily="18" charset="0"/>
              </a:rPr>
              <a:t>: </a:t>
            </a:r>
            <a:br>
              <a:rPr lang="en-IN" sz="2400" b="1" dirty="0"/>
            </a:br>
            <a:endParaRPr lang="en-IN" sz="2000" dirty="0"/>
          </a:p>
          <a:p>
            <a:pPr lvl="2" algn="just"/>
            <a:r>
              <a:rPr lang="en-IN" sz="2500" dirty="0">
                <a:latin typeface="Times New Roman" panose="02020603050405020304" pitchFamily="18" charset="0"/>
                <a:cs typeface="Times New Roman" panose="02020603050405020304" pitchFamily="18" charset="0"/>
              </a:rPr>
              <a:t>FORMULAS:</a:t>
            </a:r>
          </a:p>
          <a:p>
            <a:pPr lvl="2" algn="just"/>
            <a:r>
              <a:rPr lang="en-IN" sz="2500" dirty="0"/>
              <a:t>		  </a:t>
            </a:r>
          </a:p>
          <a:p>
            <a:pPr lvl="2" algn="just"/>
            <a:endParaRPr lang="en-US" altLang="en-US" sz="2200" dirty="0">
              <a:solidFill>
                <a:srgbClr val="000000"/>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9B958E2F-2A35-EAA7-8DB1-60710ACFD3D0}"/>
              </a:ext>
            </a:extLst>
          </p:cNvPr>
          <p:cNvPicPr>
            <a:picLocks noChangeAspect="1"/>
          </p:cNvPicPr>
          <p:nvPr/>
        </p:nvPicPr>
        <p:blipFill>
          <a:blip r:embed="rId2"/>
          <a:stretch>
            <a:fillRect/>
          </a:stretch>
        </p:blipFill>
        <p:spPr>
          <a:xfrm>
            <a:off x="2362200" y="3348326"/>
            <a:ext cx="6302286" cy="2187130"/>
          </a:xfrm>
          <a:prstGeom prst="rect">
            <a:avLst/>
          </a:prstGeom>
        </p:spPr>
      </p:pic>
    </p:spTree>
    <p:extLst>
      <p:ext uri="{BB962C8B-B14F-4D97-AF65-F5344CB8AC3E}">
        <p14:creationId xmlns:p14="http://schemas.microsoft.com/office/powerpoint/2010/main" val="469027797"/>
      </p:ext>
    </p:extLst>
  </p:cSld>
  <p:clrMapOvr>
    <a:masterClrMapping/>
  </p:clrMapOvr>
  <p:transition spd="slow">
    <p:comb dir="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FF3885D-999F-49F2-99A6-827D3DDAFCCD}"/>
              </a:ext>
            </a:extLst>
          </p:cNvPr>
          <p:cNvSpPr txBox="1">
            <a:spLocks/>
          </p:cNvSpPr>
          <p:nvPr/>
        </p:nvSpPr>
        <p:spPr>
          <a:xfrm>
            <a:off x="1127464" y="480291"/>
            <a:ext cx="10377148" cy="780803"/>
          </a:xfrm>
          <a:prstGeom prst="rect">
            <a:avLst/>
          </a:prstGeom>
        </p:spPr>
        <p:txBody>
          <a:bodyPr>
            <a:normAutofit/>
          </a:bodyPr>
          <a:lst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a:lstStyle>
          <a:p>
            <a:pPr algn="ctr" defTabSz="914400"/>
            <a:endParaRPr lang="en-US" sz="32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6A92593D-50B9-E0F2-35D8-AE8E60810086}"/>
              </a:ext>
            </a:extLst>
          </p:cNvPr>
          <p:cNvSpPr txBox="1"/>
          <p:nvPr/>
        </p:nvSpPr>
        <p:spPr>
          <a:xfrm>
            <a:off x="1295401" y="1143001"/>
            <a:ext cx="9906000" cy="861774"/>
          </a:xfrm>
          <a:prstGeom prst="rect">
            <a:avLst/>
          </a:prstGeom>
          <a:noFill/>
        </p:spPr>
        <p:txBody>
          <a:bodyPr wrap="square">
            <a:spAutoFit/>
          </a:bodyPr>
          <a:lstStyle/>
          <a:p>
            <a:pPr algn="just"/>
            <a:r>
              <a:rPr lang="en-US" b="1"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       </a:t>
            </a:r>
            <a:endParaRPr lang="en-IN" sz="16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ECD27062-20BE-7EE1-DA1B-151CD7E453BF}"/>
              </a:ext>
            </a:extLst>
          </p:cNvPr>
          <p:cNvSpPr txBox="1"/>
          <p:nvPr/>
        </p:nvSpPr>
        <p:spPr>
          <a:xfrm>
            <a:off x="1127464" y="1143001"/>
            <a:ext cx="9601198" cy="4807535"/>
          </a:xfrm>
          <a:prstGeom prst="rect">
            <a:avLst/>
          </a:prstGeom>
          <a:noFill/>
        </p:spPr>
        <p:txBody>
          <a:bodyPr wrap="square">
            <a:spAutoFit/>
          </a:bodyPr>
          <a:lstStyle/>
          <a:p>
            <a:pPr algn="l" rtl="0" eaLnBrk="0" fontAlgn="base" hangingPunct="0">
              <a:spcBef>
                <a:spcPts val="0"/>
              </a:spcBef>
              <a:spcAft>
                <a:spcPts val="0"/>
              </a:spcAft>
            </a:pPr>
            <a:r>
              <a:rPr lang="en-IN" sz="2000" kern="1200" dirty="0">
                <a:solidFill>
                  <a:srgbClr val="000000"/>
                </a:solidFill>
                <a:effectLst/>
                <a:latin typeface="Times New Roman" panose="02020603050405020304" pitchFamily="18" charset="0"/>
                <a:cs typeface="Times New Roman" panose="02020603050405020304" pitchFamily="18" charset="0"/>
              </a:rPr>
              <a:t>CODE: </a:t>
            </a:r>
          </a:p>
          <a:p>
            <a:pPr algn="l" rtl="0" eaLnBrk="0" fontAlgn="base" hangingPunct="0">
              <a:spcBef>
                <a:spcPts val="0"/>
              </a:spcBef>
              <a:spcAft>
                <a:spcPts val="0"/>
              </a:spcAft>
            </a:pPr>
            <a:endParaRPr lang="en-IN" sz="2000" dirty="0">
              <a:effectLst/>
              <a:latin typeface="Times New Roman" panose="02020603050405020304" pitchFamily="18" charset="0"/>
              <a:cs typeface="Times New Roman" panose="02020603050405020304" pitchFamily="18" charset="0"/>
            </a:endParaRPr>
          </a:p>
          <a:p>
            <a:pPr marL="914400" algn="just" rtl="0" eaLnBrk="0" fontAlgn="base" hangingPunct="0">
              <a:lnSpc>
                <a:spcPct val="150000"/>
              </a:lnSpc>
              <a:spcBef>
                <a:spcPts val="0"/>
              </a:spcBef>
              <a:spcAft>
                <a:spcPts val="0"/>
              </a:spcAft>
            </a:pPr>
            <a:r>
              <a:rPr lang="en-IN" sz="2000" dirty="0">
                <a:latin typeface="Times New Roman" panose="02020603050405020304" pitchFamily="18" charset="0"/>
                <a:cs typeface="Times New Roman" panose="02020603050405020304" pitchFamily="18" charset="0"/>
              </a:rPr>
              <a:t>from </a:t>
            </a:r>
            <a:r>
              <a:rPr lang="en-IN" sz="2000" dirty="0" err="1">
                <a:latin typeface="Times New Roman" panose="02020603050405020304" pitchFamily="18" charset="0"/>
                <a:cs typeface="Times New Roman" panose="02020603050405020304" pitchFamily="18" charset="0"/>
              </a:rPr>
              <a:t>sklearn.ensemble</a:t>
            </a:r>
            <a:r>
              <a:rPr lang="en-IN" sz="2000" dirty="0">
                <a:latin typeface="Times New Roman" panose="02020603050405020304" pitchFamily="18" charset="0"/>
                <a:cs typeface="Times New Roman" panose="02020603050405020304" pitchFamily="18" charset="0"/>
              </a:rPr>
              <a:t> import </a:t>
            </a:r>
            <a:r>
              <a:rPr lang="en-IN" sz="2000" dirty="0" err="1">
                <a:latin typeface="Times New Roman" panose="02020603050405020304" pitchFamily="18" charset="0"/>
                <a:cs typeface="Times New Roman" panose="02020603050405020304" pitchFamily="18" charset="0"/>
              </a:rPr>
              <a:t>RandomForestClassifier</a:t>
            </a:r>
            <a:endParaRPr lang="en-IN" sz="2000" dirty="0">
              <a:latin typeface="Times New Roman" panose="02020603050405020304" pitchFamily="18" charset="0"/>
              <a:cs typeface="Times New Roman" panose="02020603050405020304" pitchFamily="18" charset="0"/>
            </a:endParaRPr>
          </a:p>
          <a:p>
            <a:pPr marL="914400" algn="just" rtl="0" eaLnBrk="0" fontAlgn="base" hangingPunct="0">
              <a:lnSpc>
                <a:spcPct val="150000"/>
              </a:lnSpc>
              <a:spcBef>
                <a:spcPts val="0"/>
              </a:spcBef>
              <a:spcAft>
                <a:spcPts val="0"/>
              </a:spcAft>
            </a:pPr>
            <a:r>
              <a:rPr lang="en-IN" sz="2000" dirty="0" err="1">
                <a:latin typeface="Times New Roman" panose="02020603050405020304" pitchFamily="18" charset="0"/>
                <a:cs typeface="Times New Roman" panose="02020603050405020304" pitchFamily="18" charset="0"/>
              </a:rPr>
              <a:t>rf_model</a:t>
            </a:r>
            <a:r>
              <a:rPr lang="en-IN" sz="2000" dirty="0">
                <a:latin typeface="Times New Roman" panose="02020603050405020304" pitchFamily="18" charset="0"/>
                <a:cs typeface="Times New Roman" panose="02020603050405020304" pitchFamily="18" charset="0"/>
              </a:rPr>
              <a:t> = </a:t>
            </a:r>
            <a:r>
              <a:rPr lang="en-IN" sz="2000" dirty="0" err="1">
                <a:latin typeface="Times New Roman" panose="02020603050405020304" pitchFamily="18" charset="0"/>
                <a:cs typeface="Times New Roman" panose="02020603050405020304" pitchFamily="18" charset="0"/>
              </a:rPr>
              <a:t>RandomForestClassifier</a:t>
            </a:r>
            <a:r>
              <a:rPr lang="en-IN" sz="2000" dirty="0">
                <a:latin typeface="Times New Roman" panose="02020603050405020304" pitchFamily="18" charset="0"/>
                <a:cs typeface="Times New Roman" panose="02020603050405020304" pitchFamily="18" charset="0"/>
              </a:rPr>
              <a:t>(</a:t>
            </a:r>
            <a:r>
              <a:rPr lang="en-IN" sz="2000" dirty="0" err="1">
                <a:latin typeface="Times New Roman" panose="02020603050405020304" pitchFamily="18" charset="0"/>
                <a:cs typeface="Times New Roman" panose="02020603050405020304" pitchFamily="18" charset="0"/>
              </a:rPr>
              <a:t>n_estimators</a:t>
            </a:r>
            <a:r>
              <a:rPr lang="en-IN" sz="2000" dirty="0">
                <a:latin typeface="Times New Roman" panose="02020603050405020304" pitchFamily="18" charset="0"/>
                <a:cs typeface="Times New Roman" panose="02020603050405020304" pitchFamily="18" charset="0"/>
              </a:rPr>
              <a:t>=100, </a:t>
            </a:r>
            <a:r>
              <a:rPr lang="en-IN" sz="2000" dirty="0" err="1">
                <a:latin typeface="Times New Roman" panose="02020603050405020304" pitchFamily="18" charset="0"/>
                <a:cs typeface="Times New Roman" panose="02020603050405020304" pitchFamily="18" charset="0"/>
              </a:rPr>
              <a:t>random_state</a:t>
            </a:r>
            <a:r>
              <a:rPr lang="en-IN" sz="2000" dirty="0">
                <a:latin typeface="Times New Roman" panose="02020603050405020304" pitchFamily="18" charset="0"/>
                <a:cs typeface="Times New Roman" panose="02020603050405020304" pitchFamily="18" charset="0"/>
              </a:rPr>
              <a:t>=42)</a:t>
            </a:r>
          </a:p>
          <a:p>
            <a:pPr marL="914400" algn="just" rtl="0" eaLnBrk="0" fontAlgn="base" hangingPunct="0">
              <a:lnSpc>
                <a:spcPct val="150000"/>
              </a:lnSpc>
              <a:spcBef>
                <a:spcPts val="0"/>
              </a:spcBef>
              <a:spcAft>
                <a:spcPts val="0"/>
              </a:spcAft>
            </a:pPr>
            <a:r>
              <a:rPr lang="en-IN" sz="2000" dirty="0" err="1">
                <a:latin typeface="Times New Roman" panose="02020603050405020304" pitchFamily="18" charset="0"/>
                <a:cs typeface="Times New Roman" panose="02020603050405020304" pitchFamily="18" charset="0"/>
              </a:rPr>
              <a:t>rf_model.fit</a:t>
            </a:r>
            <a:r>
              <a:rPr lang="en-IN" sz="2000" dirty="0">
                <a:latin typeface="Times New Roman" panose="02020603050405020304" pitchFamily="18" charset="0"/>
                <a:cs typeface="Times New Roman" panose="02020603050405020304" pitchFamily="18" charset="0"/>
              </a:rPr>
              <a:t>(</a:t>
            </a:r>
            <a:r>
              <a:rPr lang="en-IN" sz="2000" dirty="0" err="1">
                <a:latin typeface="Times New Roman" panose="02020603050405020304" pitchFamily="18" charset="0"/>
                <a:cs typeface="Times New Roman" panose="02020603050405020304" pitchFamily="18" charset="0"/>
              </a:rPr>
              <a:t>x_train</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y_train</a:t>
            </a:r>
            <a:r>
              <a:rPr lang="en-IN" sz="2000" dirty="0">
                <a:latin typeface="Times New Roman" panose="02020603050405020304" pitchFamily="18" charset="0"/>
                <a:cs typeface="Times New Roman" panose="02020603050405020304" pitchFamily="18" charset="0"/>
              </a:rPr>
              <a:t>)</a:t>
            </a:r>
          </a:p>
          <a:p>
            <a:pPr marL="914400" algn="just" rtl="0" eaLnBrk="0" fontAlgn="base" hangingPunct="0">
              <a:lnSpc>
                <a:spcPct val="150000"/>
              </a:lnSpc>
              <a:spcBef>
                <a:spcPts val="0"/>
              </a:spcBef>
              <a:spcAft>
                <a:spcPts val="0"/>
              </a:spcAft>
            </a:pPr>
            <a:r>
              <a:rPr lang="en-IN" sz="2000" dirty="0" err="1">
                <a:latin typeface="Times New Roman" panose="02020603050405020304" pitchFamily="18" charset="0"/>
                <a:cs typeface="Times New Roman" panose="02020603050405020304" pitchFamily="18" charset="0"/>
              </a:rPr>
              <a:t>rf_pred</a:t>
            </a:r>
            <a:r>
              <a:rPr lang="en-IN" sz="2000" dirty="0">
                <a:latin typeface="Times New Roman" panose="02020603050405020304" pitchFamily="18" charset="0"/>
                <a:cs typeface="Times New Roman" panose="02020603050405020304" pitchFamily="18" charset="0"/>
              </a:rPr>
              <a:t> = </a:t>
            </a:r>
            <a:r>
              <a:rPr lang="en-IN" sz="2000" dirty="0" err="1">
                <a:latin typeface="Times New Roman" panose="02020603050405020304" pitchFamily="18" charset="0"/>
                <a:cs typeface="Times New Roman" panose="02020603050405020304" pitchFamily="18" charset="0"/>
              </a:rPr>
              <a:t>rf_model.predict</a:t>
            </a:r>
            <a:r>
              <a:rPr lang="en-IN" sz="2000" dirty="0">
                <a:latin typeface="Times New Roman" panose="02020603050405020304" pitchFamily="18" charset="0"/>
                <a:cs typeface="Times New Roman" panose="02020603050405020304" pitchFamily="18" charset="0"/>
              </a:rPr>
              <a:t>(</a:t>
            </a:r>
            <a:r>
              <a:rPr lang="en-IN" sz="2000" dirty="0" err="1">
                <a:latin typeface="Times New Roman" panose="02020603050405020304" pitchFamily="18" charset="0"/>
                <a:cs typeface="Times New Roman" panose="02020603050405020304" pitchFamily="18" charset="0"/>
              </a:rPr>
              <a:t>x_test</a:t>
            </a:r>
            <a:r>
              <a:rPr lang="en-IN" sz="2000" dirty="0">
                <a:latin typeface="Times New Roman" panose="02020603050405020304" pitchFamily="18" charset="0"/>
                <a:cs typeface="Times New Roman" panose="02020603050405020304" pitchFamily="18" charset="0"/>
              </a:rPr>
              <a:t>)</a:t>
            </a:r>
          </a:p>
          <a:p>
            <a:pPr marL="914400" algn="just" rtl="0" eaLnBrk="0" fontAlgn="base" hangingPunct="0">
              <a:lnSpc>
                <a:spcPct val="150000"/>
              </a:lnSpc>
              <a:spcBef>
                <a:spcPts val="0"/>
              </a:spcBef>
              <a:spcAft>
                <a:spcPts val="0"/>
              </a:spcAft>
            </a:pPr>
            <a:r>
              <a:rPr lang="en-IN" sz="2000" dirty="0">
                <a:latin typeface="Times New Roman" panose="02020603050405020304" pitchFamily="18" charset="0"/>
                <a:cs typeface="Times New Roman" panose="02020603050405020304" pitchFamily="18" charset="0"/>
              </a:rPr>
              <a:t>rf_f1_score = f1_score(</a:t>
            </a:r>
            <a:r>
              <a:rPr lang="en-IN" sz="2000" dirty="0" err="1">
                <a:latin typeface="Times New Roman" panose="02020603050405020304" pitchFamily="18" charset="0"/>
                <a:cs typeface="Times New Roman" panose="02020603050405020304" pitchFamily="18" charset="0"/>
              </a:rPr>
              <a:t>y_test</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rf_pred</a:t>
            </a:r>
            <a:r>
              <a:rPr lang="en-IN" sz="2000" dirty="0">
                <a:latin typeface="Times New Roman" panose="02020603050405020304" pitchFamily="18" charset="0"/>
                <a:cs typeface="Times New Roman" panose="02020603050405020304" pitchFamily="18" charset="0"/>
              </a:rPr>
              <a:t>)</a:t>
            </a:r>
          </a:p>
          <a:p>
            <a:pPr marL="914400" algn="just" rtl="0" eaLnBrk="0" fontAlgn="base" hangingPunct="0">
              <a:lnSpc>
                <a:spcPct val="150000"/>
              </a:lnSpc>
              <a:spcBef>
                <a:spcPts val="0"/>
              </a:spcBef>
              <a:spcAft>
                <a:spcPts val="0"/>
              </a:spcAft>
            </a:pPr>
            <a:r>
              <a:rPr lang="en-IN" sz="2000" dirty="0" err="1">
                <a:latin typeface="Times New Roman" panose="02020603050405020304" pitchFamily="18" charset="0"/>
                <a:cs typeface="Times New Roman" panose="02020603050405020304" pitchFamily="18" charset="0"/>
              </a:rPr>
              <a:t>rf_accuracy</a:t>
            </a:r>
            <a:r>
              <a:rPr lang="en-IN" sz="2000" dirty="0">
                <a:latin typeface="Times New Roman" panose="02020603050405020304" pitchFamily="18" charset="0"/>
                <a:cs typeface="Times New Roman" panose="02020603050405020304" pitchFamily="18" charset="0"/>
              </a:rPr>
              <a:t> = </a:t>
            </a:r>
            <a:r>
              <a:rPr lang="en-IN" sz="2000" dirty="0" err="1">
                <a:latin typeface="Times New Roman" panose="02020603050405020304" pitchFamily="18" charset="0"/>
                <a:cs typeface="Times New Roman" panose="02020603050405020304" pitchFamily="18" charset="0"/>
              </a:rPr>
              <a:t>accuracy_score</a:t>
            </a:r>
            <a:r>
              <a:rPr lang="en-IN" sz="2000" dirty="0">
                <a:latin typeface="Times New Roman" panose="02020603050405020304" pitchFamily="18" charset="0"/>
                <a:cs typeface="Times New Roman" panose="02020603050405020304" pitchFamily="18" charset="0"/>
              </a:rPr>
              <a:t>(</a:t>
            </a:r>
            <a:r>
              <a:rPr lang="en-IN" sz="2000" dirty="0" err="1">
                <a:latin typeface="Times New Roman" panose="02020603050405020304" pitchFamily="18" charset="0"/>
                <a:cs typeface="Times New Roman" panose="02020603050405020304" pitchFamily="18" charset="0"/>
              </a:rPr>
              <a:t>y_test</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rf_pred</a:t>
            </a:r>
            <a:r>
              <a:rPr lang="en-IN" sz="2000" dirty="0">
                <a:latin typeface="Times New Roman" panose="02020603050405020304" pitchFamily="18" charset="0"/>
                <a:cs typeface="Times New Roman" panose="02020603050405020304" pitchFamily="18" charset="0"/>
              </a:rPr>
              <a:t>)</a:t>
            </a:r>
          </a:p>
          <a:p>
            <a:pPr marL="914400" algn="just" rtl="0" eaLnBrk="0" fontAlgn="base" hangingPunct="0">
              <a:lnSpc>
                <a:spcPct val="150000"/>
              </a:lnSpc>
              <a:spcBef>
                <a:spcPts val="0"/>
              </a:spcBef>
              <a:spcAft>
                <a:spcPts val="0"/>
              </a:spcAft>
            </a:pPr>
            <a:r>
              <a:rPr lang="en-IN" sz="2000" dirty="0">
                <a:latin typeface="Times New Roman" panose="02020603050405020304" pitchFamily="18" charset="0"/>
                <a:cs typeface="Times New Roman" panose="02020603050405020304" pitchFamily="18" charset="0"/>
              </a:rPr>
              <a:t>print("\</a:t>
            </a:r>
            <a:r>
              <a:rPr lang="en-IN" sz="2000" dirty="0" err="1">
                <a:latin typeface="Times New Roman" panose="02020603050405020304" pitchFamily="18" charset="0"/>
                <a:cs typeface="Times New Roman" panose="02020603050405020304" pitchFamily="18" charset="0"/>
              </a:rPr>
              <a:t>nRandom</a:t>
            </a:r>
            <a:r>
              <a:rPr lang="en-IN" sz="2000" dirty="0">
                <a:latin typeface="Times New Roman" panose="02020603050405020304" pitchFamily="18" charset="0"/>
                <a:cs typeface="Times New Roman" panose="02020603050405020304" pitchFamily="18" charset="0"/>
              </a:rPr>
              <a:t> Forest Model Evaluation:")</a:t>
            </a:r>
          </a:p>
          <a:p>
            <a:pPr marL="914400" algn="just" rtl="0" eaLnBrk="0" fontAlgn="base" hangingPunct="0">
              <a:lnSpc>
                <a:spcPct val="150000"/>
              </a:lnSpc>
              <a:spcBef>
                <a:spcPts val="0"/>
              </a:spcBef>
              <a:spcAft>
                <a:spcPts val="0"/>
              </a:spcAft>
            </a:pPr>
            <a:r>
              <a:rPr lang="en-IN" sz="2000" dirty="0">
                <a:latin typeface="Times New Roman" panose="02020603050405020304" pitchFamily="18" charset="0"/>
                <a:cs typeface="Times New Roman" panose="02020603050405020304" pitchFamily="18" charset="0"/>
              </a:rPr>
              <a:t>print("F1 Score:", rf_f1_score)</a:t>
            </a:r>
          </a:p>
          <a:p>
            <a:pPr marL="914400" algn="just" rtl="0" eaLnBrk="0" fontAlgn="base" hangingPunct="0">
              <a:lnSpc>
                <a:spcPct val="150000"/>
              </a:lnSpc>
              <a:spcBef>
                <a:spcPts val="0"/>
              </a:spcBef>
              <a:spcAft>
                <a:spcPts val="0"/>
              </a:spcAft>
            </a:pPr>
            <a:r>
              <a:rPr lang="en-IN" sz="2000" dirty="0">
                <a:latin typeface="Times New Roman" panose="02020603050405020304" pitchFamily="18" charset="0"/>
                <a:cs typeface="Times New Roman" panose="02020603050405020304" pitchFamily="18" charset="0"/>
              </a:rPr>
              <a:t>print("Accuracy Score:", </a:t>
            </a:r>
            <a:r>
              <a:rPr lang="en-IN" sz="2000" dirty="0" err="1">
                <a:latin typeface="Times New Roman" panose="02020603050405020304" pitchFamily="18" charset="0"/>
                <a:cs typeface="Times New Roman" panose="02020603050405020304" pitchFamily="18" charset="0"/>
              </a:rPr>
              <a:t>rf_accuracy</a:t>
            </a:r>
            <a:r>
              <a:rPr lang="en-IN" sz="2000" dirty="0">
                <a:latin typeface="Times New Roman" panose="02020603050405020304" pitchFamily="18" charset="0"/>
                <a:cs typeface="Times New Roman" panose="02020603050405020304" pitchFamily="18" charset="0"/>
              </a:rPr>
              <a:t>)</a:t>
            </a:r>
            <a:endParaRPr lang="en-IN" sz="200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62068688"/>
      </p:ext>
    </p:extLst>
  </p:cSld>
  <p:clrMapOvr>
    <a:masterClrMapping/>
  </p:clrMapOvr>
  <p:transition spd="slow">
    <p:comb dir="ver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28600"/>
            <a:ext cx="10364451" cy="676883"/>
          </a:xfrm>
        </p:spPr>
        <p:txBody>
          <a:bodyPr>
            <a:normAutofit/>
          </a:bodyPr>
          <a:lstStyle/>
          <a:p>
            <a:pPr algn="ctr"/>
            <a:r>
              <a:rPr lang="en-IN" b="1" dirty="0">
                <a:latin typeface="Times New Roman" panose="02020603050405020304" pitchFamily="18" charset="0"/>
                <a:cs typeface="Times New Roman" panose="02020603050405020304" pitchFamily="18" charset="0"/>
              </a:rPr>
              <a:t> </a:t>
            </a:r>
            <a:r>
              <a:rPr lang="en-IN" b="1" dirty="0">
                <a:solidFill>
                  <a:schemeClr val="tx1"/>
                </a:solidFill>
                <a:latin typeface="Times New Roman" panose="02020603050405020304" pitchFamily="18" charset="0"/>
                <a:cs typeface="Times New Roman" panose="02020603050405020304" pitchFamily="18" charset="0"/>
              </a:rPr>
              <a:t>Result</a:t>
            </a:r>
          </a:p>
        </p:txBody>
      </p:sp>
      <p:cxnSp>
        <p:nvCxnSpPr>
          <p:cNvPr id="3" name="Straight Connector 2">
            <a:extLst>
              <a:ext uri="{FF2B5EF4-FFF2-40B4-BE49-F238E27FC236}">
                <a16:creationId xmlns:a16="http://schemas.microsoft.com/office/drawing/2014/main" id="{72C406C2-607F-C764-9686-23CE1FD4AE46}"/>
              </a:ext>
            </a:extLst>
          </p:cNvPr>
          <p:cNvCxnSpPr>
            <a:cxnSpLocks/>
          </p:cNvCxnSpPr>
          <p:nvPr/>
        </p:nvCxnSpPr>
        <p:spPr>
          <a:xfrm>
            <a:off x="609600" y="1066800"/>
            <a:ext cx="10439400" cy="0"/>
          </a:xfrm>
          <a:prstGeom prst="line">
            <a:avLst/>
          </a:prstGeom>
          <a:ln w="76200">
            <a:solidFill>
              <a:srgbClr val="F62610"/>
            </a:solidFill>
          </a:ln>
        </p:spPr>
        <p:style>
          <a:lnRef idx="1">
            <a:schemeClr val="accent2"/>
          </a:lnRef>
          <a:fillRef idx="0">
            <a:schemeClr val="accent2"/>
          </a:fillRef>
          <a:effectRef idx="0">
            <a:schemeClr val="accent2"/>
          </a:effectRef>
          <a:fontRef idx="minor">
            <a:schemeClr val="tx1"/>
          </a:fontRef>
        </p:style>
      </p:cxnSp>
      <p:pic>
        <p:nvPicPr>
          <p:cNvPr id="8" name="Picture 7">
            <a:extLst>
              <a:ext uri="{FF2B5EF4-FFF2-40B4-BE49-F238E27FC236}">
                <a16:creationId xmlns:a16="http://schemas.microsoft.com/office/drawing/2014/main" id="{B09BC441-EEED-D327-C7AE-5F60B5FBB746}"/>
              </a:ext>
            </a:extLst>
          </p:cNvPr>
          <p:cNvPicPr>
            <a:picLocks noChangeAspect="1"/>
          </p:cNvPicPr>
          <p:nvPr/>
        </p:nvPicPr>
        <p:blipFill>
          <a:blip r:embed="rId2"/>
          <a:stretch>
            <a:fillRect/>
          </a:stretch>
        </p:blipFill>
        <p:spPr>
          <a:xfrm>
            <a:off x="2956677" y="1447800"/>
            <a:ext cx="5189670" cy="2000250"/>
          </a:xfrm>
          <a:prstGeom prst="rect">
            <a:avLst/>
          </a:prstGeom>
        </p:spPr>
      </p:pic>
      <p:pic>
        <p:nvPicPr>
          <p:cNvPr id="12" name="Picture 11">
            <a:extLst>
              <a:ext uri="{FF2B5EF4-FFF2-40B4-BE49-F238E27FC236}">
                <a16:creationId xmlns:a16="http://schemas.microsoft.com/office/drawing/2014/main" id="{A0346961-29E7-CA95-590D-A07A2859414E}"/>
              </a:ext>
            </a:extLst>
          </p:cNvPr>
          <p:cNvPicPr>
            <a:picLocks noChangeAspect="1"/>
          </p:cNvPicPr>
          <p:nvPr/>
        </p:nvPicPr>
        <p:blipFill>
          <a:blip r:embed="rId3"/>
          <a:stretch>
            <a:fillRect/>
          </a:stretch>
        </p:blipFill>
        <p:spPr>
          <a:xfrm>
            <a:off x="1752600" y="3505200"/>
            <a:ext cx="7902625" cy="2000249"/>
          </a:xfrm>
          <a:prstGeom prst="rect">
            <a:avLst/>
          </a:prstGeom>
        </p:spPr>
      </p:pic>
      <p:sp>
        <p:nvSpPr>
          <p:cNvPr id="13" name="TextBox 12">
            <a:extLst>
              <a:ext uri="{FF2B5EF4-FFF2-40B4-BE49-F238E27FC236}">
                <a16:creationId xmlns:a16="http://schemas.microsoft.com/office/drawing/2014/main" id="{E063412B-6F39-7560-78AE-2564DE02C074}"/>
              </a:ext>
            </a:extLst>
          </p:cNvPr>
          <p:cNvSpPr txBox="1"/>
          <p:nvPr/>
        </p:nvSpPr>
        <p:spPr>
          <a:xfrm>
            <a:off x="1752600" y="5715000"/>
            <a:ext cx="7772400"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Tokenization And Stemming Of Tweets</a:t>
            </a:r>
            <a:endParaRPr lang="en-GB" dirty="0">
              <a:latin typeface="Times New Roman" panose="02020603050405020304" pitchFamily="18" charset="0"/>
              <a:cs typeface="Times New Roman" panose="02020603050405020304" pitchFamily="18" charset="0"/>
            </a:endParaRPr>
          </a:p>
        </p:txBody>
      </p:sp>
    </p:spTree>
  </p:cSld>
  <p:clrMapOvr>
    <a:masterClrMapping/>
  </p:clrMapOvr>
  <p:transition spd="slow">
    <p:comb dir="ver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844ED5D-F264-3F8B-E953-403453F269F9}"/>
              </a:ext>
            </a:extLst>
          </p:cNvPr>
          <p:cNvPicPr>
            <a:picLocks noChangeAspect="1"/>
          </p:cNvPicPr>
          <p:nvPr/>
        </p:nvPicPr>
        <p:blipFill>
          <a:blip r:embed="rId2"/>
          <a:stretch>
            <a:fillRect/>
          </a:stretch>
        </p:blipFill>
        <p:spPr>
          <a:xfrm>
            <a:off x="2085975" y="1066800"/>
            <a:ext cx="6569009" cy="4130398"/>
          </a:xfrm>
          <a:prstGeom prst="rect">
            <a:avLst/>
          </a:prstGeom>
        </p:spPr>
      </p:pic>
      <p:sp>
        <p:nvSpPr>
          <p:cNvPr id="5" name="TextBox 4">
            <a:extLst>
              <a:ext uri="{FF2B5EF4-FFF2-40B4-BE49-F238E27FC236}">
                <a16:creationId xmlns:a16="http://schemas.microsoft.com/office/drawing/2014/main" id="{B5F22CD0-E893-34B4-74D6-E763B5B8BB64}"/>
              </a:ext>
            </a:extLst>
          </p:cNvPr>
          <p:cNvSpPr txBox="1"/>
          <p:nvPr/>
        </p:nvSpPr>
        <p:spPr>
          <a:xfrm>
            <a:off x="2085975" y="5334000"/>
            <a:ext cx="6324600"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Positive Word Cloud</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15151010"/>
      </p:ext>
    </p:extLst>
  </p:cSld>
  <p:clrMapOvr>
    <a:masterClrMapping/>
  </p:clrMapOvr>
  <p:transition spd="slow">
    <p:comb dir="ver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4D2109D-C30B-1DEC-38D1-44CC7C0F2A31}"/>
              </a:ext>
            </a:extLst>
          </p:cNvPr>
          <p:cNvPicPr>
            <a:picLocks noChangeAspect="1"/>
          </p:cNvPicPr>
          <p:nvPr/>
        </p:nvPicPr>
        <p:blipFill>
          <a:blip r:embed="rId2"/>
          <a:stretch>
            <a:fillRect/>
          </a:stretch>
        </p:blipFill>
        <p:spPr>
          <a:xfrm>
            <a:off x="2133600" y="1143000"/>
            <a:ext cx="6561389" cy="4130398"/>
          </a:xfrm>
          <a:prstGeom prst="rect">
            <a:avLst/>
          </a:prstGeom>
        </p:spPr>
      </p:pic>
      <p:sp>
        <p:nvSpPr>
          <p:cNvPr id="5" name="TextBox 4">
            <a:extLst>
              <a:ext uri="{FF2B5EF4-FFF2-40B4-BE49-F238E27FC236}">
                <a16:creationId xmlns:a16="http://schemas.microsoft.com/office/drawing/2014/main" id="{E285C98E-3225-99BA-EE9B-D57392422A50}"/>
              </a:ext>
            </a:extLst>
          </p:cNvPr>
          <p:cNvSpPr txBox="1"/>
          <p:nvPr/>
        </p:nvSpPr>
        <p:spPr>
          <a:xfrm>
            <a:off x="2085975" y="5334000"/>
            <a:ext cx="6324600"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Negative Word Cloud</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0701587"/>
      </p:ext>
    </p:extLst>
  </p:cSld>
  <p:clrMapOvr>
    <a:masterClrMapping/>
  </p:clrMapOvr>
  <p:transition spd="slow">
    <p:comb dir="ver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D68F642-6CE0-9462-1DAC-4869FAE442D2}"/>
              </a:ext>
            </a:extLst>
          </p:cNvPr>
          <p:cNvSpPr txBox="1"/>
          <p:nvPr/>
        </p:nvSpPr>
        <p:spPr>
          <a:xfrm>
            <a:off x="3505200" y="5410200"/>
            <a:ext cx="6096000" cy="368434"/>
          </a:xfrm>
          <a:prstGeom prst="rect">
            <a:avLst/>
          </a:prstGeom>
          <a:noFill/>
        </p:spPr>
        <p:txBody>
          <a:bodyPr wrap="square">
            <a:spAutoFit/>
          </a:bodyPr>
          <a:lstStyle/>
          <a:p>
            <a:pPr marL="490855" marR="226060" indent="-6350" algn="l">
              <a:lnSpc>
                <a:spcPct val="107000"/>
              </a:lnSpc>
              <a:spcAft>
                <a:spcPts val="25"/>
              </a:spcAft>
            </a:pPr>
            <a:r>
              <a:rPr lang="en-IN" sz="1800" kern="100" dirty="0">
                <a:solidFill>
                  <a:srgbClr val="000000"/>
                </a:solidFill>
                <a:effectLst/>
                <a:latin typeface="Times New Roman" panose="02020603050405020304" pitchFamily="18" charset="0"/>
                <a:ea typeface="Cambria" panose="02040503050406030204" pitchFamily="18" charset="0"/>
                <a:cs typeface="Times New Roman" panose="02020603050405020304" pitchFamily="18" charset="0"/>
              </a:rPr>
              <a:t>Na</a:t>
            </a:r>
            <a:r>
              <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ï</a:t>
            </a:r>
            <a:r>
              <a:rPr lang="en-IN" sz="1800" kern="100" dirty="0">
                <a:solidFill>
                  <a:srgbClr val="000000"/>
                </a:solidFill>
                <a:effectLst/>
                <a:latin typeface="Times New Roman" panose="02020603050405020304" pitchFamily="18" charset="0"/>
                <a:ea typeface="Cambria" panose="02040503050406030204" pitchFamily="18" charset="0"/>
                <a:cs typeface="Times New Roman" panose="02020603050405020304" pitchFamily="18" charset="0"/>
              </a:rPr>
              <a:t>ve Bayes </a:t>
            </a:r>
            <a:r>
              <a:rPr lang="en-IN" kern="100"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M</a:t>
            </a:r>
            <a:r>
              <a:rPr lang="en-IN" sz="1800" kern="100" dirty="0">
                <a:solidFill>
                  <a:srgbClr val="000000"/>
                </a:solidFill>
                <a:effectLst/>
                <a:latin typeface="Times New Roman" panose="02020603050405020304" pitchFamily="18" charset="0"/>
                <a:ea typeface="Cambria" panose="02040503050406030204" pitchFamily="18" charset="0"/>
                <a:cs typeface="Times New Roman" panose="02020603050405020304" pitchFamily="18" charset="0"/>
              </a:rPr>
              <a:t>odel </a:t>
            </a:r>
            <a:r>
              <a:rPr lang="en-IN" kern="100"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E</a:t>
            </a:r>
            <a:r>
              <a:rPr lang="en-IN" sz="1800" kern="100" dirty="0">
                <a:solidFill>
                  <a:srgbClr val="000000"/>
                </a:solidFill>
                <a:effectLst/>
                <a:latin typeface="Times New Roman" panose="02020603050405020304" pitchFamily="18" charset="0"/>
                <a:ea typeface="Cambria" panose="02040503050406030204" pitchFamily="18" charset="0"/>
                <a:cs typeface="Times New Roman" panose="02020603050405020304" pitchFamily="18" charset="0"/>
              </a:rPr>
              <a:t>valuation</a:t>
            </a: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6E92F63-3B10-37EC-71B7-1AF00B55113E}"/>
              </a:ext>
            </a:extLst>
          </p:cNvPr>
          <p:cNvPicPr>
            <a:picLocks noChangeAspect="1"/>
          </p:cNvPicPr>
          <p:nvPr/>
        </p:nvPicPr>
        <p:blipFill>
          <a:blip r:embed="rId2"/>
          <a:stretch>
            <a:fillRect/>
          </a:stretch>
        </p:blipFill>
        <p:spPr>
          <a:xfrm>
            <a:off x="2667000" y="1752600"/>
            <a:ext cx="6096000" cy="3352800"/>
          </a:xfrm>
          <a:prstGeom prst="rect">
            <a:avLst/>
          </a:prstGeom>
        </p:spPr>
      </p:pic>
    </p:spTree>
    <p:extLst>
      <p:ext uri="{BB962C8B-B14F-4D97-AF65-F5344CB8AC3E}">
        <p14:creationId xmlns:p14="http://schemas.microsoft.com/office/powerpoint/2010/main" val="3060904888"/>
      </p:ext>
    </p:extLst>
  </p:cSld>
  <p:clrMapOvr>
    <a:masterClrMapping/>
  </p:clrMapOvr>
  <p:transition spd="slow">
    <p:comb dir="ver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4043DFB-B168-F9F4-78C9-0555C5ACF4D3}"/>
              </a:ext>
            </a:extLst>
          </p:cNvPr>
          <p:cNvSpPr txBox="1"/>
          <p:nvPr/>
        </p:nvSpPr>
        <p:spPr>
          <a:xfrm>
            <a:off x="3048000" y="5334000"/>
            <a:ext cx="6096000" cy="368755"/>
          </a:xfrm>
          <a:prstGeom prst="rect">
            <a:avLst/>
          </a:prstGeom>
          <a:noFill/>
        </p:spPr>
        <p:txBody>
          <a:bodyPr wrap="square">
            <a:spAutoFit/>
          </a:bodyPr>
          <a:lstStyle/>
          <a:p>
            <a:pPr marL="540385" marR="4445" indent="-6350" algn="just">
              <a:lnSpc>
                <a:spcPct val="107000"/>
              </a:lnSpc>
              <a:spcAft>
                <a:spcPts val="25"/>
              </a:spcAft>
            </a:pPr>
            <a:r>
              <a:rPr lang="en-IN" sz="1800" kern="100" dirty="0">
                <a:solidFill>
                  <a:srgbClr val="000000"/>
                </a:solidFill>
                <a:effectLst/>
                <a:latin typeface="Times New Roman" panose="02020603050405020304" pitchFamily="18" charset="0"/>
                <a:ea typeface="Times New Roman" panose="02020603050405020304" pitchFamily="18" charset="0"/>
              </a:rPr>
              <a:t>Logistic Regression Model </a:t>
            </a:r>
            <a:r>
              <a:rPr lang="en-IN" kern="100" dirty="0">
                <a:solidFill>
                  <a:srgbClr val="000000"/>
                </a:solidFill>
                <a:latin typeface="Times New Roman" panose="02020603050405020304" pitchFamily="18" charset="0"/>
                <a:ea typeface="Times New Roman" panose="02020603050405020304" pitchFamily="18" charset="0"/>
              </a:rPr>
              <a:t>Evaluation</a:t>
            </a:r>
            <a:endParaRPr lang="en-IN" sz="1800" kern="100" dirty="0">
              <a:solidFill>
                <a:srgbClr val="000000"/>
              </a:solidFill>
              <a:effectLst/>
              <a:latin typeface="Times New Roman" panose="02020603050405020304" pitchFamily="18" charset="0"/>
              <a:ea typeface="Times New Roman" panose="02020603050405020304" pitchFamily="18" charset="0"/>
            </a:endParaRPr>
          </a:p>
        </p:txBody>
      </p:sp>
      <p:pic>
        <p:nvPicPr>
          <p:cNvPr id="3" name="Picture 2">
            <a:extLst>
              <a:ext uri="{FF2B5EF4-FFF2-40B4-BE49-F238E27FC236}">
                <a16:creationId xmlns:a16="http://schemas.microsoft.com/office/drawing/2014/main" id="{0F03A26A-F0D5-E66B-D7F4-4E3F7ED0685B}"/>
              </a:ext>
            </a:extLst>
          </p:cNvPr>
          <p:cNvPicPr>
            <a:picLocks noChangeAspect="1"/>
          </p:cNvPicPr>
          <p:nvPr/>
        </p:nvPicPr>
        <p:blipFill>
          <a:blip r:embed="rId2"/>
          <a:stretch>
            <a:fillRect/>
          </a:stretch>
        </p:blipFill>
        <p:spPr>
          <a:xfrm>
            <a:off x="2438400" y="1219200"/>
            <a:ext cx="6096000" cy="3962400"/>
          </a:xfrm>
          <a:prstGeom prst="rect">
            <a:avLst/>
          </a:prstGeom>
        </p:spPr>
      </p:pic>
    </p:spTree>
    <p:extLst>
      <p:ext uri="{BB962C8B-B14F-4D97-AF65-F5344CB8AC3E}">
        <p14:creationId xmlns:p14="http://schemas.microsoft.com/office/powerpoint/2010/main" val="3610672309"/>
      </p:ext>
    </p:extLst>
  </p:cSld>
  <p:clrMapOvr>
    <a:masterClrMapping/>
  </p:clrMapOvr>
  <p:transition spd="slow">
    <p:comb dir="ver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96C94D9-C4E6-DE7A-716F-8E510DD00173}"/>
              </a:ext>
            </a:extLst>
          </p:cNvPr>
          <p:cNvSpPr txBox="1"/>
          <p:nvPr/>
        </p:nvSpPr>
        <p:spPr>
          <a:xfrm>
            <a:off x="2590800" y="5181600"/>
            <a:ext cx="6096000" cy="368755"/>
          </a:xfrm>
          <a:prstGeom prst="rect">
            <a:avLst/>
          </a:prstGeom>
          <a:noFill/>
        </p:spPr>
        <p:txBody>
          <a:bodyPr wrap="square">
            <a:spAutoFit/>
          </a:bodyPr>
          <a:lstStyle/>
          <a:p>
            <a:pPr marL="559435" marR="488315" indent="-6350" algn="ctr">
              <a:lnSpc>
                <a:spcPct val="107000"/>
              </a:lnSpc>
              <a:spcAft>
                <a:spcPts val="15"/>
              </a:spcAft>
            </a:pPr>
            <a:r>
              <a:rPr lang="en-IN" sz="1800" kern="100" dirty="0">
                <a:solidFill>
                  <a:srgbClr val="000000"/>
                </a:solidFill>
                <a:effectLst/>
                <a:latin typeface="Times New Roman" panose="02020603050405020304" pitchFamily="18" charset="0"/>
                <a:ea typeface="Times New Roman" panose="02020603050405020304" pitchFamily="18" charset="0"/>
              </a:rPr>
              <a:t> Random Forest Model Evaluation </a:t>
            </a:r>
          </a:p>
        </p:txBody>
      </p:sp>
      <p:pic>
        <p:nvPicPr>
          <p:cNvPr id="4" name="Picture 3">
            <a:extLst>
              <a:ext uri="{FF2B5EF4-FFF2-40B4-BE49-F238E27FC236}">
                <a16:creationId xmlns:a16="http://schemas.microsoft.com/office/drawing/2014/main" id="{F1C8BDCA-4736-4F82-24C9-7C9C811B527A}"/>
              </a:ext>
            </a:extLst>
          </p:cNvPr>
          <p:cNvPicPr>
            <a:picLocks noChangeAspect="1"/>
          </p:cNvPicPr>
          <p:nvPr/>
        </p:nvPicPr>
        <p:blipFill>
          <a:blip r:embed="rId2"/>
          <a:stretch>
            <a:fillRect/>
          </a:stretch>
        </p:blipFill>
        <p:spPr>
          <a:xfrm>
            <a:off x="2438400" y="1752600"/>
            <a:ext cx="6400800" cy="3200400"/>
          </a:xfrm>
          <a:prstGeom prst="rect">
            <a:avLst/>
          </a:prstGeom>
        </p:spPr>
      </p:pic>
    </p:spTree>
    <p:extLst>
      <p:ext uri="{BB962C8B-B14F-4D97-AF65-F5344CB8AC3E}">
        <p14:creationId xmlns:p14="http://schemas.microsoft.com/office/powerpoint/2010/main" val="1142509040"/>
      </p:ext>
    </p:extLst>
  </p:cSld>
  <p:clrMapOvr>
    <a:masterClrMapping/>
  </p:clrMapOvr>
  <p:transition spd="slow">
    <p:comb dir="ver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3A6EC2-1457-8D18-C54D-9E305BDCD2AB}"/>
              </a:ext>
            </a:extLst>
          </p:cNvPr>
          <p:cNvSpPr txBox="1"/>
          <p:nvPr/>
        </p:nvSpPr>
        <p:spPr>
          <a:xfrm>
            <a:off x="1600200" y="5410200"/>
            <a:ext cx="8001000" cy="369332"/>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Performance evaluation</a:t>
            </a:r>
          </a:p>
        </p:txBody>
      </p:sp>
      <p:graphicFrame>
        <p:nvGraphicFramePr>
          <p:cNvPr id="4" name="Table 3">
            <a:extLst>
              <a:ext uri="{FF2B5EF4-FFF2-40B4-BE49-F238E27FC236}">
                <a16:creationId xmlns:a16="http://schemas.microsoft.com/office/drawing/2014/main" id="{D473DFA6-887D-2541-758B-F372E34BAFE1}"/>
              </a:ext>
            </a:extLst>
          </p:cNvPr>
          <p:cNvGraphicFramePr>
            <a:graphicFrameLocks noGrp="1"/>
          </p:cNvGraphicFramePr>
          <p:nvPr>
            <p:extLst>
              <p:ext uri="{D42A27DB-BD31-4B8C-83A1-F6EECF244321}">
                <p14:modId xmlns:p14="http://schemas.microsoft.com/office/powerpoint/2010/main" val="2312785489"/>
              </p:ext>
            </p:extLst>
          </p:nvPr>
        </p:nvGraphicFramePr>
        <p:xfrm>
          <a:off x="1981200" y="838200"/>
          <a:ext cx="7315200" cy="4314612"/>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1011284928"/>
                    </a:ext>
                  </a:extLst>
                </a:gridCol>
                <a:gridCol w="2438400">
                  <a:extLst>
                    <a:ext uri="{9D8B030D-6E8A-4147-A177-3AD203B41FA5}">
                      <a16:colId xmlns:a16="http://schemas.microsoft.com/office/drawing/2014/main" val="4227476155"/>
                    </a:ext>
                  </a:extLst>
                </a:gridCol>
                <a:gridCol w="2438400">
                  <a:extLst>
                    <a:ext uri="{9D8B030D-6E8A-4147-A177-3AD203B41FA5}">
                      <a16:colId xmlns:a16="http://schemas.microsoft.com/office/drawing/2014/main" val="3600215143"/>
                    </a:ext>
                  </a:extLst>
                </a:gridCol>
              </a:tblGrid>
              <a:tr h="1078653">
                <a:tc>
                  <a:txBody>
                    <a:bodyPr/>
                    <a:lstStyle/>
                    <a:p>
                      <a:r>
                        <a:rPr lang="en-US" dirty="0"/>
                        <a:t> </a:t>
                      </a:r>
                    </a:p>
                    <a:p>
                      <a:r>
                        <a:rPr lang="en-US" dirty="0"/>
                        <a:t>           model</a:t>
                      </a:r>
                      <a:endParaRPr lang="en-GB" dirty="0"/>
                    </a:p>
                  </a:txBody>
                  <a:tcPr/>
                </a:tc>
                <a:tc>
                  <a:txBody>
                    <a:bodyPr/>
                    <a:lstStyle/>
                    <a:p>
                      <a:endParaRPr lang="en-US" dirty="0"/>
                    </a:p>
                    <a:p>
                      <a:r>
                        <a:rPr lang="en-US" dirty="0"/>
                        <a:t>      Accuracy score</a:t>
                      </a:r>
                      <a:endParaRPr lang="en-GB" dirty="0"/>
                    </a:p>
                  </a:txBody>
                  <a:tcPr/>
                </a:tc>
                <a:tc>
                  <a:txBody>
                    <a:bodyPr/>
                    <a:lstStyle/>
                    <a:p>
                      <a:r>
                        <a:rPr lang="en-US" dirty="0"/>
                        <a:t>  </a:t>
                      </a:r>
                    </a:p>
                    <a:p>
                      <a:r>
                        <a:rPr lang="en-US" dirty="0"/>
                        <a:t>          F1-score</a:t>
                      </a:r>
                      <a:endParaRPr lang="en-GB" dirty="0"/>
                    </a:p>
                  </a:txBody>
                  <a:tcPr/>
                </a:tc>
                <a:extLst>
                  <a:ext uri="{0D108BD9-81ED-4DB2-BD59-A6C34878D82A}">
                    <a16:rowId xmlns:a16="http://schemas.microsoft.com/office/drawing/2014/main" val="523633305"/>
                  </a:ext>
                </a:extLst>
              </a:tr>
              <a:tr h="1078653">
                <a:tc>
                  <a:txBody>
                    <a:bodyPr/>
                    <a:lstStyle/>
                    <a:p>
                      <a:endParaRPr lang="en-US" dirty="0"/>
                    </a:p>
                    <a:p>
                      <a:r>
                        <a:rPr lang="en-US" dirty="0"/>
                        <a:t>   Logistic Regression</a:t>
                      </a:r>
                      <a:endParaRPr lang="en-GB" dirty="0"/>
                    </a:p>
                  </a:txBody>
                  <a:tcPr/>
                </a:tc>
                <a:tc>
                  <a:txBody>
                    <a:bodyPr/>
                    <a:lstStyle/>
                    <a:p>
                      <a:endParaRPr lang="en-US" dirty="0"/>
                    </a:p>
                    <a:p>
                      <a:r>
                        <a:rPr lang="en-GB" dirty="0"/>
                        <a:t>0.9433112251282693</a:t>
                      </a:r>
                    </a:p>
                  </a:txBody>
                  <a:tcPr/>
                </a:tc>
                <a:tc>
                  <a:txBody>
                    <a:bodyPr/>
                    <a:lstStyle/>
                    <a:p>
                      <a:endParaRPr lang="en-US" dirty="0"/>
                    </a:p>
                    <a:p>
                      <a:r>
                        <a:rPr lang="en-GB" dirty="0"/>
                        <a:t>0.5545722713864307</a:t>
                      </a:r>
                    </a:p>
                  </a:txBody>
                  <a:tcPr/>
                </a:tc>
                <a:extLst>
                  <a:ext uri="{0D108BD9-81ED-4DB2-BD59-A6C34878D82A}">
                    <a16:rowId xmlns:a16="http://schemas.microsoft.com/office/drawing/2014/main" val="3089639135"/>
                  </a:ext>
                </a:extLst>
              </a:tr>
              <a:tr h="1078653">
                <a:tc>
                  <a:txBody>
                    <a:bodyPr/>
                    <a:lstStyle/>
                    <a:p>
                      <a:endParaRPr lang="en-US" dirty="0"/>
                    </a:p>
                    <a:p>
                      <a:r>
                        <a:rPr lang="en-GB" dirty="0"/>
                        <a:t>   Naïve bayes</a:t>
                      </a:r>
                    </a:p>
                  </a:txBody>
                  <a:tcPr/>
                </a:tc>
                <a:tc>
                  <a:txBody>
                    <a:bodyPr/>
                    <a:lstStyle/>
                    <a:p>
                      <a:endParaRPr lang="en-US" dirty="0"/>
                    </a:p>
                    <a:p>
                      <a:r>
                        <a:rPr lang="en-GB" sz="1800" b="0" i="0" kern="1200" dirty="0">
                          <a:solidFill>
                            <a:schemeClr val="dk1"/>
                          </a:solidFill>
                          <a:effectLst/>
                          <a:latin typeface="+mn-lt"/>
                          <a:ea typeface="+mn-ea"/>
                          <a:cs typeface="+mn-cs"/>
                        </a:rPr>
                        <a:t>0.9356776373420098</a:t>
                      </a:r>
                      <a:endParaRPr lang="en-GB" dirty="0"/>
                    </a:p>
                  </a:txBody>
                  <a:tcPr/>
                </a:tc>
                <a:tc>
                  <a:txBody>
                    <a:bodyPr/>
                    <a:lstStyle/>
                    <a:p>
                      <a:endParaRPr lang="en-US" dirty="0"/>
                    </a:p>
                    <a:p>
                      <a:r>
                        <a:rPr lang="en-GB" sz="1800" b="0" i="0" kern="1200" dirty="0">
                          <a:solidFill>
                            <a:schemeClr val="dk1"/>
                          </a:solidFill>
                          <a:effectLst/>
                          <a:latin typeface="+mn-lt"/>
                          <a:ea typeface="+mn-ea"/>
                          <a:cs typeface="+mn-cs"/>
                        </a:rPr>
                        <a:t>0.5344202898550724</a:t>
                      </a:r>
                      <a:endParaRPr lang="en-GB" dirty="0"/>
                    </a:p>
                  </a:txBody>
                  <a:tcPr/>
                </a:tc>
                <a:extLst>
                  <a:ext uri="{0D108BD9-81ED-4DB2-BD59-A6C34878D82A}">
                    <a16:rowId xmlns:a16="http://schemas.microsoft.com/office/drawing/2014/main" val="1366594300"/>
                  </a:ext>
                </a:extLst>
              </a:tr>
              <a:tr h="1078653">
                <a:tc>
                  <a:txBody>
                    <a:bodyPr/>
                    <a:lstStyle/>
                    <a:p>
                      <a:endParaRPr lang="en-US" dirty="0"/>
                    </a:p>
                    <a:p>
                      <a:r>
                        <a:rPr lang="en-GB" dirty="0"/>
                        <a:t>  Random Forest</a:t>
                      </a:r>
                    </a:p>
                  </a:txBody>
                  <a:tcPr/>
                </a:tc>
                <a:tc>
                  <a:txBody>
                    <a:bodyPr/>
                    <a:lstStyle/>
                    <a:p>
                      <a:endParaRPr lang="en-US" dirty="0"/>
                    </a:p>
                    <a:p>
                      <a:r>
                        <a:rPr lang="en-GB" sz="1800" b="0" i="0" kern="1200" dirty="0">
                          <a:solidFill>
                            <a:schemeClr val="dk1"/>
                          </a:solidFill>
                          <a:effectLst/>
                          <a:latin typeface="+mn-lt"/>
                          <a:ea typeface="+mn-ea"/>
                          <a:cs typeface="+mn-cs"/>
                        </a:rPr>
                        <a:t>0.9426855212113627</a:t>
                      </a:r>
                      <a:endParaRPr lang="en-GB" dirty="0"/>
                    </a:p>
                  </a:txBody>
                  <a:tcPr/>
                </a:tc>
                <a:tc>
                  <a:txBody>
                    <a:bodyPr/>
                    <a:lstStyle/>
                    <a:p>
                      <a:endParaRPr lang="en-US" dirty="0"/>
                    </a:p>
                    <a:p>
                      <a:r>
                        <a:rPr lang="en-GB" sz="1800" b="0" i="0" kern="1200" dirty="0">
                          <a:solidFill>
                            <a:schemeClr val="dk1"/>
                          </a:solidFill>
                          <a:effectLst/>
                          <a:latin typeface="+mn-lt"/>
                          <a:ea typeface="+mn-ea"/>
                          <a:cs typeface="+mn-cs"/>
                        </a:rPr>
                        <a:t>0.573556797020484</a:t>
                      </a:r>
                      <a:endParaRPr lang="en-GB" dirty="0"/>
                    </a:p>
                  </a:txBody>
                  <a:tcPr/>
                </a:tc>
                <a:extLst>
                  <a:ext uri="{0D108BD9-81ED-4DB2-BD59-A6C34878D82A}">
                    <a16:rowId xmlns:a16="http://schemas.microsoft.com/office/drawing/2014/main" val="1780818739"/>
                  </a:ext>
                </a:extLst>
              </a:tr>
            </a:tbl>
          </a:graphicData>
        </a:graphic>
      </p:graphicFrame>
    </p:spTree>
  </p:cSld>
  <p:clrMapOvr>
    <a:masterClrMapping/>
  </p:clrMapOvr>
  <p:transition spd="slow">
    <p:comb dir="ver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58329BC-EA0C-7571-7290-2F2483FF10E4}"/>
              </a:ext>
            </a:extLst>
          </p:cNvPr>
          <p:cNvSpPr txBox="1"/>
          <p:nvPr/>
        </p:nvSpPr>
        <p:spPr>
          <a:xfrm>
            <a:off x="3352800" y="5562600"/>
            <a:ext cx="8001000"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Performance evaluation using Pie chart</a:t>
            </a:r>
          </a:p>
        </p:txBody>
      </p:sp>
      <p:graphicFrame>
        <p:nvGraphicFramePr>
          <p:cNvPr id="3" name="Chart 2">
            <a:extLst>
              <a:ext uri="{FF2B5EF4-FFF2-40B4-BE49-F238E27FC236}">
                <a16:creationId xmlns:a16="http://schemas.microsoft.com/office/drawing/2014/main" id="{91F75997-C252-2D0A-18D8-3821DA67FB71}"/>
              </a:ext>
            </a:extLst>
          </p:cNvPr>
          <p:cNvGraphicFramePr/>
          <p:nvPr>
            <p:extLst>
              <p:ext uri="{D42A27DB-BD31-4B8C-83A1-F6EECF244321}">
                <p14:modId xmlns:p14="http://schemas.microsoft.com/office/powerpoint/2010/main" val="814197777"/>
              </p:ext>
            </p:extLst>
          </p:nvPr>
        </p:nvGraphicFramePr>
        <p:xfrm>
          <a:off x="2590800" y="990600"/>
          <a:ext cx="5247193" cy="4314612"/>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transition spd="slow">
    <p:comb dir="ver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4"/>
          <p:cNvSpPr txBox="1">
            <a:spLocks/>
          </p:cNvSpPr>
          <p:nvPr/>
        </p:nvSpPr>
        <p:spPr>
          <a:xfrm>
            <a:off x="685800" y="1371600"/>
            <a:ext cx="9677400" cy="5076454"/>
          </a:xfrm>
          <a:prstGeom prst="rect">
            <a:avLst/>
          </a:prstGeom>
        </p:spPr>
        <p:txBody>
          <a:bodyPr vert="horz" wrap="square" lIns="0" tIns="150495" rIns="0" bIns="0" rtlCol="0">
            <a:sp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297815" marR="8255" algn="just">
              <a:lnSpc>
                <a:spcPct val="150000"/>
              </a:lnSpc>
              <a:buFont typeface="Wingdings" panose="05000000000000000000" pitchFamily="2" charset="2"/>
              <a:buChar char="Ø"/>
              <a:tabLst>
                <a:tab pos="299085" algn="l"/>
              </a:tabLst>
            </a:pPr>
            <a:r>
              <a:rPr lang="en-US" sz="2000" dirty="0">
                <a:solidFill>
                  <a:schemeClr val="tx1"/>
                </a:solidFill>
                <a:latin typeface="Times New Roman" panose="02020603050405020304" pitchFamily="18" charset="0"/>
                <a:cs typeface="Times New Roman" panose="02020603050405020304" pitchFamily="18" charset="0"/>
              </a:rPr>
              <a:t>The Twitter Sentiment Analysis project successfully developed an automated system for classifying the sentiment expressed in tweets as positive or negative.</a:t>
            </a:r>
          </a:p>
          <a:p>
            <a:pPr marL="297815" marR="8255" algn="just">
              <a:lnSpc>
                <a:spcPct val="150000"/>
              </a:lnSpc>
              <a:buFont typeface="Wingdings" panose="05000000000000000000" pitchFamily="2" charset="2"/>
              <a:buChar char="Ø"/>
              <a:tabLst>
                <a:tab pos="299085" algn="l"/>
              </a:tabLst>
            </a:pPr>
            <a:r>
              <a:rPr lang="en-US" sz="2000" dirty="0">
                <a:solidFill>
                  <a:schemeClr val="tx1"/>
                </a:solidFill>
                <a:latin typeface="Times New Roman" panose="02020603050405020304" pitchFamily="18" charset="0"/>
                <a:cs typeface="Times New Roman" panose="02020603050405020304" pitchFamily="18" charset="0"/>
              </a:rPr>
              <a:t> The system employed natural language processing techniques, machine learning algorithms, and text classification models to process and analyze the textual content of tweets. </a:t>
            </a:r>
          </a:p>
          <a:p>
            <a:pPr marL="12065" marR="8255" indent="0" algn="just">
              <a:lnSpc>
                <a:spcPct val="150000"/>
              </a:lnSpc>
              <a:buNone/>
              <a:tabLst>
                <a:tab pos="299085" algn="l"/>
              </a:tabLst>
            </a:pPr>
            <a:r>
              <a:rPr lang="en-US" sz="1800" b="1" spc="-10" dirty="0">
                <a:solidFill>
                  <a:schemeClr val="tx1"/>
                </a:solidFill>
                <a:latin typeface="Times New Roman" panose="02020603050405020304" pitchFamily="18" charset="0"/>
                <a:cs typeface="Times New Roman" panose="02020603050405020304" pitchFamily="18" charset="0"/>
              </a:rPr>
              <a:t>FUTURE  ENHANCEMENT:</a:t>
            </a:r>
          </a:p>
          <a:p>
            <a:pPr marL="299085" marR="8255" indent="-287020" algn="just">
              <a:lnSpc>
                <a:spcPct val="150000"/>
              </a:lnSpc>
              <a:buFont typeface="Wingdings" pitchFamily="2" charset="2"/>
              <a:buChar char="Ø"/>
              <a:tabLst>
                <a:tab pos="299085" algn="l"/>
              </a:tabLst>
            </a:pPr>
            <a:r>
              <a:rPr lang="en-US" sz="2000" spc="-10" dirty="0">
                <a:solidFill>
                  <a:schemeClr val="tx1"/>
                </a:solidFill>
                <a:latin typeface="Times New Roman" panose="02020603050405020304" pitchFamily="18" charset="0"/>
                <a:cs typeface="Times New Roman" panose="02020603050405020304" pitchFamily="18" charset="0"/>
              </a:rPr>
              <a:t>Extending the current binary (positive/negative) sentiment classification model to a multi-class model that can classify tweets into more granular sentiment categories like positive, negative, neutral, and potentially even detect specific emotions like happiness, anger, sadness, etc. This would provide more nuanced insights into the sentiment landscape.</a:t>
            </a:r>
          </a:p>
        </p:txBody>
      </p:sp>
      <p:sp>
        <p:nvSpPr>
          <p:cNvPr id="4" name="object 3"/>
          <p:cNvSpPr txBox="1">
            <a:spLocks/>
          </p:cNvSpPr>
          <p:nvPr/>
        </p:nvSpPr>
        <p:spPr>
          <a:xfrm>
            <a:off x="838200" y="578837"/>
            <a:ext cx="8534400" cy="566822"/>
          </a:xfrm>
          <a:prstGeom prst="rect">
            <a:avLst/>
          </a:prstGeom>
        </p:spPr>
        <p:txBody>
          <a:bodyPr vert="horz" wrap="square" lIns="0" tIns="12700" rIns="0" bIns="0" rtlCol="0">
            <a:sp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780540">
              <a:spcBef>
                <a:spcPts val="100"/>
              </a:spcBef>
            </a:pPr>
            <a:r>
              <a:rPr lang="en-IN" sz="3600" b="1" spc="-10" dirty="0">
                <a:solidFill>
                  <a:schemeClr val="tx1"/>
                </a:solidFill>
                <a:latin typeface="Times New Roman" panose="02020603050405020304" pitchFamily="18" charset="0"/>
                <a:cs typeface="Times New Roman" panose="02020603050405020304" pitchFamily="18" charset="0"/>
              </a:rPr>
              <a:t>CONCLUSION</a:t>
            </a:r>
          </a:p>
        </p:txBody>
      </p:sp>
      <p:cxnSp>
        <p:nvCxnSpPr>
          <p:cNvPr id="6" name="Straight Connector 5">
            <a:extLst>
              <a:ext uri="{FF2B5EF4-FFF2-40B4-BE49-F238E27FC236}">
                <a16:creationId xmlns:a16="http://schemas.microsoft.com/office/drawing/2014/main" id="{49DF3F08-2D2B-A096-AF85-6A2A6731A6D7}"/>
              </a:ext>
            </a:extLst>
          </p:cNvPr>
          <p:cNvCxnSpPr>
            <a:cxnSpLocks/>
          </p:cNvCxnSpPr>
          <p:nvPr/>
        </p:nvCxnSpPr>
        <p:spPr>
          <a:xfrm>
            <a:off x="952500" y="1181100"/>
            <a:ext cx="10096500" cy="38100"/>
          </a:xfrm>
          <a:prstGeom prst="line">
            <a:avLst/>
          </a:prstGeom>
          <a:ln w="76200">
            <a:solidFill>
              <a:srgbClr val="F62610"/>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042516028"/>
      </p:ext>
    </p:extLst>
  </p:cSld>
  <p:clrMapOvr>
    <a:masterClrMapping/>
  </p:clrMapOvr>
  <p:transition spd="slow">
    <p:comb dir="ver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4"/>
          <p:cNvSpPr txBox="1">
            <a:spLocks/>
          </p:cNvSpPr>
          <p:nvPr/>
        </p:nvSpPr>
        <p:spPr>
          <a:xfrm>
            <a:off x="990600" y="1219200"/>
            <a:ext cx="9829800" cy="4212563"/>
          </a:xfrm>
          <a:prstGeom prst="rect">
            <a:avLst/>
          </a:prstGeom>
        </p:spPr>
        <p:txBody>
          <a:bodyPr vert="horz" wrap="square" lIns="0" tIns="150495" rIns="0" bIns="0" rtlCol="0">
            <a:sp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12700" indent="0">
              <a:lnSpc>
                <a:spcPct val="150000"/>
              </a:lnSpc>
              <a:spcBef>
                <a:spcPts val="1095"/>
              </a:spcBef>
              <a:buNone/>
              <a:tabLst>
                <a:tab pos="354965" algn="l"/>
              </a:tabLst>
            </a:pPr>
            <a:r>
              <a:rPr lang="en-IN" sz="1600" kern="1200" dirty="0">
                <a:solidFill>
                  <a:srgbClr val="000000"/>
                </a:solidFill>
                <a:effectLst/>
                <a:latin typeface="Arial" panose="020B0604020202020204" pitchFamily="34" charset="0"/>
                <a:ea typeface="+mn-ea"/>
                <a:cs typeface="Arial" panose="020B0604020202020204" pitchFamily="34" charset="0"/>
              </a:rPr>
              <a:t>[1] </a:t>
            </a:r>
            <a:r>
              <a:rPr lang="en-IN" sz="1800" dirty="0">
                <a:solidFill>
                  <a:srgbClr val="00B0F0"/>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https://www.geeksforgeeks.org/project-idea-ai-therapist/amp/</a:t>
            </a:r>
            <a:endParaRPr lang="en-IN" sz="1800" dirty="0">
              <a:effectLst/>
              <a:latin typeface="Times New Roman" panose="02020603050405020304" pitchFamily="18" charset="0"/>
              <a:cs typeface="Times New Roman" panose="02020603050405020304" pitchFamily="18" charset="0"/>
            </a:endParaRPr>
          </a:p>
          <a:p>
            <a:pPr marL="12700" indent="0">
              <a:lnSpc>
                <a:spcPct val="150000"/>
              </a:lnSpc>
              <a:spcBef>
                <a:spcPts val="1095"/>
              </a:spcBef>
              <a:buNone/>
              <a:tabLst>
                <a:tab pos="354965" algn="l"/>
              </a:tabLst>
            </a:pPr>
            <a:r>
              <a:rPr lang="en-IN" sz="1800" kern="1200" dirty="0">
                <a:solidFill>
                  <a:srgbClr val="000000"/>
                </a:solidFill>
                <a:effectLst/>
                <a:latin typeface="Times New Roman" panose="02020603050405020304" pitchFamily="18" charset="0"/>
                <a:cs typeface="Times New Roman" panose="02020603050405020304" pitchFamily="18" charset="0"/>
              </a:rPr>
              <a:t>[2] </a:t>
            </a:r>
            <a:r>
              <a:rPr lang="de-DE" sz="1800" dirty="0">
                <a:solidFill>
                  <a:srgbClr val="00B0F0"/>
                </a:solidFill>
                <a:latin typeface="Times New Roman" panose="02020603050405020304" pitchFamily="18" charset="0"/>
                <a:cs typeface="Times New Roman" panose="02020603050405020304" pitchFamily="18" charset="0"/>
              </a:rPr>
              <a:t>https://youtu.be/4YGkfAd2iXM?si=1vbSSHpUhFD003s-</a:t>
            </a:r>
            <a:endParaRPr lang="en-IN" sz="1800" dirty="0">
              <a:effectLst/>
              <a:latin typeface="Times New Roman" panose="02020603050405020304" pitchFamily="18" charset="0"/>
              <a:cs typeface="Times New Roman" panose="02020603050405020304" pitchFamily="18" charset="0"/>
            </a:endParaRPr>
          </a:p>
          <a:p>
            <a:pPr marL="12700" indent="0">
              <a:lnSpc>
                <a:spcPct val="150000"/>
              </a:lnSpc>
              <a:spcBef>
                <a:spcPts val="1095"/>
              </a:spcBef>
              <a:buNone/>
              <a:tabLst>
                <a:tab pos="354965" algn="l"/>
              </a:tabLst>
            </a:pPr>
            <a:r>
              <a:rPr lang="en-IN" sz="1800" kern="1200" dirty="0">
                <a:solidFill>
                  <a:srgbClr val="000000"/>
                </a:solidFill>
                <a:effectLst/>
                <a:latin typeface="Times New Roman" panose="02020603050405020304" pitchFamily="18" charset="0"/>
                <a:cs typeface="Times New Roman" panose="02020603050405020304" pitchFamily="18" charset="0"/>
              </a:rPr>
              <a:t>[3] </a:t>
            </a:r>
            <a:r>
              <a:rPr lang="de-DE" sz="1800" dirty="0">
                <a:solidFill>
                  <a:srgbClr val="00B0F0"/>
                </a:solidFill>
                <a:latin typeface="Times New Roman" panose="02020603050405020304" pitchFamily="18" charset="0"/>
                <a:cs typeface="Times New Roman" panose="02020603050405020304" pitchFamily="18" charset="0"/>
              </a:rPr>
              <a:t>https://youtu.be/RLfUyn3HoaE?si=zqiB7qFGn-kR_77f</a:t>
            </a:r>
            <a:endParaRPr lang="en-IN" sz="1800" dirty="0">
              <a:effectLst/>
              <a:latin typeface="Times New Roman" panose="02020603050405020304" pitchFamily="18" charset="0"/>
              <a:cs typeface="Times New Roman" panose="02020603050405020304" pitchFamily="18" charset="0"/>
            </a:endParaRPr>
          </a:p>
          <a:p>
            <a:pPr marL="12700" indent="0">
              <a:lnSpc>
                <a:spcPct val="150000"/>
              </a:lnSpc>
              <a:spcBef>
                <a:spcPts val="1095"/>
              </a:spcBef>
              <a:buNone/>
              <a:tabLst>
                <a:tab pos="354965" algn="l"/>
              </a:tabLst>
            </a:pPr>
            <a:r>
              <a:rPr lang="en-IN" sz="1800" kern="1200" dirty="0">
                <a:solidFill>
                  <a:srgbClr val="000000"/>
                </a:solidFill>
                <a:effectLst/>
                <a:latin typeface="Times New Roman" panose="02020603050405020304" pitchFamily="18" charset="0"/>
                <a:cs typeface="Times New Roman" panose="02020603050405020304" pitchFamily="18" charset="0"/>
              </a:rPr>
              <a:t>[4] </a:t>
            </a:r>
            <a:r>
              <a:rPr lang="en-US" sz="1800" b="0" i="0" dirty="0">
                <a:solidFill>
                  <a:srgbClr val="1C1917"/>
                </a:solidFill>
                <a:effectLst/>
                <a:latin typeface="Times New Roman" panose="02020603050405020304" pitchFamily="18" charset="0"/>
                <a:cs typeface="Times New Roman" panose="02020603050405020304" pitchFamily="18" charset="0"/>
              </a:rPr>
              <a:t>Medhat, W., Hassan, A., &amp; </a:t>
            </a:r>
            <a:r>
              <a:rPr lang="en-US" sz="1800" b="0" i="0" dirty="0" err="1">
                <a:solidFill>
                  <a:srgbClr val="1C1917"/>
                </a:solidFill>
                <a:effectLst/>
                <a:latin typeface="Times New Roman" panose="02020603050405020304" pitchFamily="18" charset="0"/>
                <a:cs typeface="Times New Roman" panose="02020603050405020304" pitchFamily="18" charset="0"/>
              </a:rPr>
              <a:t>Korashy</a:t>
            </a:r>
            <a:r>
              <a:rPr lang="en-US" sz="1800" b="0" i="0" dirty="0">
                <a:solidFill>
                  <a:srgbClr val="1C1917"/>
                </a:solidFill>
                <a:effectLst/>
                <a:latin typeface="Times New Roman" panose="02020603050405020304" pitchFamily="18" charset="0"/>
                <a:cs typeface="Times New Roman" panose="02020603050405020304" pitchFamily="18" charset="0"/>
              </a:rPr>
              <a:t>, H. (2014). Sentiment analysis algorithms and applications: A survey. Ain Shams Engineering Journal, 5(4), 1093-1113.</a:t>
            </a:r>
            <a:endParaRPr lang="en-IN" sz="1800" dirty="0">
              <a:effectLst/>
              <a:latin typeface="Times New Roman" panose="02020603050405020304" pitchFamily="18" charset="0"/>
              <a:cs typeface="Times New Roman" panose="02020603050405020304" pitchFamily="18" charset="0"/>
            </a:endParaRPr>
          </a:p>
          <a:p>
            <a:pPr marL="0" indent="0" algn="just" eaLnBrk="0" fontAlgn="base" hangingPunct="0">
              <a:lnSpc>
                <a:spcPct val="150000"/>
              </a:lnSpc>
              <a:spcBef>
                <a:spcPts val="0"/>
              </a:spcBef>
              <a:spcAft>
                <a:spcPts val="0"/>
              </a:spcAft>
              <a:buNone/>
            </a:pPr>
            <a:r>
              <a:rPr lang="en-IN" sz="1800" kern="1200" dirty="0">
                <a:solidFill>
                  <a:srgbClr val="000000"/>
                </a:solidFill>
                <a:effectLst/>
                <a:latin typeface="Times New Roman" panose="02020603050405020304" pitchFamily="18" charset="0"/>
                <a:cs typeface="Times New Roman" panose="02020603050405020304" pitchFamily="18" charset="0"/>
              </a:rPr>
              <a:t>[5] </a:t>
            </a:r>
            <a:r>
              <a:rPr lang="en-GB" sz="1800" b="0" i="0" dirty="0">
                <a:solidFill>
                  <a:srgbClr val="1C1917"/>
                </a:solidFill>
                <a:effectLst/>
                <a:latin typeface="Times New Roman" panose="02020603050405020304" pitchFamily="18" charset="0"/>
                <a:cs typeface="Times New Roman" panose="02020603050405020304" pitchFamily="18" charset="0"/>
              </a:rPr>
              <a:t>Liu, B. (2012). Sentiment analysis and opinion mining. Synthesis lectures on human language technologies, 5(1), 1-167.</a:t>
            </a:r>
            <a:endParaRPr lang="en-IN" sz="1800" dirty="0">
              <a:effectLst/>
              <a:latin typeface="Times New Roman" panose="02020603050405020304" pitchFamily="18" charset="0"/>
              <a:cs typeface="Times New Roman" panose="02020603050405020304" pitchFamily="18" charset="0"/>
            </a:endParaRPr>
          </a:p>
          <a:p>
            <a:pPr marL="12065" marR="8255" indent="0" algn="just">
              <a:lnSpc>
                <a:spcPct val="150000"/>
              </a:lnSpc>
              <a:buNone/>
              <a:tabLst>
                <a:tab pos="299085" algn="l"/>
              </a:tabLst>
            </a:pPr>
            <a:endParaRPr lang="en-US" sz="1800" spc="-10" dirty="0">
              <a:solidFill>
                <a:schemeClr val="tx1"/>
              </a:solidFill>
              <a:latin typeface="Times New Roman" panose="02020603050405020304" pitchFamily="18" charset="0"/>
              <a:cs typeface="Times New Roman" panose="02020603050405020304" pitchFamily="18" charset="0"/>
            </a:endParaRPr>
          </a:p>
        </p:txBody>
      </p:sp>
      <p:sp>
        <p:nvSpPr>
          <p:cNvPr id="4" name="object 3"/>
          <p:cNvSpPr txBox="1">
            <a:spLocks/>
          </p:cNvSpPr>
          <p:nvPr/>
        </p:nvSpPr>
        <p:spPr>
          <a:xfrm>
            <a:off x="838200" y="578837"/>
            <a:ext cx="8534400" cy="566822"/>
          </a:xfrm>
          <a:prstGeom prst="rect">
            <a:avLst/>
          </a:prstGeom>
        </p:spPr>
        <p:txBody>
          <a:bodyPr vert="horz" wrap="square" lIns="0" tIns="12700" rIns="0" bIns="0" rtlCol="0">
            <a:sp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780540">
              <a:spcBef>
                <a:spcPts val="100"/>
              </a:spcBef>
            </a:pPr>
            <a:r>
              <a:rPr lang="en-IN" sz="3600" b="1" spc="-10" dirty="0">
                <a:solidFill>
                  <a:schemeClr val="tx1"/>
                </a:solidFill>
                <a:latin typeface="Times New Roman" panose="02020603050405020304" pitchFamily="18" charset="0"/>
                <a:cs typeface="Times New Roman" panose="02020603050405020304" pitchFamily="18" charset="0"/>
              </a:rPr>
              <a:t>REFERENCES</a:t>
            </a:r>
          </a:p>
        </p:txBody>
      </p:sp>
      <p:cxnSp>
        <p:nvCxnSpPr>
          <p:cNvPr id="2" name="Straight Connector 1">
            <a:extLst>
              <a:ext uri="{FF2B5EF4-FFF2-40B4-BE49-F238E27FC236}">
                <a16:creationId xmlns:a16="http://schemas.microsoft.com/office/drawing/2014/main" id="{7E0EED31-96B4-BEF3-E0A3-E55425971AD6}"/>
              </a:ext>
            </a:extLst>
          </p:cNvPr>
          <p:cNvCxnSpPr>
            <a:cxnSpLocks/>
          </p:cNvCxnSpPr>
          <p:nvPr/>
        </p:nvCxnSpPr>
        <p:spPr>
          <a:xfrm>
            <a:off x="952500" y="1181100"/>
            <a:ext cx="10020300" cy="0"/>
          </a:xfrm>
          <a:prstGeom prst="line">
            <a:avLst/>
          </a:prstGeom>
          <a:ln w="76200">
            <a:solidFill>
              <a:srgbClr val="F62610"/>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496444700"/>
      </p:ext>
    </p:extLst>
  </p:cSld>
  <p:clrMapOvr>
    <a:masterClrMapping/>
  </p:clrMapOvr>
  <p:transition spd="slow">
    <p:comb dir="ver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p:cNvSpPr>
          <p:nvPr/>
        </p:nvSpPr>
        <p:spPr>
          <a:xfrm>
            <a:off x="2819400" y="1828800"/>
            <a:ext cx="4772406" cy="2980303"/>
          </a:xfrm>
          <a:prstGeom prst="rect">
            <a:avLst/>
          </a:prstGeom>
        </p:spPr>
        <p:txBody>
          <a:bodyPr vert="horz" wrap="square" lIns="0" tIns="12700" rIns="0" bIns="0" rtlCol="0">
            <a:sp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2700">
              <a:spcBef>
                <a:spcPts val="100"/>
              </a:spcBef>
            </a:pPr>
            <a:r>
              <a:rPr lang="en-IN" sz="9600" b="1" i="1" spc="-894" dirty="0">
                <a:latin typeface="Times New Roman" panose="02020603050405020304" pitchFamily="18" charset="0"/>
                <a:cs typeface="Times New Roman" panose="02020603050405020304" pitchFamily="18" charset="0"/>
              </a:rPr>
              <a:t>THANK</a:t>
            </a:r>
            <a:r>
              <a:rPr lang="en-IN" sz="9600" b="1" i="1" spc="-360" dirty="0">
                <a:latin typeface="Times New Roman" panose="02020603050405020304" pitchFamily="18" charset="0"/>
                <a:cs typeface="Times New Roman" panose="02020603050405020304" pitchFamily="18" charset="0"/>
              </a:rPr>
              <a:t>  </a:t>
            </a:r>
          </a:p>
          <a:p>
            <a:pPr marL="12700">
              <a:spcBef>
                <a:spcPts val="100"/>
              </a:spcBef>
            </a:pPr>
            <a:r>
              <a:rPr lang="en-IN" sz="9600" b="1" i="1" spc="-650" dirty="0">
                <a:latin typeface="Times New Roman" panose="02020603050405020304" pitchFamily="18" charset="0"/>
                <a:cs typeface="Times New Roman" panose="02020603050405020304" pitchFamily="18" charset="0"/>
              </a:rPr>
              <a:t>YOU</a:t>
            </a:r>
            <a:endParaRPr lang="en-IN" sz="9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9666197"/>
      </p:ext>
    </p:extLst>
  </p:cSld>
  <p:clrMapOvr>
    <a:masterClrMapping/>
  </p:clrMapOvr>
  <p:transition spd="slow">
    <p:comb dir="vert"/>
  </p:transition>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1153</TotalTime>
  <Words>1506</Words>
  <Application>Microsoft Office PowerPoint</Application>
  <PresentationFormat>Widescreen</PresentationFormat>
  <Paragraphs>189</Paragraphs>
  <Slides>27</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Arial</vt:lpstr>
      <vt:lpstr>Calibri</vt:lpstr>
      <vt:lpstr>Times New Roman</vt:lpstr>
      <vt:lpstr>Trebuchet MS</vt:lpstr>
      <vt:lpstr>Verdana</vt:lpstr>
      <vt:lpstr>Wingdings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Result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On “Application of Machine Learning Techniques for Hate Speech Detection in Mobile Applications”</dc:title>
  <dc:creator>Sohan Vemu</dc:creator>
  <cp:lastModifiedBy>Shravan L _SG20CS100</cp:lastModifiedBy>
  <cp:revision>106</cp:revision>
  <dcterms:created xsi:type="dcterms:W3CDTF">2024-01-12T03:42:00Z</dcterms:created>
  <dcterms:modified xsi:type="dcterms:W3CDTF">2024-04-16T05:36:50Z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2021-05-26T11:00:00Z</vt:filetime>
  </property>
  <property fmtid="{D5CDD505-2E9C-101B-9397-08002B2CF9AE}" pid="3" name="Creator">
    <vt:lpwstr>Microsoft PowerPoint v16</vt:lpwstr>
  </property>
  <property fmtid="{D5CDD505-2E9C-101B-9397-08002B2CF9AE}" pid="4" name="LastSaved">
    <vt:filetime>2024-01-12T11:00:00Z</vt:filetime>
  </property>
  <property fmtid="{D5CDD505-2E9C-101B-9397-08002B2CF9AE}" pid="5" name="Producer">
    <vt:lpwstr>3-Heights(TM) PDF Security Shell 4.8.25.2 (http://www.pdf-tools.com)</vt:lpwstr>
  </property>
  <property fmtid="{D5CDD505-2E9C-101B-9397-08002B2CF9AE}" pid="6" name="ICV">
    <vt:lpwstr>45CAAED2436F4335A03210D5C118ED5A</vt:lpwstr>
  </property>
  <property fmtid="{D5CDD505-2E9C-101B-9397-08002B2CF9AE}" pid="7" name="KSOProductBuildVer">
    <vt:lpwstr>1033-11.2.0.11537</vt:lpwstr>
  </property>
</Properties>
</file>